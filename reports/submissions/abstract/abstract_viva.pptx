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5" r:id="rId3"/>
  </p:sldMasterIdLst>
  <p:notesMasterIdLst>
    <p:notesMasterId r:id="rId21"/>
  </p:notesMasterIdLst>
  <p:sldIdLst>
    <p:sldId id="256" r:id="rId4"/>
    <p:sldId id="260" r:id="rId5"/>
    <p:sldId id="292" r:id="rId6"/>
    <p:sldId id="295" r:id="rId7"/>
    <p:sldId id="296" r:id="rId8"/>
    <p:sldId id="280" r:id="rId9"/>
    <p:sldId id="281" r:id="rId10"/>
    <p:sldId id="294" r:id="rId11"/>
    <p:sldId id="287" r:id="rId12"/>
    <p:sldId id="288" r:id="rId13"/>
    <p:sldId id="290" r:id="rId14"/>
    <p:sldId id="289" r:id="rId15"/>
    <p:sldId id="293" r:id="rId16"/>
    <p:sldId id="283" r:id="rId17"/>
    <p:sldId id="284" r:id="rId18"/>
    <p:sldId id="266" r:id="rId19"/>
    <p:sldId id="26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25CAE86-79AD-455B-8112-4A64647B4723}">
          <p14:sldIdLst>
            <p14:sldId id="256"/>
            <p14:sldId id="260"/>
          </p14:sldIdLst>
        </p14:section>
        <p14:section name="Overview" id="{90209B3C-F508-4ADB-8D91-DF8CBD20A0E7}">
          <p14:sldIdLst>
            <p14:sldId id="292"/>
            <p14:sldId id="295"/>
            <p14:sldId id="296"/>
            <p14:sldId id="280"/>
            <p14:sldId id="281"/>
          </p14:sldIdLst>
        </p14:section>
        <p14:section name="Concepts At Work" id="{D74AF727-DA29-4469-A4BB-3F83A1A08792}">
          <p14:sldIdLst>
            <p14:sldId id="294"/>
            <p14:sldId id="287"/>
            <p14:sldId id="288"/>
            <p14:sldId id="290"/>
            <p14:sldId id="289"/>
          </p14:sldIdLst>
        </p14:section>
        <p14:section name="Solution Plan" id="{129AE998-37EE-428C-9D0A-D092F5D8AC9E}">
          <p14:sldIdLst>
            <p14:sldId id="293"/>
            <p14:sldId id="283"/>
            <p14:sldId id="284"/>
          </p14:sldIdLst>
        </p14:section>
        <p14:section name="Thank you" id="{B3AF78DD-930A-4A32-BA96-026C92DFEAA3}">
          <p14:sldIdLst>
            <p14:sldId id="266"/>
            <p14:sldId id="26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88255" autoAdjust="0"/>
  </p:normalViewPr>
  <p:slideViewPr>
    <p:cSldViewPr snapToGrid="0">
      <p:cViewPr varScale="1">
        <p:scale>
          <a:sx n="106" d="100"/>
          <a:sy n="106" d="100"/>
        </p:scale>
        <p:origin x="756" y="11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2EFB5C-47A3-487E-AB60-33CE9B4EAF46}" type="datetimeFigureOut">
              <a:rPr lang="en-IN" smtClean="0"/>
              <a:t>07-06-2025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A1C4D0-EE6E-44D9-87D5-41BFE31C9C6A}" type="slidenum">
              <a:rPr lang="en-IN" smtClean="0"/>
              <a:t>‹#›</a:t>
            </a:fld>
            <a:endParaRPr lang="en-IN"/>
          </a:p>
        </p:txBody>
      </p:sp>
    </p:spTree>
    <p:extLst>
      <p:ext uri="{BB962C8B-B14F-4D97-AF65-F5344CB8AC3E}">
        <p14:creationId xmlns:p14="http://schemas.microsoft.com/office/powerpoint/2010/main" val="110170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EA1C4D0-EE6E-44D9-87D5-41BFE31C9C6A}" type="slidenum">
              <a:rPr lang="en-IN" smtClean="0"/>
              <a:t>6</a:t>
            </a:fld>
            <a:endParaRPr lang="en-IN"/>
          </a:p>
        </p:txBody>
      </p:sp>
    </p:spTree>
    <p:extLst>
      <p:ext uri="{BB962C8B-B14F-4D97-AF65-F5344CB8AC3E}">
        <p14:creationId xmlns:p14="http://schemas.microsoft.com/office/powerpoint/2010/main" val="19008246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Industrial Equipment Monitoring Dataset (Kaggle)</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SKAB v0.9 corpus contains 35 individual data files (experiments). Each dataset represents a single experiment and contains a single anomaly. The datasets represent a multivariate time series collected from the sensors installed on the testbed. Columns in each data file are following: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datetime - Represents dates and times of the moment when the value is written to the database (YYYY-MM-DD </a:t>
            </a:r>
            <a:r>
              <a:rPr lang="en-US" sz="1200" b="0" i="0" kern="1200" dirty="0" err="1">
                <a:solidFill>
                  <a:schemeClr val="tx1"/>
                </a:solidFill>
                <a:effectLst/>
                <a:latin typeface="+mn-lt"/>
                <a:ea typeface="+mn-ea"/>
                <a:cs typeface="+mn-cs"/>
              </a:rPr>
              <a:t>hh:mm:ss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Accelerometer1RMS - Shows a vibration acceleration (Amount of g units)</a:t>
            </a:r>
          </a:p>
          <a:p>
            <a:r>
              <a:rPr lang="en-US" sz="1200" b="0" i="0" kern="1200" dirty="0">
                <a:solidFill>
                  <a:schemeClr val="tx1"/>
                </a:solidFill>
                <a:effectLst/>
                <a:latin typeface="+mn-lt"/>
                <a:ea typeface="+mn-ea"/>
                <a:cs typeface="+mn-cs"/>
              </a:rPr>
              <a:t>Accelerometer2RMS - Shows a vibration acceleration (Amount of g units)</a:t>
            </a:r>
          </a:p>
          <a:p>
            <a:r>
              <a:rPr lang="en-US" sz="1200" b="0" i="0" kern="1200" dirty="0">
                <a:solidFill>
                  <a:schemeClr val="tx1"/>
                </a:solidFill>
                <a:effectLst/>
                <a:latin typeface="+mn-lt"/>
                <a:ea typeface="+mn-ea"/>
                <a:cs typeface="+mn-cs"/>
              </a:rPr>
              <a:t>Current - Shows the amperage on the electric motor (Ampere)</a:t>
            </a:r>
          </a:p>
          <a:p>
            <a:r>
              <a:rPr lang="en-US" sz="1200" b="0" i="0" kern="1200" dirty="0">
                <a:solidFill>
                  <a:schemeClr val="tx1"/>
                </a:solidFill>
                <a:effectLst/>
                <a:latin typeface="+mn-lt"/>
                <a:ea typeface="+mn-ea"/>
                <a:cs typeface="+mn-cs"/>
              </a:rPr>
              <a:t>Pressure - Represents the pressure in the loop after the water pump (Bar)</a:t>
            </a:r>
          </a:p>
          <a:p>
            <a:r>
              <a:rPr lang="en-US" sz="1200" b="0" i="0" kern="1200" dirty="0">
                <a:solidFill>
                  <a:schemeClr val="tx1"/>
                </a:solidFill>
                <a:effectLst/>
                <a:latin typeface="+mn-lt"/>
                <a:ea typeface="+mn-ea"/>
                <a:cs typeface="+mn-cs"/>
              </a:rPr>
              <a:t>Temperature - Shows the temperature of the engine body (The degree Celsius)</a:t>
            </a:r>
          </a:p>
          <a:p>
            <a:r>
              <a:rPr lang="en-US" sz="1200" b="0" i="0" kern="1200" dirty="0">
                <a:solidFill>
                  <a:schemeClr val="tx1"/>
                </a:solidFill>
                <a:effectLst/>
                <a:latin typeface="+mn-lt"/>
                <a:ea typeface="+mn-ea"/>
                <a:cs typeface="+mn-cs"/>
              </a:rPr>
              <a:t>Thermocouple - Represents the temperature of the fluid in the circulation loop (The degree Celsius)</a:t>
            </a:r>
          </a:p>
          <a:p>
            <a:r>
              <a:rPr lang="en-US" sz="1200" b="0" i="0" kern="1200" dirty="0">
                <a:solidFill>
                  <a:schemeClr val="tx1"/>
                </a:solidFill>
                <a:effectLst/>
                <a:latin typeface="+mn-lt"/>
                <a:ea typeface="+mn-ea"/>
                <a:cs typeface="+mn-cs"/>
              </a:rPr>
              <a:t>Voltage - Shows the voltage on the electric motor (Volt)</a:t>
            </a:r>
          </a:p>
          <a:p>
            <a:r>
              <a:rPr lang="en-US" sz="1200" b="0" i="0" kern="1200" dirty="0" err="1">
                <a:solidFill>
                  <a:schemeClr val="tx1"/>
                </a:solidFill>
                <a:effectLst/>
                <a:latin typeface="+mn-lt"/>
                <a:ea typeface="+mn-ea"/>
                <a:cs typeface="+mn-cs"/>
              </a:rPr>
              <a:t>RateRMS</a:t>
            </a:r>
            <a:r>
              <a:rPr lang="en-US" sz="1200" b="0" i="0" kern="1200" dirty="0">
                <a:solidFill>
                  <a:schemeClr val="tx1"/>
                </a:solidFill>
                <a:effectLst/>
                <a:latin typeface="+mn-lt"/>
                <a:ea typeface="+mn-ea"/>
                <a:cs typeface="+mn-cs"/>
              </a:rPr>
              <a:t> - Represents the circulation flow rate of the fluid inside the loop (Liter per minute)</a:t>
            </a:r>
          </a:p>
          <a:p>
            <a:r>
              <a:rPr lang="en-US" sz="1200" b="0" i="0" kern="1200" dirty="0">
                <a:solidFill>
                  <a:schemeClr val="tx1"/>
                </a:solidFill>
                <a:effectLst/>
                <a:latin typeface="+mn-lt"/>
                <a:ea typeface="+mn-ea"/>
                <a:cs typeface="+mn-cs"/>
              </a:rPr>
              <a:t>anomaly - Shows if the point is anomalous (0 or 1)</a:t>
            </a:r>
          </a:p>
          <a:p>
            <a:r>
              <a:rPr lang="en-US" sz="1200" b="0" i="0" kern="1200" dirty="0">
                <a:solidFill>
                  <a:schemeClr val="tx1"/>
                </a:solidFill>
                <a:effectLst/>
                <a:latin typeface="+mn-lt"/>
                <a:ea typeface="+mn-ea"/>
                <a:cs typeface="+mn-cs"/>
              </a:rPr>
              <a:t>changepoint - Shows if the point is a changepoint for collective anomalies (0 or 1)</a:t>
            </a:r>
          </a:p>
          <a:p>
            <a:endParaRPr lang="en-IN" dirty="0"/>
          </a:p>
        </p:txBody>
      </p:sp>
      <p:sp>
        <p:nvSpPr>
          <p:cNvPr id="4" name="Slide Number Placeholder 3"/>
          <p:cNvSpPr>
            <a:spLocks noGrp="1"/>
          </p:cNvSpPr>
          <p:nvPr>
            <p:ph type="sldNum" sz="quarter" idx="5"/>
          </p:nvPr>
        </p:nvSpPr>
        <p:spPr/>
        <p:txBody>
          <a:bodyPr/>
          <a:lstStyle/>
          <a:p>
            <a:fld id="{CEA1C4D0-EE6E-44D9-87D5-41BFE31C9C6A}" type="slidenum">
              <a:rPr lang="en-IN" smtClean="0"/>
              <a:t>7</a:t>
            </a:fld>
            <a:endParaRPr lang="en-IN"/>
          </a:p>
        </p:txBody>
      </p:sp>
    </p:spTree>
    <p:extLst>
      <p:ext uri="{BB962C8B-B14F-4D97-AF65-F5344CB8AC3E}">
        <p14:creationId xmlns:p14="http://schemas.microsoft.com/office/powerpoint/2010/main" val="17435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Z-Score Scaling also know as standard scaling</a:t>
            </a:r>
          </a:p>
        </p:txBody>
      </p:sp>
      <p:sp>
        <p:nvSpPr>
          <p:cNvPr id="4" name="Slide Number Placeholder 3"/>
          <p:cNvSpPr>
            <a:spLocks noGrp="1"/>
          </p:cNvSpPr>
          <p:nvPr>
            <p:ph type="sldNum" sz="quarter" idx="5"/>
          </p:nvPr>
        </p:nvSpPr>
        <p:spPr/>
        <p:txBody>
          <a:bodyPr/>
          <a:lstStyle/>
          <a:p>
            <a:fld id="{CEA1C4D0-EE6E-44D9-87D5-41BFE31C9C6A}" type="slidenum">
              <a:rPr lang="en-IN" smtClean="0"/>
              <a:t>9</a:t>
            </a:fld>
            <a:endParaRPr lang="en-IN"/>
          </a:p>
        </p:txBody>
      </p:sp>
    </p:spTree>
    <p:extLst>
      <p:ext uri="{BB962C8B-B14F-4D97-AF65-F5344CB8AC3E}">
        <p14:creationId xmlns:p14="http://schemas.microsoft.com/office/powerpoint/2010/main" val="3819579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anomaly detection, TP </a:t>
            </a:r>
            <a:r>
              <a:rPr lang="en-US" sz="1200" dirty="0"/>
              <a:t>represents correctly predicted anomalies, while TN refers to non-anomalies accurately identified as non-anomalies. FP occurs when a non-anomaly is mistakenly predicted as an anomaly, and FN occurs when an anomaly is wrongly predicted as a non-anomaly</a:t>
            </a:r>
            <a:r>
              <a:rPr lang="en-US" dirty="0"/>
              <a:t>.</a:t>
            </a:r>
          </a:p>
          <a:p>
            <a:endParaRPr lang="en-US" dirty="0"/>
          </a:p>
          <a:p>
            <a:r>
              <a:rPr lang="en-US" dirty="0"/>
              <a:t>Here, β is a constant that allows the metric to apply preferential weight to either Precision or Recall, depending on whether false negatives or false positives have more severe consequences. In this thesis, this metric will be used for the specific case β =1,whichassigns equal importance to both precision and recall.</a:t>
            </a:r>
            <a:endParaRPr lang="en-IN" dirty="0"/>
          </a:p>
        </p:txBody>
      </p:sp>
      <p:sp>
        <p:nvSpPr>
          <p:cNvPr id="4" name="Slide Number Placeholder 3"/>
          <p:cNvSpPr>
            <a:spLocks noGrp="1"/>
          </p:cNvSpPr>
          <p:nvPr>
            <p:ph type="sldNum" sz="quarter" idx="5"/>
          </p:nvPr>
        </p:nvSpPr>
        <p:spPr/>
        <p:txBody>
          <a:bodyPr/>
          <a:lstStyle/>
          <a:p>
            <a:fld id="{CEA1C4D0-EE6E-44D9-87D5-41BFE31C9C6A}" type="slidenum">
              <a:rPr lang="en-IN" smtClean="0"/>
              <a:t>10</a:t>
            </a:fld>
            <a:endParaRPr lang="en-IN"/>
          </a:p>
        </p:txBody>
      </p:sp>
    </p:spTree>
    <p:extLst>
      <p:ext uri="{BB962C8B-B14F-4D97-AF65-F5344CB8AC3E}">
        <p14:creationId xmlns:p14="http://schemas.microsoft.com/office/powerpoint/2010/main" val="2342702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E4DF9-BD93-B534-2E16-EE4483589A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828B45-DACD-5632-E80C-FB31134689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F72585-5F5E-FD13-2144-1360B0424DE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a:t>
            </a:r>
            <a:r>
              <a:rPr lang="en-US" sz="1200" b="1" dirty="0"/>
              <a:t>ROC</a:t>
            </a:r>
            <a:r>
              <a:rPr lang="en-US" sz="1200" dirty="0"/>
              <a:t> curve is obtained by varying the classification threshold and plotting the TPR against the FPR. A perfect classifier would have a curve that passes through the top-left corner of the graph, indicating a TPR of 1 and an FPR of 0. A random classifier, on the other hand, would have a diagonal line from the bottom-left corner to the top-right corner, representing a random guess.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a:t>
            </a:r>
            <a:r>
              <a:rPr lang="en-US" b="1" dirty="0"/>
              <a:t>PR</a:t>
            </a:r>
            <a:r>
              <a:rPr lang="en-US" dirty="0"/>
              <a:t> curve that is closer to the upper-left corner of the plot indicates better precision and recall across thresholds.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Area Under the Curve (AUC)</a:t>
            </a:r>
            <a:r>
              <a:rPr lang="en-US" sz="1200" dirty="0"/>
              <a:t>, known as the AUC, is a single scalar value that summarizes the overall performance of the classification model across all possible thresholds. The AUC ranges from 0 to 1, where a value of 1 represents a perfect classifier, and a value of 0.5 corresponds to a random classifier.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AUC has several desirable properties that make it a popular choice for evaluating classification models: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t>Invariance to class distribution:</a:t>
            </a:r>
            <a:r>
              <a:rPr lang="en-US" sz="1200" dirty="0"/>
              <a:t> The AUC is not affected by the proportion of positive and negative instances in the dataset, making it suitable for imbalanced datasets.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t>Invariance to classification threshold:</a:t>
            </a:r>
            <a:r>
              <a:rPr lang="en-US" sz="1200" dirty="0"/>
              <a:t> The AUC considers the classifier’s performance across all possible thresholds, comprehensively evaluating the model’s performance.</a:t>
            </a:r>
          </a:p>
          <a:p>
            <a:endParaRPr lang="en-IN" sz="1200" b="1" dirty="0"/>
          </a:p>
          <a:p>
            <a:r>
              <a:rPr lang="en-IN" sz="1200" b="1" dirty="0"/>
              <a:t>When to Use Each ::</a:t>
            </a:r>
            <a:endParaRPr lang="en-IN" sz="1200" dirty="0"/>
          </a:p>
          <a:p>
            <a:pPr marL="171450" indent="-171450">
              <a:buFont typeface="Arial" panose="020B0604020202020204" pitchFamily="34" charset="0"/>
              <a:buChar char="•"/>
            </a:pPr>
            <a:r>
              <a:rPr lang="en-US" sz="1200" b="1" dirty="0"/>
              <a:t>ROC-AUC</a:t>
            </a:r>
            <a:r>
              <a:rPr lang="en-US" sz="1200" dirty="0"/>
              <a:t> is suitable when the dataset is relatively balanced, and false positives and false negatives are of similar importance. It provides a comprehensive view of the model's overall discrimination ability across all thresholds.</a:t>
            </a:r>
          </a:p>
          <a:p>
            <a:pPr marL="171450" indent="-171450">
              <a:buFont typeface="Arial" panose="020B0604020202020204" pitchFamily="34" charset="0"/>
              <a:buChar char="•"/>
            </a:pPr>
            <a:r>
              <a:rPr lang="en-US" sz="1200" b="1" dirty="0"/>
              <a:t>PR-AUC</a:t>
            </a:r>
            <a:r>
              <a:rPr lang="en-US" sz="1200" dirty="0"/>
              <a:t> is more appropriate and informative when the dataset is heavily imbalanced, and the accurate identification of the minority (anomaly) class is paramount, especially when the costs associated with false negatives are high. It offers a more focused evaluation on the model's ability to correctly predict positive cases at various levels of recall. </a:t>
            </a:r>
          </a:p>
          <a:p>
            <a:pPr marL="171450" indent="-171450">
              <a:buFont typeface="Arial" panose="020B0604020202020204" pitchFamily="34" charset="0"/>
              <a:buChar char="•"/>
            </a:pPr>
            <a:endParaRPr lang="en-US" sz="1200" dirty="0"/>
          </a:p>
          <a:p>
            <a:pPr marL="0" indent="0">
              <a:buFont typeface="Arial" panose="020B0604020202020204" pitchFamily="34" charset="0"/>
              <a:buNone/>
            </a:pPr>
            <a:endParaRPr lang="en-US" sz="1200" dirty="0"/>
          </a:p>
          <a:p>
            <a:pPr marL="171450" indent="-171450">
              <a:buFont typeface="Arial" panose="020B0604020202020204" pitchFamily="34" charset="0"/>
              <a:buChar char="•"/>
            </a:pPr>
            <a:endParaRPr lang="en-US" sz="1200" dirty="0"/>
          </a:p>
          <a:p>
            <a:pPr marL="0" indent="0">
              <a:buFont typeface="Arial" panose="020B0604020202020204" pitchFamily="34" charset="0"/>
              <a:buNone/>
            </a:pPr>
            <a:endParaRPr lang="en-IN" sz="1200" dirty="0"/>
          </a:p>
        </p:txBody>
      </p:sp>
      <p:sp>
        <p:nvSpPr>
          <p:cNvPr id="4" name="Slide Number Placeholder 3">
            <a:extLst>
              <a:ext uri="{FF2B5EF4-FFF2-40B4-BE49-F238E27FC236}">
                <a16:creationId xmlns:a16="http://schemas.microsoft.com/office/drawing/2014/main" id="{BE96435F-A14C-EB91-AFED-602761427FE5}"/>
              </a:ext>
            </a:extLst>
          </p:cNvPr>
          <p:cNvSpPr>
            <a:spLocks noGrp="1"/>
          </p:cNvSpPr>
          <p:nvPr>
            <p:ph type="sldNum" sz="quarter" idx="5"/>
          </p:nvPr>
        </p:nvSpPr>
        <p:spPr/>
        <p:txBody>
          <a:bodyPr/>
          <a:lstStyle/>
          <a:p>
            <a:fld id="{CEA1C4D0-EE6E-44D9-87D5-41BFE31C9C6A}" type="slidenum">
              <a:rPr lang="en-IN" smtClean="0"/>
              <a:t>11</a:t>
            </a:fld>
            <a:endParaRPr lang="en-IN"/>
          </a:p>
        </p:txBody>
      </p:sp>
    </p:spTree>
    <p:extLst>
      <p:ext uri="{BB962C8B-B14F-4D97-AF65-F5344CB8AC3E}">
        <p14:creationId xmlns:p14="http://schemas.microsoft.com/office/powerpoint/2010/main" val="1412676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590C-807A-B5BA-2C73-BB9986C6FA37}"/>
              </a:ext>
            </a:extLst>
          </p:cNvPr>
          <p:cNvSpPr>
            <a:spLocks noGrp="1"/>
          </p:cNvSpPr>
          <p:nvPr>
            <p:ph type="ctrTitle"/>
          </p:nvPr>
        </p:nvSpPr>
        <p:spPr>
          <a:xfrm>
            <a:off x="1524000" y="1122363"/>
            <a:ext cx="9144000" cy="2387600"/>
          </a:xfrm>
        </p:spPr>
        <p:txBody>
          <a:bodyPr anchor="b">
            <a:normAutofit/>
          </a:bodyPr>
          <a:lstStyle>
            <a:lvl1pPr algn="ctr">
              <a:defRPr sz="4400" b="1"/>
            </a:lvl1pPr>
          </a:lstStyle>
          <a:p>
            <a:r>
              <a:rPr lang="en-US" dirty="0"/>
              <a:t>Click to edit Master title style</a:t>
            </a:r>
            <a:endParaRPr lang="en-IN" dirty="0"/>
          </a:p>
        </p:txBody>
      </p:sp>
      <p:sp>
        <p:nvSpPr>
          <p:cNvPr id="3" name="Subtitle 2">
            <a:extLst>
              <a:ext uri="{FF2B5EF4-FFF2-40B4-BE49-F238E27FC236}">
                <a16:creationId xmlns:a16="http://schemas.microsoft.com/office/drawing/2014/main" id="{325FEC20-0F84-B42E-6C75-2E79CABCB1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5" name="Footer Placeholder 4">
            <a:extLst>
              <a:ext uri="{FF2B5EF4-FFF2-40B4-BE49-F238E27FC236}">
                <a16:creationId xmlns:a16="http://schemas.microsoft.com/office/drawing/2014/main" id="{D5E5FB42-B413-BE02-C1BE-B390F22082FF}"/>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6080A8BB-7446-A674-A58C-73107DE72FB3}"/>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28631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410C7-D20A-3E8C-EB85-0A1A557C40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03BAF9-78E3-8CFF-24B8-EDC5C0D285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5979EE80-ACD3-C161-D3EF-EA66448D9230}"/>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6B098950-F5FF-5450-501C-DD346E747F59}"/>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957114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08971-ED5A-43F6-5120-BCD8BCA13D08}"/>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C3702A68-0B00-CF77-CBEF-3A12FC9466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5" name="Footer Placeholder 4">
            <a:extLst>
              <a:ext uri="{FF2B5EF4-FFF2-40B4-BE49-F238E27FC236}">
                <a16:creationId xmlns:a16="http://schemas.microsoft.com/office/drawing/2014/main" id="{6666304B-BB0C-6FFC-51BF-7AE927EF714C}"/>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0B6AC955-B1CF-5A74-C119-602559168ABA}"/>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910559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AA7BA-179E-F58D-DD4F-BF605BF12D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30612B-18C2-E2D7-1036-B56E6A2EF3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70C433-5557-1B7B-EDDB-CF7625DF40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a:extLst>
              <a:ext uri="{FF2B5EF4-FFF2-40B4-BE49-F238E27FC236}">
                <a16:creationId xmlns:a16="http://schemas.microsoft.com/office/drawing/2014/main" id="{47FAF835-ACE2-278F-A233-61195FAD8523}"/>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9C7C78F3-550F-7BED-FFC1-A3C71B7683FD}"/>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46872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B0357-C8B7-600D-9F89-1D19324564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7BF3C4-8774-9A8A-24C5-AE6B39EB27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1CEFEB-89BA-3D8A-E7A7-C4313DAF39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7EDDCF-9FD7-0199-B380-ECB1D5DBBE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865C05-9677-2667-FD10-8FB66DA2BB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Footer Placeholder 7">
            <a:extLst>
              <a:ext uri="{FF2B5EF4-FFF2-40B4-BE49-F238E27FC236}">
                <a16:creationId xmlns:a16="http://schemas.microsoft.com/office/drawing/2014/main" id="{2278E4CA-F6E9-0FBA-88AF-4BB9C6C6BD73}"/>
              </a:ext>
            </a:extLst>
          </p:cNvPr>
          <p:cNvSpPr>
            <a:spLocks noGrp="1"/>
          </p:cNvSpPr>
          <p:nvPr>
            <p:ph type="ftr" sz="quarter" idx="11"/>
          </p:nvPr>
        </p:nvSpPr>
        <p:spPr/>
        <p:txBody>
          <a:bodyPr/>
          <a:lstStyle/>
          <a:p>
            <a:r>
              <a:rPr lang="en-IN"/>
              <a:t>Dissertation S2-24 AIMLCZG628T</a:t>
            </a:r>
          </a:p>
        </p:txBody>
      </p:sp>
      <p:sp>
        <p:nvSpPr>
          <p:cNvPr id="9" name="Slide Number Placeholder 8">
            <a:extLst>
              <a:ext uri="{FF2B5EF4-FFF2-40B4-BE49-F238E27FC236}">
                <a16:creationId xmlns:a16="http://schemas.microsoft.com/office/drawing/2014/main" id="{9433EE07-0B1F-E173-7DC9-620185AA815A}"/>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380702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76A18-9506-C8AA-BA69-029F253E25C3}"/>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585EE9E4-D477-0858-39BC-BF6AF28F1A10}"/>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FB1436C0-B56E-77C6-0DE2-0ADD46228BD9}"/>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099706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3B00914-EBF7-A514-34A9-68172934EEA8}"/>
              </a:ext>
            </a:extLst>
          </p:cNvPr>
          <p:cNvSpPr>
            <a:spLocks noGrp="1"/>
          </p:cNvSpPr>
          <p:nvPr>
            <p:ph type="ftr" sz="quarter" idx="11"/>
          </p:nvPr>
        </p:nvSpPr>
        <p:spPr/>
        <p:txBody>
          <a:bodyPr/>
          <a:lstStyle/>
          <a:p>
            <a:r>
              <a:rPr lang="en-IN"/>
              <a:t>Dissertation S2-24 AIMLCZG628T</a:t>
            </a:r>
          </a:p>
        </p:txBody>
      </p:sp>
      <p:sp>
        <p:nvSpPr>
          <p:cNvPr id="4" name="Slide Number Placeholder 3">
            <a:extLst>
              <a:ext uri="{FF2B5EF4-FFF2-40B4-BE49-F238E27FC236}">
                <a16:creationId xmlns:a16="http://schemas.microsoft.com/office/drawing/2014/main" id="{E890564F-6095-543C-2C7B-6230D1E93BE2}"/>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10160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08F60-CE44-C50E-5254-B7F90A59DF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E61A180-DE77-8617-4797-B3E1EA493D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A5319FB-B01F-BDD6-F729-3706FB9293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CB609BDD-1E88-EE48-CFB6-C5D20100E2F1}"/>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80F4AD2D-73C7-B667-E297-AC2DC0E8F642}"/>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114509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2A488-2245-DF08-B07A-E8D8625D1B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D4B7B8A-CAAC-2EB3-F6BA-AA229736D8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5E6EC8E-4FED-62C7-2BC9-C1263167C5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6484E291-8879-93D5-6870-6F81682BBB94}"/>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A5751815-C2DF-13F4-DA8C-33CDE2EEBC6F}"/>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864872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47DE6-2DE7-A110-053A-E9DE8897B1B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51E27D-D87A-0198-FC8C-8CB5AC4C26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8455E6CB-D56A-C927-88F0-A7C8211512BD}"/>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EE1CDABE-C928-45B0-3122-DFFD43C65A51}"/>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330790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6DB260-9073-D48D-8D91-CC7AE59F3E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6EF37C-14FB-7A81-FF2C-391FA2574E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817DABE6-BBCF-BEE7-7DCB-2D80ACF2A2D5}"/>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189B9482-2387-0A02-8BA1-1E5EC28E2851}"/>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31873609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4046BD3-83CC-7FAA-0E88-2B853A72EC5E}"/>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IN"/>
          </a:p>
        </p:txBody>
      </p:sp>
      <p:sp>
        <p:nvSpPr>
          <p:cNvPr id="7" name="Title 6">
            <a:extLst>
              <a:ext uri="{FF2B5EF4-FFF2-40B4-BE49-F238E27FC236}">
                <a16:creationId xmlns:a16="http://schemas.microsoft.com/office/drawing/2014/main" id="{A82D227C-2987-02F3-5A10-7533D0D9164B}"/>
              </a:ext>
            </a:extLst>
          </p:cNvPr>
          <p:cNvSpPr>
            <a:spLocks noGrp="1"/>
          </p:cNvSpPr>
          <p:nvPr>
            <p:ph type="title"/>
          </p:nvPr>
        </p:nvSpPr>
        <p:spPr/>
        <p:txBody>
          <a:bodyPr/>
          <a:lstStyle/>
          <a:p>
            <a:r>
              <a:rPr lang="en-US"/>
              <a:t>Click to edit Master title style</a:t>
            </a:r>
            <a:endParaRPr lang="en-IN"/>
          </a:p>
        </p:txBody>
      </p:sp>
      <p:sp>
        <p:nvSpPr>
          <p:cNvPr id="9" name="Footer Placeholder 8">
            <a:extLst>
              <a:ext uri="{FF2B5EF4-FFF2-40B4-BE49-F238E27FC236}">
                <a16:creationId xmlns:a16="http://schemas.microsoft.com/office/drawing/2014/main" id="{076FF0C3-6F49-2155-44D3-2817079D00D6}"/>
              </a:ext>
            </a:extLst>
          </p:cNvPr>
          <p:cNvSpPr>
            <a:spLocks noGrp="1"/>
          </p:cNvSpPr>
          <p:nvPr>
            <p:ph type="ftr" sz="quarter" idx="11"/>
          </p:nvPr>
        </p:nvSpPr>
        <p:spPr>
          <a:xfrm>
            <a:off x="4038600" y="6356352"/>
            <a:ext cx="4114800" cy="365125"/>
          </a:xfrm>
          <a:prstGeom prst="rect">
            <a:avLst/>
          </a:prstGeom>
        </p:spPr>
        <p:txBody>
          <a:bodyPr/>
          <a:lstStyle/>
          <a:p>
            <a:r>
              <a:rPr lang="en-IN" dirty="0"/>
              <a:t>Dissertation S2-24 AIMLCZG628T</a:t>
            </a:r>
          </a:p>
        </p:txBody>
      </p:sp>
      <p:sp>
        <p:nvSpPr>
          <p:cNvPr id="10" name="Slide Number Placeholder 9">
            <a:extLst>
              <a:ext uri="{FF2B5EF4-FFF2-40B4-BE49-F238E27FC236}">
                <a16:creationId xmlns:a16="http://schemas.microsoft.com/office/drawing/2014/main" id="{9D89E014-6AAF-1C84-527A-AD3D99804884}"/>
              </a:ext>
            </a:extLst>
          </p:cNvPr>
          <p:cNvSpPr>
            <a:spLocks noGrp="1"/>
          </p:cNvSpPr>
          <p:nvPr>
            <p:ph type="sldNum" sz="quarter" idx="12"/>
          </p:nvPr>
        </p:nvSpPr>
        <p:spPr>
          <a:xfrm>
            <a:off x="8610600" y="6356350"/>
            <a:ext cx="2743200" cy="365125"/>
          </a:xfrm>
          <a:prstGeom prst="rect">
            <a:avLst/>
          </a:prstGeom>
        </p:spPr>
        <p:txBody>
          <a:bodyPr/>
          <a:lstStyle/>
          <a:p>
            <a:fld id="{E90DB949-9EF9-42A5-8674-17CECDA96830}" type="slidenum">
              <a:rPr lang="en-IN" smtClean="0"/>
              <a:t>‹#›</a:t>
            </a:fld>
            <a:endParaRPr lang="en-IN" dirty="0"/>
          </a:p>
        </p:txBody>
      </p:sp>
    </p:spTree>
    <p:extLst>
      <p:ext uri="{BB962C8B-B14F-4D97-AF65-F5344CB8AC3E}">
        <p14:creationId xmlns:p14="http://schemas.microsoft.com/office/powerpoint/2010/main" val="31771677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590C-807A-B5BA-2C73-BB9986C6FA37}"/>
              </a:ext>
            </a:extLst>
          </p:cNvPr>
          <p:cNvSpPr>
            <a:spLocks noGrp="1"/>
          </p:cNvSpPr>
          <p:nvPr>
            <p:ph type="ctrTitle"/>
          </p:nvPr>
        </p:nvSpPr>
        <p:spPr>
          <a:xfrm>
            <a:off x="1524000" y="1122363"/>
            <a:ext cx="9144000" cy="2387600"/>
          </a:xfrm>
        </p:spPr>
        <p:txBody>
          <a:bodyPr anchor="b">
            <a:normAutofit/>
          </a:bodyPr>
          <a:lstStyle>
            <a:lvl1pPr algn="ctr">
              <a:defRPr sz="4400" b="1"/>
            </a:lvl1pPr>
          </a:lstStyle>
          <a:p>
            <a:r>
              <a:rPr lang="en-US" dirty="0"/>
              <a:t>Click to edit Master title style</a:t>
            </a:r>
            <a:endParaRPr lang="en-IN" dirty="0"/>
          </a:p>
        </p:txBody>
      </p:sp>
      <p:sp>
        <p:nvSpPr>
          <p:cNvPr id="3" name="Subtitle 2">
            <a:extLst>
              <a:ext uri="{FF2B5EF4-FFF2-40B4-BE49-F238E27FC236}">
                <a16:creationId xmlns:a16="http://schemas.microsoft.com/office/drawing/2014/main" id="{325FEC20-0F84-B42E-6C75-2E79CABCB1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5" name="Footer Placeholder 4">
            <a:extLst>
              <a:ext uri="{FF2B5EF4-FFF2-40B4-BE49-F238E27FC236}">
                <a16:creationId xmlns:a16="http://schemas.microsoft.com/office/drawing/2014/main" id="{D5E5FB42-B413-BE02-C1BE-B390F22082FF}"/>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6080A8BB-7446-A674-A58C-73107DE72FB3}"/>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6445240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410C7-D20A-3E8C-EB85-0A1A557C40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03BAF9-78E3-8CFF-24B8-EDC5C0D285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5979EE80-ACD3-C161-D3EF-EA66448D9230}"/>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6B098950-F5FF-5450-501C-DD346E747F59}"/>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6246821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08971-ED5A-43F6-5120-BCD8BCA13D08}"/>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C3702A68-0B00-CF77-CBEF-3A12FC9466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5" name="Footer Placeholder 4">
            <a:extLst>
              <a:ext uri="{FF2B5EF4-FFF2-40B4-BE49-F238E27FC236}">
                <a16:creationId xmlns:a16="http://schemas.microsoft.com/office/drawing/2014/main" id="{6666304B-BB0C-6FFC-51BF-7AE927EF714C}"/>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0B6AC955-B1CF-5A74-C119-602559168ABA}"/>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244314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AA7BA-179E-F58D-DD4F-BF605BF12D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30612B-18C2-E2D7-1036-B56E6A2EF3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70C433-5557-1B7B-EDDB-CF7625DF40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a:extLst>
              <a:ext uri="{FF2B5EF4-FFF2-40B4-BE49-F238E27FC236}">
                <a16:creationId xmlns:a16="http://schemas.microsoft.com/office/drawing/2014/main" id="{47FAF835-ACE2-278F-A233-61195FAD8523}"/>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9C7C78F3-550F-7BED-FFC1-A3C71B7683FD}"/>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054344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B0357-C8B7-600D-9F89-1D19324564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7BF3C4-8774-9A8A-24C5-AE6B39EB27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1CEFEB-89BA-3D8A-E7A7-C4313DAF39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7EDDCF-9FD7-0199-B380-ECB1D5DBBE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865C05-9677-2667-FD10-8FB66DA2BB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Footer Placeholder 7">
            <a:extLst>
              <a:ext uri="{FF2B5EF4-FFF2-40B4-BE49-F238E27FC236}">
                <a16:creationId xmlns:a16="http://schemas.microsoft.com/office/drawing/2014/main" id="{2278E4CA-F6E9-0FBA-88AF-4BB9C6C6BD73}"/>
              </a:ext>
            </a:extLst>
          </p:cNvPr>
          <p:cNvSpPr>
            <a:spLocks noGrp="1"/>
          </p:cNvSpPr>
          <p:nvPr>
            <p:ph type="ftr" sz="quarter" idx="11"/>
          </p:nvPr>
        </p:nvSpPr>
        <p:spPr/>
        <p:txBody>
          <a:bodyPr/>
          <a:lstStyle/>
          <a:p>
            <a:r>
              <a:rPr lang="en-IN"/>
              <a:t>Dissertation S2-24 AIMLCZG628T</a:t>
            </a:r>
          </a:p>
        </p:txBody>
      </p:sp>
      <p:sp>
        <p:nvSpPr>
          <p:cNvPr id="9" name="Slide Number Placeholder 8">
            <a:extLst>
              <a:ext uri="{FF2B5EF4-FFF2-40B4-BE49-F238E27FC236}">
                <a16:creationId xmlns:a16="http://schemas.microsoft.com/office/drawing/2014/main" id="{9433EE07-0B1F-E173-7DC9-620185AA815A}"/>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4292740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76A18-9506-C8AA-BA69-029F253E25C3}"/>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585EE9E4-D477-0858-39BC-BF6AF28F1A10}"/>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FB1436C0-B56E-77C6-0DE2-0ADD46228BD9}"/>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41009884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3B00914-EBF7-A514-34A9-68172934EEA8}"/>
              </a:ext>
            </a:extLst>
          </p:cNvPr>
          <p:cNvSpPr>
            <a:spLocks noGrp="1"/>
          </p:cNvSpPr>
          <p:nvPr>
            <p:ph type="ftr" sz="quarter" idx="11"/>
          </p:nvPr>
        </p:nvSpPr>
        <p:spPr/>
        <p:txBody>
          <a:bodyPr/>
          <a:lstStyle/>
          <a:p>
            <a:r>
              <a:rPr lang="en-IN"/>
              <a:t>Dissertation S2-24 AIMLCZG628T</a:t>
            </a:r>
          </a:p>
        </p:txBody>
      </p:sp>
      <p:sp>
        <p:nvSpPr>
          <p:cNvPr id="4" name="Slide Number Placeholder 3">
            <a:extLst>
              <a:ext uri="{FF2B5EF4-FFF2-40B4-BE49-F238E27FC236}">
                <a16:creationId xmlns:a16="http://schemas.microsoft.com/office/drawing/2014/main" id="{E890564F-6095-543C-2C7B-6230D1E93BE2}"/>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9751307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08F60-CE44-C50E-5254-B7F90A59DF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E61A180-DE77-8617-4797-B3E1EA493D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A5319FB-B01F-BDD6-F729-3706FB9293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CB609BDD-1E88-EE48-CFB6-C5D20100E2F1}"/>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80F4AD2D-73C7-B667-E297-AC2DC0E8F642}"/>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3822005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2A488-2245-DF08-B07A-E8D8625D1B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D4B7B8A-CAAC-2EB3-F6BA-AA229736D8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5E6EC8E-4FED-62C7-2BC9-C1263167C5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6484E291-8879-93D5-6870-6F81682BBB94}"/>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A5751815-C2DF-13F4-DA8C-33CDE2EEBC6F}"/>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684680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47DE6-2DE7-A110-053A-E9DE8897B1B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51E27D-D87A-0198-FC8C-8CB5AC4C26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8455E6CB-D56A-C927-88F0-A7C8211512BD}"/>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EE1CDABE-C928-45B0-3122-DFFD43C65A51}"/>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7474193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6DB260-9073-D48D-8D91-CC7AE59F3E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6EF37C-14FB-7A81-FF2C-391FA2574E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817DABE6-BBCF-BEE7-7DCB-2D80ACF2A2D5}"/>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189B9482-2387-0A02-8BA1-1E5EC28E2851}"/>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3564960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4046BD3-83CC-7FAA-0E88-2B853A72EC5E}"/>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IN"/>
          </a:p>
        </p:txBody>
      </p:sp>
      <p:sp>
        <p:nvSpPr>
          <p:cNvPr id="7" name="Title 6">
            <a:extLst>
              <a:ext uri="{FF2B5EF4-FFF2-40B4-BE49-F238E27FC236}">
                <a16:creationId xmlns:a16="http://schemas.microsoft.com/office/drawing/2014/main" id="{A82D227C-2987-02F3-5A10-7533D0D9164B}"/>
              </a:ext>
            </a:extLst>
          </p:cNvPr>
          <p:cNvSpPr>
            <a:spLocks noGrp="1"/>
          </p:cNvSpPr>
          <p:nvPr>
            <p:ph type="title"/>
          </p:nvPr>
        </p:nvSpPr>
        <p:spPr/>
        <p:txBody>
          <a:bodyPr/>
          <a:lstStyle/>
          <a:p>
            <a:r>
              <a:rPr lang="en-US"/>
              <a:t>Click to edit Master title style</a:t>
            </a:r>
            <a:endParaRPr lang="en-IN"/>
          </a:p>
        </p:txBody>
      </p:sp>
      <p:sp>
        <p:nvSpPr>
          <p:cNvPr id="9" name="Footer Placeholder 8">
            <a:extLst>
              <a:ext uri="{FF2B5EF4-FFF2-40B4-BE49-F238E27FC236}">
                <a16:creationId xmlns:a16="http://schemas.microsoft.com/office/drawing/2014/main" id="{076FF0C3-6F49-2155-44D3-2817079D00D6}"/>
              </a:ext>
            </a:extLst>
          </p:cNvPr>
          <p:cNvSpPr>
            <a:spLocks noGrp="1"/>
          </p:cNvSpPr>
          <p:nvPr>
            <p:ph type="ftr" sz="quarter" idx="11"/>
          </p:nvPr>
        </p:nvSpPr>
        <p:spPr>
          <a:xfrm>
            <a:off x="4038600" y="6356352"/>
            <a:ext cx="4114800" cy="365125"/>
          </a:xfrm>
          <a:prstGeom prst="rect">
            <a:avLst/>
          </a:prstGeom>
        </p:spPr>
        <p:txBody>
          <a:bodyPr/>
          <a:lstStyle/>
          <a:p>
            <a:r>
              <a:rPr lang="en-IN" dirty="0"/>
              <a:t>Dissertation S2-24 AIMLCZG628T</a:t>
            </a:r>
          </a:p>
        </p:txBody>
      </p:sp>
      <p:sp>
        <p:nvSpPr>
          <p:cNvPr id="10" name="Slide Number Placeholder 9">
            <a:extLst>
              <a:ext uri="{FF2B5EF4-FFF2-40B4-BE49-F238E27FC236}">
                <a16:creationId xmlns:a16="http://schemas.microsoft.com/office/drawing/2014/main" id="{9D89E014-6AAF-1C84-527A-AD3D99804884}"/>
              </a:ext>
            </a:extLst>
          </p:cNvPr>
          <p:cNvSpPr>
            <a:spLocks noGrp="1"/>
          </p:cNvSpPr>
          <p:nvPr>
            <p:ph type="sldNum" sz="quarter" idx="12"/>
          </p:nvPr>
        </p:nvSpPr>
        <p:spPr>
          <a:xfrm>
            <a:off x="8610600" y="6356350"/>
            <a:ext cx="2743200" cy="365125"/>
          </a:xfrm>
          <a:prstGeom prst="rect">
            <a:avLst/>
          </a:prstGeom>
        </p:spPr>
        <p:txBody>
          <a:bodyPr/>
          <a:lstStyle/>
          <a:p>
            <a:fld id="{E90DB949-9EF9-42A5-8674-17CECDA96830}" type="slidenum">
              <a:rPr lang="en-IN" smtClean="0"/>
              <a:t>‹#›</a:t>
            </a:fld>
            <a:endParaRPr lang="en-IN" dirty="0"/>
          </a:p>
        </p:txBody>
      </p:sp>
    </p:spTree>
    <p:extLst>
      <p:ext uri="{BB962C8B-B14F-4D97-AF65-F5344CB8AC3E}">
        <p14:creationId xmlns:p14="http://schemas.microsoft.com/office/powerpoint/2010/main" val="35422078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590C-807A-B5BA-2C73-BB9986C6FA37}"/>
              </a:ext>
            </a:extLst>
          </p:cNvPr>
          <p:cNvSpPr>
            <a:spLocks noGrp="1"/>
          </p:cNvSpPr>
          <p:nvPr>
            <p:ph type="ctrTitle"/>
          </p:nvPr>
        </p:nvSpPr>
        <p:spPr>
          <a:xfrm>
            <a:off x="1524000" y="1122363"/>
            <a:ext cx="9144000" cy="2387600"/>
          </a:xfrm>
        </p:spPr>
        <p:txBody>
          <a:bodyPr anchor="b">
            <a:normAutofit/>
          </a:bodyPr>
          <a:lstStyle>
            <a:lvl1pPr algn="ctr">
              <a:defRPr sz="4400" b="1"/>
            </a:lvl1pPr>
          </a:lstStyle>
          <a:p>
            <a:r>
              <a:rPr lang="en-US" dirty="0"/>
              <a:t>Click to edit Master title style</a:t>
            </a:r>
            <a:endParaRPr lang="en-IN" dirty="0"/>
          </a:p>
        </p:txBody>
      </p:sp>
      <p:sp>
        <p:nvSpPr>
          <p:cNvPr id="3" name="Subtitle 2">
            <a:extLst>
              <a:ext uri="{FF2B5EF4-FFF2-40B4-BE49-F238E27FC236}">
                <a16:creationId xmlns:a16="http://schemas.microsoft.com/office/drawing/2014/main" id="{325FEC20-0F84-B42E-6C75-2E79CABCB1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5" name="Footer Placeholder 4">
            <a:extLst>
              <a:ext uri="{FF2B5EF4-FFF2-40B4-BE49-F238E27FC236}">
                <a16:creationId xmlns:a16="http://schemas.microsoft.com/office/drawing/2014/main" id="{D5E5FB42-B413-BE02-C1BE-B390F22082FF}"/>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6080A8BB-7446-A674-A58C-73107DE72FB3}"/>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31891079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410C7-D20A-3E8C-EB85-0A1A557C40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03BAF9-78E3-8CFF-24B8-EDC5C0D285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5979EE80-ACD3-C161-D3EF-EA66448D9230}"/>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6B098950-F5FF-5450-501C-DD346E747F59}"/>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9113961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08971-ED5A-43F6-5120-BCD8BCA13D08}"/>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C3702A68-0B00-CF77-CBEF-3A12FC9466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5" name="Footer Placeholder 4">
            <a:extLst>
              <a:ext uri="{FF2B5EF4-FFF2-40B4-BE49-F238E27FC236}">
                <a16:creationId xmlns:a16="http://schemas.microsoft.com/office/drawing/2014/main" id="{6666304B-BB0C-6FFC-51BF-7AE927EF714C}"/>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0B6AC955-B1CF-5A74-C119-602559168ABA}"/>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6548668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AA7BA-179E-F58D-DD4F-BF605BF12D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30612B-18C2-E2D7-1036-B56E6A2EF3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70C433-5557-1B7B-EDDB-CF7625DF40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a:extLst>
              <a:ext uri="{FF2B5EF4-FFF2-40B4-BE49-F238E27FC236}">
                <a16:creationId xmlns:a16="http://schemas.microsoft.com/office/drawing/2014/main" id="{47FAF835-ACE2-278F-A233-61195FAD8523}"/>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9C7C78F3-550F-7BED-FFC1-A3C71B7683FD}"/>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35740347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B0357-C8B7-600D-9F89-1D19324564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7BF3C4-8774-9A8A-24C5-AE6B39EB27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1CEFEB-89BA-3D8A-E7A7-C4313DAF39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7EDDCF-9FD7-0199-B380-ECB1D5DBBE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865C05-9677-2667-FD10-8FB66DA2BB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Footer Placeholder 7">
            <a:extLst>
              <a:ext uri="{FF2B5EF4-FFF2-40B4-BE49-F238E27FC236}">
                <a16:creationId xmlns:a16="http://schemas.microsoft.com/office/drawing/2014/main" id="{2278E4CA-F6E9-0FBA-88AF-4BB9C6C6BD73}"/>
              </a:ext>
            </a:extLst>
          </p:cNvPr>
          <p:cNvSpPr>
            <a:spLocks noGrp="1"/>
          </p:cNvSpPr>
          <p:nvPr>
            <p:ph type="ftr" sz="quarter" idx="11"/>
          </p:nvPr>
        </p:nvSpPr>
        <p:spPr/>
        <p:txBody>
          <a:bodyPr/>
          <a:lstStyle/>
          <a:p>
            <a:r>
              <a:rPr lang="en-IN"/>
              <a:t>Dissertation S2-24 AIMLCZG628T</a:t>
            </a:r>
          </a:p>
        </p:txBody>
      </p:sp>
      <p:sp>
        <p:nvSpPr>
          <p:cNvPr id="9" name="Slide Number Placeholder 8">
            <a:extLst>
              <a:ext uri="{FF2B5EF4-FFF2-40B4-BE49-F238E27FC236}">
                <a16:creationId xmlns:a16="http://schemas.microsoft.com/office/drawing/2014/main" id="{9433EE07-0B1F-E173-7DC9-620185AA815A}"/>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274442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76A18-9506-C8AA-BA69-029F253E25C3}"/>
              </a:ext>
            </a:extLst>
          </p:cNvPr>
          <p:cNvSpPr>
            <a:spLocks noGrp="1"/>
          </p:cNvSpPr>
          <p:nvPr>
            <p:ph type="title"/>
          </p:nvPr>
        </p:nvSpPr>
        <p:spPr/>
        <p:txBody>
          <a:bodyPr/>
          <a:lstStyle/>
          <a:p>
            <a:r>
              <a:rPr lang="en-US"/>
              <a:t>Click to edit Master title style</a:t>
            </a:r>
            <a:endParaRPr lang="en-IN"/>
          </a:p>
        </p:txBody>
      </p:sp>
      <p:sp>
        <p:nvSpPr>
          <p:cNvPr id="4" name="Footer Placeholder 3">
            <a:extLst>
              <a:ext uri="{FF2B5EF4-FFF2-40B4-BE49-F238E27FC236}">
                <a16:creationId xmlns:a16="http://schemas.microsoft.com/office/drawing/2014/main" id="{585EE9E4-D477-0858-39BC-BF6AF28F1A10}"/>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FB1436C0-B56E-77C6-0DE2-0ADD46228BD9}"/>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5593586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3B00914-EBF7-A514-34A9-68172934EEA8}"/>
              </a:ext>
            </a:extLst>
          </p:cNvPr>
          <p:cNvSpPr>
            <a:spLocks noGrp="1"/>
          </p:cNvSpPr>
          <p:nvPr>
            <p:ph type="ftr" sz="quarter" idx="11"/>
          </p:nvPr>
        </p:nvSpPr>
        <p:spPr/>
        <p:txBody>
          <a:bodyPr/>
          <a:lstStyle/>
          <a:p>
            <a:r>
              <a:rPr lang="en-IN"/>
              <a:t>Dissertation S2-24 AIMLCZG628T</a:t>
            </a:r>
          </a:p>
        </p:txBody>
      </p:sp>
      <p:sp>
        <p:nvSpPr>
          <p:cNvPr id="4" name="Slide Number Placeholder 3">
            <a:extLst>
              <a:ext uri="{FF2B5EF4-FFF2-40B4-BE49-F238E27FC236}">
                <a16:creationId xmlns:a16="http://schemas.microsoft.com/office/drawing/2014/main" id="{E890564F-6095-543C-2C7B-6230D1E93BE2}"/>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6233534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08F60-CE44-C50E-5254-B7F90A59DF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E61A180-DE77-8617-4797-B3E1EA493D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A5319FB-B01F-BDD6-F729-3706FB9293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CB609BDD-1E88-EE48-CFB6-C5D20100E2F1}"/>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80F4AD2D-73C7-B667-E297-AC2DC0E8F642}"/>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4819339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2A488-2245-DF08-B07A-E8D8625D1B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D4B7B8A-CAAC-2EB3-F6BA-AA229736D8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5E6EC8E-4FED-62C7-2BC9-C1263167C5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6484E291-8879-93D5-6870-6F81682BBB94}"/>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A5751815-C2DF-13F4-DA8C-33CDE2EEBC6F}"/>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22504559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47DE6-2DE7-A110-053A-E9DE8897B1B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51E27D-D87A-0198-FC8C-8CB5AC4C26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8455E6CB-D56A-C927-88F0-A7C8211512BD}"/>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EE1CDABE-C928-45B0-3122-DFFD43C65A51}"/>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1398560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6DB260-9073-D48D-8D91-CC7AE59F3E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6EF37C-14FB-7A81-FF2C-391FA2574E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817DABE6-BBCF-BEE7-7DCB-2D80ACF2A2D5}"/>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189B9482-2387-0A02-8BA1-1E5EC28E2851}"/>
              </a:ext>
            </a:extLst>
          </p:cNvPr>
          <p:cNvSpPr>
            <a:spLocks noGrp="1"/>
          </p:cNvSpPr>
          <p:nvPr>
            <p:ph type="sldNum" sz="quarter" idx="12"/>
          </p:nvPr>
        </p:nvSpPr>
        <p:spPr>
          <a:xfrm>
            <a:off x="8610600" y="6356350"/>
            <a:ext cx="2743200" cy="365125"/>
          </a:xfrm>
          <a:prstGeom prst="rect">
            <a:avLst/>
          </a:prstGeom>
        </p:spPr>
        <p:txBody>
          <a:bodyPr/>
          <a:lstStyle/>
          <a:p>
            <a:fld id="{0541023B-0DCA-4467-9EB4-7DB5EBA0C709}" type="slidenum">
              <a:rPr lang="en-IN" smtClean="0"/>
              <a:t>‹#›</a:t>
            </a:fld>
            <a:endParaRPr lang="en-IN"/>
          </a:p>
        </p:txBody>
      </p:sp>
    </p:spTree>
    <p:extLst>
      <p:ext uri="{BB962C8B-B14F-4D97-AF65-F5344CB8AC3E}">
        <p14:creationId xmlns:p14="http://schemas.microsoft.com/office/powerpoint/2010/main" val="11374053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4046BD3-83CC-7FAA-0E88-2B853A72EC5E}"/>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IN"/>
          </a:p>
        </p:txBody>
      </p:sp>
      <p:sp>
        <p:nvSpPr>
          <p:cNvPr id="7" name="Title 6">
            <a:extLst>
              <a:ext uri="{FF2B5EF4-FFF2-40B4-BE49-F238E27FC236}">
                <a16:creationId xmlns:a16="http://schemas.microsoft.com/office/drawing/2014/main" id="{A82D227C-2987-02F3-5A10-7533D0D9164B}"/>
              </a:ext>
            </a:extLst>
          </p:cNvPr>
          <p:cNvSpPr>
            <a:spLocks noGrp="1"/>
          </p:cNvSpPr>
          <p:nvPr>
            <p:ph type="title"/>
          </p:nvPr>
        </p:nvSpPr>
        <p:spPr/>
        <p:txBody>
          <a:bodyPr/>
          <a:lstStyle/>
          <a:p>
            <a:r>
              <a:rPr lang="en-US"/>
              <a:t>Click to edit Master title style</a:t>
            </a:r>
            <a:endParaRPr lang="en-IN"/>
          </a:p>
        </p:txBody>
      </p:sp>
      <p:sp>
        <p:nvSpPr>
          <p:cNvPr id="9" name="Footer Placeholder 8">
            <a:extLst>
              <a:ext uri="{FF2B5EF4-FFF2-40B4-BE49-F238E27FC236}">
                <a16:creationId xmlns:a16="http://schemas.microsoft.com/office/drawing/2014/main" id="{076FF0C3-6F49-2155-44D3-2817079D00D6}"/>
              </a:ext>
            </a:extLst>
          </p:cNvPr>
          <p:cNvSpPr>
            <a:spLocks noGrp="1"/>
          </p:cNvSpPr>
          <p:nvPr>
            <p:ph type="ftr" sz="quarter" idx="11"/>
          </p:nvPr>
        </p:nvSpPr>
        <p:spPr>
          <a:xfrm>
            <a:off x="4038600" y="6356352"/>
            <a:ext cx="4114800" cy="365125"/>
          </a:xfrm>
          <a:prstGeom prst="rect">
            <a:avLst/>
          </a:prstGeom>
        </p:spPr>
        <p:txBody>
          <a:bodyPr/>
          <a:lstStyle/>
          <a:p>
            <a:r>
              <a:rPr lang="en-IN" dirty="0"/>
              <a:t>Dissertation S2-24 AIMLCZG628T</a:t>
            </a:r>
          </a:p>
        </p:txBody>
      </p:sp>
      <p:sp>
        <p:nvSpPr>
          <p:cNvPr id="10" name="Slide Number Placeholder 9">
            <a:extLst>
              <a:ext uri="{FF2B5EF4-FFF2-40B4-BE49-F238E27FC236}">
                <a16:creationId xmlns:a16="http://schemas.microsoft.com/office/drawing/2014/main" id="{9D89E014-6AAF-1C84-527A-AD3D99804884}"/>
              </a:ext>
            </a:extLst>
          </p:cNvPr>
          <p:cNvSpPr>
            <a:spLocks noGrp="1"/>
          </p:cNvSpPr>
          <p:nvPr>
            <p:ph type="sldNum" sz="quarter" idx="12"/>
          </p:nvPr>
        </p:nvSpPr>
        <p:spPr>
          <a:xfrm>
            <a:off x="8610600" y="6356350"/>
            <a:ext cx="2743200" cy="365125"/>
          </a:xfrm>
          <a:prstGeom prst="rect">
            <a:avLst/>
          </a:prstGeom>
        </p:spPr>
        <p:txBody>
          <a:bodyPr/>
          <a:lstStyle/>
          <a:p>
            <a:fld id="{E90DB949-9EF9-42A5-8674-17CECDA96830}" type="slidenum">
              <a:rPr lang="en-IN" smtClean="0"/>
              <a:t>‹#›</a:t>
            </a:fld>
            <a:endParaRPr lang="en-IN" dirty="0"/>
          </a:p>
        </p:txBody>
      </p:sp>
    </p:spTree>
    <p:extLst>
      <p:ext uri="{BB962C8B-B14F-4D97-AF65-F5344CB8AC3E}">
        <p14:creationId xmlns:p14="http://schemas.microsoft.com/office/powerpoint/2010/main" val="3452734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mailto:2023aa05218@wilp.bits-pilani.ac.in"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hyperlink" Target="mailto:2023aa05218@wilp.bits-pilani.ac.in" TargetMode="Externa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image" Target="../media/image2.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hyperlink" Target="mailto:2023aa05218@wilp.bits-pilani.ac.in" TargetMode="Externa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1000">
              <a:srgbClr val="0070C0">
                <a:lumMod val="50000"/>
              </a:srgbClr>
            </a:gs>
            <a:gs pos="100000">
              <a:schemeClr val="tx1">
                <a:lumMod val="10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4F5CB6AD-15F1-FACF-60FC-3B69FE7819F2}"/>
              </a:ext>
            </a:extLst>
          </p:cNvPr>
          <p:cNvSpPr/>
          <p:nvPr userDrawn="1"/>
        </p:nvSpPr>
        <p:spPr>
          <a:xfrm rot="10800000">
            <a:off x="71558" y="79499"/>
            <a:ext cx="12055783" cy="6100489"/>
          </a:xfrm>
          <a:prstGeom prst="round2SameRect">
            <a:avLst>
              <a:gd name="adj1" fmla="val 7795"/>
              <a:gd name="adj2" fmla="val 0"/>
            </a:avLst>
          </a:prstGeom>
          <a:gradFill flip="none" rotWithShape="1">
            <a:gsLst>
              <a:gs pos="0">
                <a:schemeClr val="bg1">
                  <a:lumMod val="75000"/>
                </a:schemeClr>
              </a:gs>
              <a:gs pos="16000">
                <a:schemeClr val="bg1">
                  <a:lumMod val="85000"/>
                </a:schemeClr>
              </a:gs>
              <a:gs pos="69000">
                <a:schemeClr val="bg1"/>
              </a:gs>
              <a:gs pos="38000">
                <a:schemeClr val="bg1">
                  <a:lumMod val="95000"/>
                </a:schemeClr>
              </a:gs>
            </a:gsLst>
            <a:lin ang="162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0" dirty="0"/>
          </a:p>
        </p:txBody>
      </p:sp>
      <p:sp>
        <p:nvSpPr>
          <p:cNvPr id="2" name="Title Placeholder 1">
            <a:extLst>
              <a:ext uri="{FF2B5EF4-FFF2-40B4-BE49-F238E27FC236}">
                <a16:creationId xmlns:a16="http://schemas.microsoft.com/office/drawing/2014/main" id="{D1409F93-CC02-62FF-27A9-4FA4CD42B472}"/>
              </a:ext>
            </a:extLst>
          </p:cNvPr>
          <p:cNvSpPr>
            <a:spLocks noGrp="1"/>
          </p:cNvSpPr>
          <p:nvPr>
            <p:ph type="title"/>
          </p:nvPr>
        </p:nvSpPr>
        <p:spPr>
          <a:xfrm>
            <a:off x="137565" y="143499"/>
            <a:ext cx="11919568" cy="701628"/>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D6957D5B-3A09-ACB6-DE28-04DC7CA5329E}"/>
              </a:ext>
            </a:extLst>
          </p:cNvPr>
          <p:cNvSpPr>
            <a:spLocks noGrp="1"/>
          </p:cNvSpPr>
          <p:nvPr>
            <p:ph type="body" idx="1"/>
          </p:nvPr>
        </p:nvSpPr>
        <p:spPr>
          <a:xfrm>
            <a:off x="838200" y="1825625"/>
            <a:ext cx="10515600" cy="418724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Footer Placeholder 4">
            <a:extLst>
              <a:ext uri="{FF2B5EF4-FFF2-40B4-BE49-F238E27FC236}">
                <a16:creationId xmlns:a16="http://schemas.microsoft.com/office/drawing/2014/main" id="{902BBB55-B91E-FDC1-9228-11AAA0D735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bg2"/>
                </a:solidFill>
              </a:defRPr>
            </a:lvl1pPr>
          </a:lstStyle>
          <a:p>
            <a:r>
              <a:rPr lang="en-IN" dirty="0"/>
              <a:t>Dissertation S2-24 AIMLCZG628T</a:t>
            </a:r>
          </a:p>
        </p:txBody>
      </p:sp>
      <p:sp>
        <p:nvSpPr>
          <p:cNvPr id="6" name="Slide Number Placeholder 5">
            <a:extLst>
              <a:ext uri="{FF2B5EF4-FFF2-40B4-BE49-F238E27FC236}">
                <a16:creationId xmlns:a16="http://schemas.microsoft.com/office/drawing/2014/main" id="{D7E88F01-8C0C-F488-57C5-16557B2831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2"/>
                </a:solidFill>
              </a:defRPr>
            </a:lvl1pPr>
          </a:lstStyle>
          <a:p>
            <a:fld id="{0541023B-0DCA-4467-9EB4-7DB5EBA0C709}" type="slidenum">
              <a:rPr lang="en-IN" smtClean="0"/>
              <a:pPr/>
              <a:t>‹#›</a:t>
            </a:fld>
            <a:endParaRPr lang="en-IN" dirty="0"/>
          </a:p>
        </p:txBody>
      </p:sp>
      <p:pic>
        <p:nvPicPr>
          <p:cNvPr id="8" name="Picture 7">
            <a:extLst>
              <a:ext uri="{FF2B5EF4-FFF2-40B4-BE49-F238E27FC236}">
                <a16:creationId xmlns:a16="http://schemas.microsoft.com/office/drawing/2014/main" id="{6B30E326-8A31-367B-FEBC-6C7A044D0D44}"/>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491666" y="6237290"/>
            <a:ext cx="519352" cy="519352"/>
          </a:xfrm>
          <a:prstGeom prst="rect">
            <a:avLst/>
          </a:prstGeom>
          <a:ln>
            <a:noFill/>
          </a:ln>
          <a:effectLst/>
        </p:spPr>
      </p:pic>
      <p:sp>
        <p:nvSpPr>
          <p:cNvPr id="9" name="TextBox 8">
            <a:extLst>
              <a:ext uri="{FF2B5EF4-FFF2-40B4-BE49-F238E27FC236}">
                <a16:creationId xmlns:a16="http://schemas.microsoft.com/office/drawing/2014/main" id="{95D53ABA-B50C-16F4-17B3-D7F8E8EA91EA}"/>
              </a:ext>
            </a:extLst>
          </p:cNvPr>
          <p:cNvSpPr txBox="1"/>
          <p:nvPr userDrawn="1"/>
        </p:nvSpPr>
        <p:spPr>
          <a:xfrm>
            <a:off x="1067666" y="6237290"/>
            <a:ext cx="2012510" cy="507831"/>
          </a:xfrm>
          <a:prstGeom prst="rect">
            <a:avLst/>
          </a:prstGeom>
          <a:noFill/>
        </p:spPr>
        <p:txBody>
          <a:bodyPr wrap="square" rtlCol="0">
            <a:spAutoFit/>
          </a:bodyPr>
          <a:lstStyle/>
          <a:p>
            <a:r>
              <a:rPr lang="en-IN" sz="900" dirty="0">
                <a:solidFill>
                  <a:schemeClr val="bg2"/>
                </a:solidFill>
              </a:rPr>
              <a:t>Rounaq Choudhuri</a:t>
            </a:r>
          </a:p>
          <a:p>
            <a:r>
              <a:rPr lang="en-IN" sz="900" dirty="0">
                <a:solidFill>
                  <a:schemeClr val="bg2"/>
                </a:solidFill>
              </a:rPr>
              <a:t>2023AA05218</a:t>
            </a:r>
          </a:p>
          <a:p>
            <a:r>
              <a:rPr lang="en-IN" sz="900" dirty="0">
                <a:hlinkClick r:id="rId15"/>
              </a:rPr>
              <a:t>2023aa05218@wilp.bits-pilani.ac.in</a:t>
            </a:r>
            <a:endParaRPr lang="en-IN" sz="900" dirty="0"/>
          </a:p>
        </p:txBody>
      </p:sp>
      <p:cxnSp>
        <p:nvCxnSpPr>
          <p:cNvPr id="10" name="Straight Connector 9">
            <a:extLst>
              <a:ext uri="{FF2B5EF4-FFF2-40B4-BE49-F238E27FC236}">
                <a16:creationId xmlns:a16="http://schemas.microsoft.com/office/drawing/2014/main" id="{F7349A85-83F2-B5F9-84D0-D33B52D1085B}"/>
              </a:ext>
            </a:extLst>
          </p:cNvPr>
          <p:cNvCxnSpPr>
            <a:cxnSpLocks/>
          </p:cNvCxnSpPr>
          <p:nvPr userDrawn="1"/>
        </p:nvCxnSpPr>
        <p:spPr>
          <a:xfrm>
            <a:off x="1067666" y="6237290"/>
            <a:ext cx="0" cy="523683"/>
          </a:xfrm>
          <a:prstGeom prst="line">
            <a:avLst/>
          </a:prstGeom>
          <a:ln w="12700">
            <a:solidFill>
              <a:schemeClr val="bg2"/>
            </a:solidFill>
          </a:ln>
        </p:spPr>
        <p:style>
          <a:lnRef idx="1">
            <a:schemeClr val="accent3"/>
          </a:lnRef>
          <a:fillRef idx="0">
            <a:schemeClr val="accent3"/>
          </a:fillRef>
          <a:effectRef idx="0">
            <a:schemeClr val="accent3"/>
          </a:effectRef>
          <a:fontRef idx="minor">
            <a:schemeClr val="tx1"/>
          </a:fontRef>
        </p:style>
      </p:cxnSp>
      <p:pic>
        <p:nvPicPr>
          <p:cNvPr id="16" name="Picture 15">
            <a:extLst>
              <a:ext uri="{FF2B5EF4-FFF2-40B4-BE49-F238E27FC236}">
                <a16:creationId xmlns:a16="http://schemas.microsoft.com/office/drawing/2014/main" id="{AD7891FE-2689-9426-8D8B-8E6A9E9C2557}"/>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579178" y="-39866"/>
            <a:ext cx="2384690" cy="548750"/>
          </a:xfrm>
          <a:prstGeom prst="rect">
            <a:avLst/>
          </a:prstGeom>
          <a:ln>
            <a:solidFill>
              <a:schemeClr val="tx1">
                <a:lumMod val="75000"/>
                <a:lumOff val="25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6134758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49" r:id="rId12"/>
  </p:sldLayoutIdLst>
  <p:hf hd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1000">
              <a:srgbClr val="FF0000">
                <a:lumMod val="50000"/>
              </a:srgbClr>
            </a:gs>
            <a:gs pos="100000">
              <a:schemeClr val="tx1">
                <a:lumMod val="10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4F5CB6AD-15F1-FACF-60FC-3B69FE7819F2}"/>
              </a:ext>
            </a:extLst>
          </p:cNvPr>
          <p:cNvSpPr/>
          <p:nvPr userDrawn="1"/>
        </p:nvSpPr>
        <p:spPr>
          <a:xfrm rot="10800000">
            <a:off x="71562" y="79504"/>
            <a:ext cx="12054176" cy="6100489"/>
          </a:xfrm>
          <a:prstGeom prst="round2SameRect">
            <a:avLst>
              <a:gd name="adj1" fmla="val 7795"/>
              <a:gd name="adj2" fmla="val 0"/>
            </a:avLst>
          </a:prstGeom>
          <a:gradFill flip="none" rotWithShape="1">
            <a:gsLst>
              <a:gs pos="0">
                <a:schemeClr val="bg1">
                  <a:lumMod val="75000"/>
                </a:schemeClr>
              </a:gs>
              <a:gs pos="16000">
                <a:schemeClr val="bg1">
                  <a:lumMod val="85000"/>
                </a:schemeClr>
              </a:gs>
              <a:gs pos="69000">
                <a:schemeClr val="bg1"/>
              </a:gs>
              <a:gs pos="38000">
                <a:schemeClr val="bg1">
                  <a:lumMod val="95000"/>
                </a:schemeClr>
              </a:gs>
            </a:gsLst>
            <a:lin ang="162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0"/>
          </a:p>
        </p:txBody>
      </p:sp>
      <p:sp>
        <p:nvSpPr>
          <p:cNvPr id="2" name="Title Placeholder 1">
            <a:extLst>
              <a:ext uri="{FF2B5EF4-FFF2-40B4-BE49-F238E27FC236}">
                <a16:creationId xmlns:a16="http://schemas.microsoft.com/office/drawing/2014/main" id="{D1409F93-CC02-62FF-27A9-4FA4CD42B472}"/>
              </a:ext>
            </a:extLst>
          </p:cNvPr>
          <p:cNvSpPr>
            <a:spLocks noGrp="1"/>
          </p:cNvSpPr>
          <p:nvPr>
            <p:ph type="title"/>
          </p:nvPr>
        </p:nvSpPr>
        <p:spPr>
          <a:xfrm>
            <a:off x="137565" y="143499"/>
            <a:ext cx="11919568" cy="701628"/>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D6957D5B-3A09-ACB6-DE28-04DC7CA5329E}"/>
              </a:ext>
            </a:extLst>
          </p:cNvPr>
          <p:cNvSpPr>
            <a:spLocks noGrp="1"/>
          </p:cNvSpPr>
          <p:nvPr>
            <p:ph type="body" idx="1"/>
          </p:nvPr>
        </p:nvSpPr>
        <p:spPr>
          <a:xfrm>
            <a:off x="838200" y="1825625"/>
            <a:ext cx="10515600" cy="418724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Footer Placeholder 4">
            <a:extLst>
              <a:ext uri="{FF2B5EF4-FFF2-40B4-BE49-F238E27FC236}">
                <a16:creationId xmlns:a16="http://schemas.microsoft.com/office/drawing/2014/main" id="{902BBB55-B91E-FDC1-9228-11AAA0D735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bg2"/>
                </a:solidFill>
              </a:defRPr>
            </a:lvl1pPr>
          </a:lstStyle>
          <a:p>
            <a:r>
              <a:rPr lang="en-IN" dirty="0"/>
              <a:t>Dissertation S2-24 AIMLCZG628T</a:t>
            </a:r>
          </a:p>
        </p:txBody>
      </p:sp>
      <p:sp>
        <p:nvSpPr>
          <p:cNvPr id="6" name="Slide Number Placeholder 5">
            <a:extLst>
              <a:ext uri="{FF2B5EF4-FFF2-40B4-BE49-F238E27FC236}">
                <a16:creationId xmlns:a16="http://schemas.microsoft.com/office/drawing/2014/main" id="{D7E88F01-8C0C-F488-57C5-16557B2831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2"/>
                </a:solidFill>
              </a:defRPr>
            </a:lvl1pPr>
          </a:lstStyle>
          <a:p>
            <a:fld id="{0541023B-0DCA-4467-9EB4-7DB5EBA0C709}" type="slidenum">
              <a:rPr lang="en-IN" smtClean="0"/>
              <a:pPr/>
              <a:t>‹#›</a:t>
            </a:fld>
            <a:endParaRPr lang="en-IN" dirty="0"/>
          </a:p>
        </p:txBody>
      </p:sp>
      <p:pic>
        <p:nvPicPr>
          <p:cNvPr id="8" name="Picture 7">
            <a:extLst>
              <a:ext uri="{FF2B5EF4-FFF2-40B4-BE49-F238E27FC236}">
                <a16:creationId xmlns:a16="http://schemas.microsoft.com/office/drawing/2014/main" id="{6B30E326-8A31-367B-FEBC-6C7A044D0D44}"/>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491666" y="6237290"/>
            <a:ext cx="519352" cy="519352"/>
          </a:xfrm>
          <a:prstGeom prst="rect">
            <a:avLst/>
          </a:prstGeom>
          <a:ln>
            <a:noFill/>
          </a:ln>
          <a:effectLst/>
        </p:spPr>
      </p:pic>
      <p:sp>
        <p:nvSpPr>
          <p:cNvPr id="9" name="TextBox 8">
            <a:extLst>
              <a:ext uri="{FF2B5EF4-FFF2-40B4-BE49-F238E27FC236}">
                <a16:creationId xmlns:a16="http://schemas.microsoft.com/office/drawing/2014/main" id="{95D53ABA-B50C-16F4-17B3-D7F8E8EA91EA}"/>
              </a:ext>
            </a:extLst>
          </p:cNvPr>
          <p:cNvSpPr txBox="1"/>
          <p:nvPr userDrawn="1"/>
        </p:nvSpPr>
        <p:spPr>
          <a:xfrm>
            <a:off x="1067666" y="6237290"/>
            <a:ext cx="2012510" cy="507831"/>
          </a:xfrm>
          <a:prstGeom prst="rect">
            <a:avLst/>
          </a:prstGeom>
          <a:noFill/>
        </p:spPr>
        <p:txBody>
          <a:bodyPr wrap="square" rtlCol="0">
            <a:spAutoFit/>
          </a:bodyPr>
          <a:lstStyle/>
          <a:p>
            <a:r>
              <a:rPr lang="en-IN" sz="900" dirty="0">
                <a:solidFill>
                  <a:schemeClr val="bg2"/>
                </a:solidFill>
              </a:rPr>
              <a:t>Rounaq Choudhuri</a:t>
            </a:r>
          </a:p>
          <a:p>
            <a:r>
              <a:rPr lang="en-IN" sz="900" dirty="0">
                <a:solidFill>
                  <a:schemeClr val="bg2"/>
                </a:solidFill>
              </a:rPr>
              <a:t>2023AA05218</a:t>
            </a:r>
          </a:p>
          <a:p>
            <a:r>
              <a:rPr lang="en-IN" sz="900" dirty="0">
                <a:hlinkClick r:id="rId15"/>
              </a:rPr>
              <a:t>2023aa05218@wilp.bits-pilani.ac.in</a:t>
            </a:r>
            <a:endParaRPr lang="en-IN" sz="900" dirty="0"/>
          </a:p>
        </p:txBody>
      </p:sp>
      <p:cxnSp>
        <p:nvCxnSpPr>
          <p:cNvPr id="10" name="Straight Connector 9">
            <a:extLst>
              <a:ext uri="{FF2B5EF4-FFF2-40B4-BE49-F238E27FC236}">
                <a16:creationId xmlns:a16="http://schemas.microsoft.com/office/drawing/2014/main" id="{F7349A85-83F2-B5F9-84D0-D33B52D1085B}"/>
              </a:ext>
            </a:extLst>
          </p:cNvPr>
          <p:cNvCxnSpPr>
            <a:cxnSpLocks/>
          </p:cNvCxnSpPr>
          <p:nvPr userDrawn="1"/>
        </p:nvCxnSpPr>
        <p:spPr>
          <a:xfrm>
            <a:off x="1067666" y="6237290"/>
            <a:ext cx="0" cy="523683"/>
          </a:xfrm>
          <a:prstGeom prst="line">
            <a:avLst/>
          </a:prstGeom>
          <a:ln w="12700">
            <a:solidFill>
              <a:schemeClr val="bg2"/>
            </a:solidFill>
          </a:ln>
        </p:spPr>
        <p:style>
          <a:lnRef idx="1">
            <a:schemeClr val="accent3"/>
          </a:lnRef>
          <a:fillRef idx="0">
            <a:schemeClr val="accent3"/>
          </a:fillRef>
          <a:effectRef idx="0">
            <a:schemeClr val="accent3"/>
          </a:effectRef>
          <a:fontRef idx="minor">
            <a:schemeClr val="tx1"/>
          </a:fontRef>
        </p:style>
      </p:cxnSp>
      <p:pic>
        <p:nvPicPr>
          <p:cNvPr id="16" name="Picture 15">
            <a:extLst>
              <a:ext uri="{FF2B5EF4-FFF2-40B4-BE49-F238E27FC236}">
                <a16:creationId xmlns:a16="http://schemas.microsoft.com/office/drawing/2014/main" id="{AD7891FE-2689-9426-8D8B-8E6A9E9C2557}"/>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579178" y="-39866"/>
            <a:ext cx="2384690" cy="548750"/>
          </a:xfrm>
          <a:prstGeom prst="rect">
            <a:avLst/>
          </a:prstGeom>
          <a:ln>
            <a:solidFill>
              <a:schemeClr val="tx1">
                <a:lumMod val="75000"/>
                <a:lumOff val="25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27682747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1000">
              <a:schemeClr val="accent4">
                <a:lumMod val="50000"/>
              </a:schemeClr>
            </a:gs>
            <a:gs pos="100000">
              <a:schemeClr val="tx1">
                <a:lumMod val="10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7" name="Rectangle: Top Corners Rounded 6">
            <a:extLst>
              <a:ext uri="{FF2B5EF4-FFF2-40B4-BE49-F238E27FC236}">
                <a16:creationId xmlns:a16="http://schemas.microsoft.com/office/drawing/2014/main" id="{4F5CB6AD-15F1-FACF-60FC-3B69FE7819F2}"/>
              </a:ext>
            </a:extLst>
          </p:cNvPr>
          <p:cNvSpPr/>
          <p:nvPr userDrawn="1"/>
        </p:nvSpPr>
        <p:spPr>
          <a:xfrm rot="10800000">
            <a:off x="71562" y="79504"/>
            <a:ext cx="12054176" cy="6100489"/>
          </a:xfrm>
          <a:prstGeom prst="round2SameRect">
            <a:avLst>
              <a:gd name="adj1" fmla="val 7795"/>
              <a:gd name="adj2" fmla="val 0"/>
            </a:avLst>
          </a:prstGeom>
          <a:gradFill flip="none" rotWithShape="1">
            <a:gsLst>
              <a:gs pos="0">
                <a:schemeClr val="bg1">
                  <a:lumMod val="75000"/>
                </a:schemeClr>
              </a:gs>
              <a:gs pos="16000">
                <a:schemeClr val="bg1">
                  <a:lumMod val="85000"/>
                </a:schemeClr>
              </a:gs>
              <a:gs pos="69000">
                <a:schemeClr val="bg1"/>
              </a:gs>
              <a:gs pos="38000">
                <a:schemeClr val="bg1">
                  <a:lumMod val="95000"/>
                </a:schemeClr>
              </a:gs>
            </a:gsLst>
            <a:lin ang="162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800"/>
          </a:p>
        </p:txBody>
      </p:sp>
      <p:sp>
        <p:nvSpPr>
          <p:cNvPr id="2" name="Title Placeholder 1">
            <a:extLst>
              <a:ext uri="{FF2B5EF4-FFF2-40B4-BE49-F238E27FC236}">
                <a16:creationId xmlns:a16="http://schemas.microsoft.com/office/drawing/2014/main" id="{D1409F93-CC02-62FF-27A9-4FA4CD42B472}"/>
              </a:ext>
            </a:extLst>
          </p:cNvPr>
          <p:cNvSpPr>
            <a:spLocks noGrp="1"/>
          </p:cNvSpPr>
          <p:nvPr>
            <p:ph type="title"/>
          </p:nvPr>
        </p:nvSpPr>
        <p:spPr>
          <a:xfrm>
            <a:off x="137565" y="143499"/>
            <a:ext cx="11919568" cy="701628"/>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D6957D5B-3A09-ACB6-DE28-04DC7CA5329E}"/>
              </a:ext>
            </a:extLst>
          </p:cNvPr>
          <p:cNvSpPr>
            <a:spLocks noGrp="1"/>
          </p:cNvSpPr>
          <p:nvPr>
            <p:ph type="body" idx="1"/>
          </p:nvPr>
        </p:nvSpPr>
        <p:spPr>
          <a:xfrm>
            <a:off x="838200" y="1825625"/>
            <a:ext cx="10515600" cy="418724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Footer Placeholder 4">
            <a:extLst>
              <a:ext uri="{FF2B5EF4-FFF2-40B4-BE49-F238E27FC236}">
                <a16:creationId xmlns:a16="http://schemas.microsoft.com/office/drawing/2014/main" id="{902BBB55-B91E-FDC1-9228-11AAA0D735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bg2"/>
                </a:solidFill>
              </a:defRPr>
            </a:lvl1pPr>
          </a:lstStyle>
          <a:p>
            <a:r>
              <a:rPr lang="en-IN" dirty="0"/>
              <a:t>Dissertation S2-24 AIMLCZG628T</a:t>
            </a:r>
          </a:p>
        </p:txBody>
      </p:sp>
      <p:sp>
        <p:nvSpPr>
          <p:cNvPr id="6" name="Slide Number Placeholder 5">
            <a:extLst>
              <a:ext uri="{FF2B5EF4-FFF2-40B4-BE49-F238E27FC236}">
                <a16:creationId xmlns:a16="http://schemas.microsoft.com/office/drawing/2014/main" id="{D7E88F01-8C0C-F488-57C5-16557B2831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2"/>
                </a:solidFill>
              </a:defRPr>
            </a:lvl1pPr>
          </a:lstStyle>
          <a:p>
            <a:fld id="{0541023B-0DCA-4467-9EB4-7DB5EBA0C709}" type="slidenum">
              <a:rPr lang="en-IN" smtClean="0"/>
              <a:pPr/>
              <a:t>‹#›</a:t>
            </a:fld>
            <a:endParaRPr lang="en-IN" dirty="0"/>
          </a:p>
        </p:txBody>
      </p:sp>
      <p:pic>
        <p:nvPicPr>
          <p:cNvPr id="8" name="Picture 7">
            <a:extLst>
              <a:ext uri="{FF2B5EF4-FFF2-40B4-BE49-F238E27FC236}">
                <a16:creationId xmlns:a16="http://schemas.microsoft.com/office/drawing/2014/main" id="{6B30E326-8A31-367B-FEBC-6C7A044D0D44}"/>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491666" y="6237290"/>
            <a:ext cx="519352" cy="519352"/>
          </a:xfrm>
          <a:prstGeom prst="rect">
            <a:avLst/>
          </a:prstGeom>
          <a:ln>
            <a:noFill/>
          </a:ln>
          <a:effectLst/>
        </p:spPr>
      </p:pic>
      <p:sp>
        <p:nvSpPr>
          <p:cNvPr id="9" name="TextBox 8">
            <a:extLst>
              <a:ext uri="{FF2B5EF4-FFF2-40B4-BE49-F238E27FC236}">
                <a16:creationId xmlns:a16="http://schemas.microsoft.com/office/drawing/2014/main" id="{95D53ABA-B50C-16F4-17B3-D7F8E8EA91EA}"/>
              </a:ext>
            </a:extLst>
          </p:cNvPr>
          <p:cNvSpPr txBox="1"/>
          <p:nvPr userDrawn="1"/>
        </p:nvSpPr>
        <p:spPr>
          <a:xfrm>
            <a:off x="1067666" y="6237290"/>
            <a:ext cx="2012510" cy="507831"/>
          </a:xfrm>
          <a:prstGeom prst="rect">
            <a:avLst/>
          </a:prstGeom>
          <a:noFill/>
        </p:spPr>
        <p:txBody>
          <a:bodyPr wrap="square" rtlCol="0">
            <a:spAutoFit/>
          </a:bodyPr>
          <a:lstStyle/>
          <a:p>
            <a:r>
              <a:rPr lang="en-IN" sz="900" dirty="0">
                <a:solidFill>
                  <a:schemeClr val="bg2"/>
                </a:solidFill>
              </a:rPr>
              <a:t>Rounaq Choudhuri</a:t>
            </a:r>
          </a:p>
          <a:p>
            <a:r>
              <a:rPr lang="en-IN" sz="900" dirty="0">
                <a:solidFill>
                  <a:schemeClr val="bg2"/>
                </a:solidFill>
              </a:rPr>
              <a:t>2023AA05218</a:t>
            </a:r>
          </a:p>
          <a:p>
            <a:r>
              <a:rPr lang="en-IN" sz="900" dirty="0">
                <a:hlinkClick r:id="rId15"/>
              </a:rPr>
              <a:t>2023aa05218@wilp.bits-pilani.ac.in</a:t>
            </a:r>
            <a:endParaRPr lang="en-IN" sz="900" dirty="0"/>
          </a:p>
        </p:txBody>
      </p:sp>
      <p:cxnSp>
        <p:nvCxnSpPr>
          <p:cNvPr id="10" name="Straight Connector 9">
            <a:extLst>
              <a:ext uri="{FF2B5EF4-FFF2-40B4-BE49-F238E27FC236}">
                <a16:creationId xmlns:a16="http://schemas.microsoft.com/office/drawing/2014/main" id="{F7349A85-83F2-B5F9-84D0-D33B52D1085B}"/>
              </a:ext>
            </a:extLst>
          </p:cNvPr>
          <p:cNvCxnSpPr>
            <a:cxnSpLocks/>
          </p:cNvCxnSpPr>
          <p:nvPr userDrawn="1"/>
        </p:nvCxnSpPr>
        <p:spPr>
          <a:xfrm>
            <a:off x="1067666" y="6237290"/>
            <a:ext cx="0" cy="523683"/>
          </a:xfrm>
          <a:prstGeom prst="line">
            <a:avLst/>
          </a:prstGeom>
          <a:ln w="12700">
            <a:solidFill>
              <a:schemeClr val="bg2"/>
            </a:solidFill>
          </a:ln>
        </p:spPr>
        <p:style>
          <a:lnRef idx="1">
            <a:schemeClr val="accent3"/>
          </a:lnRef>
          <a:fillRef idx="0">
            <a:schemeClr val="accent3"/>
          </a:fillRef>
          <a:effectRef idx="0">
            <a:schemeClr val="accent3"/>
          </a:effectRef>
          <a:fontRef idx="minor">
            <a:schemeClr val="tx1"/>
          </a:fontRef>
        </p:style>
      </p:cxnSp>
      <p:pic>
        <p:nvPicPr>
          <p:cNvPr id="16" name="Picture 15">
            <a:extLst>
              <a:ext uri="{FF2B5EF4-FFF2-40B4-BE49-F238E27FC236}">
                <a16:creationId xmlns:a16="http://schemas.microsoft.com/office/drawing/2014/main" id="{AD7891FE-2689-9426-8D8B-8E6A9E9C2557}"/>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579178" y="-39866"/>
            <a:ext cx="2384690" cy="548750"/>
          </a:xfrm>
          <a:prstGeom prst="rect">
            <a:avLst/>
          </a:prstGeom>
          <a:ln>
            <a:solidFill>
              <a:schemeClr val="tx1">
                <a:lumMod val="75000"/>
                <a:lumOff val="25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210276098"/>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hf hd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hyperlink" Target="https://www.kaggle.com/datasets/dnkumars/industrial-equipment-monitoring-dataset"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hyperlink" Target="https://github.com/waico/SKAB?tab=readme-ov-file#dataset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26.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FE6BE-0553-5808-F4FA-9BC525E39E98}"/>
              </a:ext>
            </a:extLst>
          </p:cNvPr>
          <p:cNvSpPr>
            <a:spLocks noGrp="1"/>
          </p:cNvSpPr>
          <p:nvPr>
            <p:ph type="ctrTitle"/>
          </p:nvPr>
        </p:nvSpPr>
        <p:spPr>
          <a:xfrm>
            <a:off x="1524000" y="1122363"/>
            <a:ext cx="9144000" cy="2387600"/>
          </a:xfrm>
        </p:spPr>
        <p:txBody>
          <a:bodyPr/>
          <a:lstStyle/>
          <a:p>
            <a:r>
              <a:rPr lang="en-US" dirty="0">
                <a:effectLst>
                  <a:outerShdw blurRad="38100" dist="38100" dir="2700000" algn="tl">
                    <a:srgbClr val="000000">
                      <a:alpha val="43137"/>
                    </a:srgbClr>
                  </a:outerShdw>
                </a:effectLst>
              </a:rPr>
              <a:t>Enhancing Human-Machine Collaboration in Industrial</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Workflows using Generative AI Models</a:t>
            </a:r>
            <a:endParaRPr lang="en-IN" dirty="0">
              <a:effectLst>
                <a:outerShdw blurRad="38100" dist="38100" dir="2700000" algn="tl">
                  <a:srgbClr val="000000">
                    <a:alpha val="43137"/>
                  </a:srgbClr>
                </a:outerShdw>
              </a:effectLst>
            </a:endParaRPr>
          </a:p>
        </p:txBody>
      </p:sp>
      <p:sp>
        <p:nvSpPr>
          <p:cNvPr id="3" name="Subtitle 2">
            <a:extLst>
              <a:ext uri="{FF2B5EF4-FFF2-40B4-BE49-F238E27FC236}">
                <a16:creationId xmlns:a16="http://schemas.microsoft.com/office/drawing/2014/main" id="{59EFABCF-6DCD-CAF5-73CC-1B178BD5EA58}"/>
              </a:ext>
            </a:extLst>
          </p:cNvPr>
          <p:cNvSpPr>
            <a:spLocks noGrp="1"/>
          </p:cNvSpPr>
          <p:nvPr>
            <p:ph type="subTitle" idx="1"/>
          </p:nvPr>
        </p:nvSpPr>
        <p:spPr/>
        <p:txBody>
          <a:bodyPr>
            <a:normAutofit lnSpcReduction="10000"/>
          </a:bodyPr>
          <a:lstStyle/>
          <a:p>
            <a:br>
              <a:rPr lang="en-IN" dirty="0"/>
            </a:br>
            <a:r>
              <a:rPr lang="en-IN" sz="2800" dirty="0"/>
              <a:t>Dissertation</a:t>
            </a:r>
            <a:br>
              <a:rPr lang="en-IN" sz="2800" dirty="0"/>
            </a:br>
            <a:r>
              <a:rPr lang="en-IN" sz="1600" dirty="0"/>
              <a:t>(Abstract Viva)</a:t>
            </a:r>
          </a:p>
          <a:p>
            <a:br>
              <a:rPr lang="en-IN" sz="1600" dirty="0"/>
            </a:br>
            <a:r>
              <a:rPr lang="en-IN" sz="900" dirty="0"/>
              <a:t>in partial fulfilment of the requirements for the degree:</a:t>
            </a:r>
            <a:br>
              <a:rPr lang="en-IN" sz="1600" dirty="0"/>
            </a:br>
            <a:r>
              <a:rPr lang="en-IN" sz="1200" b="1" dirty="0"/>
              <a:t>M.Tech. in Artificial Intelligence &amp; Machine Learning</a:t>
            </a:r>
            <a:endParaRPr lang="en-IN" b="1" dirty="0"/>
          </a:p>
        </p:txBody>
      </p:sp>
      <p:sp>
        <p:nvSpPr>
          <p:cNvPr id="4" name="Footer Placeholder 3">
            <a:extLst>
              <a:ext uri="{FF2B5EF4-FFF2-40B4-BE49-F238E27FC236}">
                <a16:creationId xmlns:a16="http://schemas.microsoft.com/office/drawing/2014/main" id="{C9B8DB1F-2C01-30E5-101A-2DBB2E33EED5}"/>
              </a:ext>
            </a:extLst>
          </p:cNvPr>
          <p:cNvSpPr>
            <a:spLocks noGrp="1"/>
          </p:cNvSpPr>
          <p:nvPr>
            <p:ph type="ftr" sz="quarter" idx="11"/>
          </p:nvPr>
        </p:nvSpPr>
        <p:spPr/>
        <p:txBody>
          <a:bodyPr/>
          <a:lstStyle/>
          <a:p>
            <a:r>
              <a:rPr lang="en-IN"/>
              <a:t>Dissertation S2-24 AIMLCZG628T</a:t>
            </a:r>
            <a:endParaRPr lang="en-IN" dirty="0"/>
          </a:p>
        </p:txBody>
      </p:sp>
      <p:sp>
        <p:nvSpPr>
          <p:cNvPr id="5" name="Slide Number Placeholder 4">
            <a:extLst>
              <a:ext uri="{FF2B5EF4-FFF2-40B4-BE49-F238E27FC236}">
                <a16:creationId xmlns:a16="http://schemas.microsoft.com/office/drawing/2014/main" id="{A4616A05-940E-38DE-9DDE-91604ECC3517}"/>
              </a:ext>
            </a:extLst>
          </p:cNvPr>
          <p:cNvSpPr>
            <a:spLocks noGrp="1"/>
          </p:cNvSpPr>
          <p:nvPr>
            <p:ph type="sldNum" sz="quarter" idx="12"/>
          </p:nvPr>
        </p:nvSpPr>
        <p:spPr/>
        <p:txBody>
          <a:bodyPr/>
          <a:lstStyle/>
          <a:p>
            <a:fld id="{E90DB949-9EF9-42A5-8674-17CECDA96830}" type="slidenum">
              <a:rPr lang="en-IN" smtClean="0"/>
              <a:t>1</a:t>
            </a:fld>
            <a:endParaRPr lang="en-IN" dirty="0"/>
          </a:p>
        </p:txBody>
      </p:sp>
    </p:spTree>
    <p:extLst>
      <p:ext uri="{BB962C8B-B14F-4D97-AF65-F5344CB8AC3E}">
        <p14:creationId xmlns:p14="http://schemas.microsoft.com/office/powerpoint/2010/main" val="3396697760"/>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63A68-C901-7159-7F31-C164220C83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103D78-407C-E517-7C72-F4EA0F99F978}"/>
              </a:ext>
            </a:extLst>
          </p:cNvPr>
          <p:cNvSpPr>
            <a:spLocks noGrp="1"/>
          </p:cNvSpPr>
          <p:nvPr>
            <p:ph type="title"/>
          </p:nvPr>
        </p:nvSpPr>
        <p:spPr>
          <a:xfrm>
            <a:off x="2524664" y="457200"/>
            <a:ext cx="3932237" cy="1600200"/>
          </a:xfrm>
        </p:spPr>
        <p:txBody>
          <a:bodyPr anchor="ctr"/>
          <a:lstStyle/>
          <a:p>
            <a:r>
              <a:rPr lang="en-IN" dirty="0">
                <a:effectLst>
                  <a:outerShdw blurRad="38100" dist="38100" dir="2700000" algn="tl">
                    <a:srgbClr val="000000">
                      <a:alpha val="43137"/>
                    </a:srgbClr>
                  </a:outerShdw>
                </a:effectLst>
              </a:rPr>
              <a:t>Rounaq Choudhuri</a:t>
            </a:r>
          </a:p>
        </p:txBody>
      </p:sp>
      <p:sp>
        <p:nvSpPr>
          <p:cNvPr id="4" name="Text Placeholder 3">
            <a:extLst>
              <a:ext uri="{FF2B5EF4-FFF2-40B4-BE49-F238E27FC236}">
                <a16:creationId xmlns:a16="http://schemas.microsoft.com/office/drawing/2014/main" id="{BF95C88F-B54C-6987-D45D-FAB238DD386B}"/>
              </a:ext>
            </a:extLst>
          </p:cNvPr>
          <p:cNvSpPr>
            <a:spLocks noGrp="1"/>
          </p:cNvSpPr>
          <p:nvPr>
            <p:ph type="body" sz="half" idx="2"/>
          </p:nvPr>
        </p:nvSpPr>
        <p:spPr>
          <a:xfrm>
            <a:off x="2524664" y="2057400"/>
            <a:ext cx="3932237" cy="3811588"/>
          </a:xfrm>
        </p:spPr>
        <p:txBody>
          <a:bodyPr>
            <a:normAutofit/>
          </a:bodyPr>
          <a:lstStyle/>
          <a:p>
            <a:r>
              <a:rPr lang="en-US" sz="1400" dirty="0"/>
              <a:t>I am driven by a passion for converting data into practical business intelligence. </a:t>
            </a:r>
          </a:p>
          <a:p>
            <a:r>
              <a:rPr lang="en-US" sz="1400" dirty="0"/>
              <a:t>My expertise includes a robust background in computer vision, where I have conceptualized and built video-based analytical solutions. </a:t>
            </a:r>
          </a:p>
          <a:p>
            <a:r>
              <a:rPr lang="en-US" sz="1400" dirty="0"/>
              <a:t>Currently, at LTIMindtree, I am focused on creating real-time intelligent surveillance systems for applications such as Environmental, Health, and Safety (EHS) and quality inspection. </a:t>
            </a:r>
          </a:p>
          <a:p>
            <a:r>
              <a:rPr lang="en-US" sz="1400" dirty="0"/>
              <a:t>My enthusiasm lies in crafting cutting-edge data solutions and utilizing the power of AI/ML and Generative AI to tackle intricate business problems.</a:t>
            </a:r>
            <a:endParaRPr lang="en-IN" sz="1400" dirty="0"/>
          </a:p>
        </p:txBody>
      </p:sp>
      <p:sp>
        <p:nvSpPr>
          <p:cNvPr id="6" name="Footer Placeholder 5">
            <a:extLst>
              <a:ext uri="{FF2B5EF4-FFF2-40B4-BE49-F238E27FC236}">
                <a16:creationId xmlns:a16="http://schemas.microsoft.com/office/drawing/2014/main" id="{34E7FB3F-6FDC-95E8-63A0-ABF0CC9F6D44}"/>
              </a:ext>
            </a:extLst>
          </p:cNvPr>
          <p:cNvSpPr>
            <a:spLocks noGrp="1"/>
          </p:cNvSpPr>
          <p:nvPr>
            <p:ph type="ftr" sz="quarter" idx="11"/>
          </p:nvPr>
        </p:nvSpPr>
        <p:spPr/>
        <p:txBody>
          <a:bodyPr/>
          <a:lstStyle/>
          <a:p>
            <a:r>
              <a:rPr lang="en-IN"/>
              <a:t>Dissertation S2-24 AIMLCZG628T</a:t>
            </a:r>
          </a:p>
        </p:txBody>
      </p:sp>
      <p:sp>
        <p:nvSpPr>
          <p:cNvPr id="7" name="Slide Number Placeholder 6">
            <a:extLst>
              <a:ext uri="{FF2B5EF4-FFF2-40B4-BE49-F238E27FC236}">
                <a16:creationId xmlns:a16="http://schemas.microsoft.com/office/drawing/2014/main" id="{F0A2637B-237B-BE2B-C0AA-66161E849D83}"/>
              </a:ext>
            </a:extLst>
          </p:cNvPr>
          <p:cNvSpPr>
            <a:spLocks noGrp="1"/>
          </p:cNvSpPr>
          <p:nvPr>
            <p:ph type="sldNum" sz="quarter" idx="12"/>
          </p:nvPr>
        </p:nvSpPr>
        <p:spPr/>
        <p:txBody>
          <a:bodyPr/>
          <a:lstStyle/>
          <a:p>
            <a:fld id="{0541023B-0DCA-4467-9EB4-7DB5EBA0C709}" type="slidenum">
              <a:rPr lang="en-IN" smtClean="0"/>
              <a:t>2</a:t>
            </a:fld>
            <a:endParaRPr lang="en-IN"/>
          </a:p>
        </p:txBody>
      </p:sp>
      <p:pic>
        <p:nvPicPr>
          <p:cNvPr id="8" name="Picture 7">
            <a:extLst>
              <a:ext uri="{FF2B5EF4-FFF2-40B4-BE49-F238E27FC236}">
                <a16:creationId xmlns:a16="http://schemas.microsoft.com/office/drawing/2014/main" id="{7A431D73-ABB0-4942-5E00-87B85C1B55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98909" y="2012632"/>
            <a:ext cx="2023382" cy="2832735"/>
          </a:xfrm>
          <a:prstGeom prst="ellipse">
            <a:avLst/>
          </a:prstGeom>
          <a:ln w="19050" cap="rnd">
            <a:solidFill>
              <a:schemeClr val="tx1">
                <a:lumMod val="85000"/>
                <a:lumOff val="15000"/>
              </a:schemeClr>
            </a:solidFill>
          </a:ln>
          <a:effectLst>
            <a:outerShdw blurRad="63500" sx="102000" sy="102000" algn="ctr" rotWithShape="0">
              <a:prstClr val="black">
                <a:alpha val="40000"/>
              </a:prst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05033058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FAE03-69DA-3B31-BD06-B1EA9802C7C4}"/>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Dissertation Overview </a:t>
            </a:r>
          </a:p>
        </p:txBody>
      </p:sp>
      <p:sp>
        <p:nvSpPr>
          <p:cNvPr id="4" name="Footer Placeholder 3">
            <a:extLst>
              <a:ext uri="{FF2B5EF4-FFF2-40B4-BE49-F238E27FC236}">
                <a16:creationId xmlns:a16="http://schemas.microsoft.com/office/drawing/2014/main" id="{2B93DFAC-E085-A3B5-BDB7-7A5740A2A0B6}"/>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2ECAC160-D9D1-8FC9-B4E9-30AB6D50F1DB}"/>
              </a:ext>
            </a:extLst>
          </p:cNvPr>
          <p:cNvSpPr>
            <a:spLocks noGrp="1"/>
          </p:cNvSpPr>
          <p:nvPr>
            <p:ph type="sldNum" sz="quarter" idx="12"/>
          </p:nvPr>
        </p:nvSpPr>
        <p:spPr/>
        <p:txBody>
          <a:bodyPr/>
          <a:lstStyle/>
          <a:p>
            <a:fld id="{0541023B-0DCA-4467-9EB4-7DB5EBA0C709}" type="slidenum">
              <a:rPr lang="en-IN" smtClean="0"/>
              <a:t>3</a:t>
            </a:fld>
            <a:endParaRPr lang="en-IN"/>
          </a:p>
        </p:txBody>
      </p:sp>
    </p:spTree>
    <p:extLst>
      <p:ext uri="{BB962C8B-B14F-4D97-AF65-F5344CB8AC3E}">
        <p14:creationId xmlns:p14="http://schemas.microsoft.com/office/powerpoint/2010/main" val="2082044527"/>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199BD-1BB0-29B6-AD2B-FE3785CC530B}"/>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Overview</a:t>
            </a:r>
          </a:p>
        </p:txBody>
      </p:sp>
      <p:sp>
        <p:nvSpPr>
          <p:cNvPr id="3" name="Content Placeholder 2">
            <a:extLst>
              <a:ext uri="{FF2B5EF4-FFF2-40B4-BE49-F238E27FC236}">
                <a16:creationId xmlns:a16="http://schemas.microsoft.com/office/drawing/2014/main" id="{53F871EA-953B-E75B-BE40-26BA60860802}"/>
              </a:ext>
            </a:extLst>
          </p:cNvPr>
          <p:cNvSpPr>
            <a:spLocks noGrp="1"/>
          </p:cNvSpPr>
          <p:nvPr>
            <p:ph idx="1"/>
          </p:nvPr>
        </p:nvSpPr>
        <p:spPr/>
        <p:txBody>
          <a:bodyPr>
            <a:normAutofit/>
          </a:bodyPr>
          <a:lstStyle/>
          <a:p>
            <a:pPr>
              <a:buFont typeface="Wingdings" panose="05000000000000000000" pitchFamily="2" charset="2"/>
              <a:buChar char="Ø"/>
            </a:pPr>
            <a:r>
              <a:rPr lang="en-US" sz="1800" dirty="0"/>
              <a:t>This dissertation addresses the critical industrial challenge of limited anomaly and failure data, which hinders robust AI system operation and comprehensive human operator preparedness. </a:t>
            </a:r>
          </a:p>
          <a:p>
            <a:pPr>
              <a:buFont typeface="Wingdings" panose="05000000000000000000" pitchFamily="2" charset="2"/>
              <a:buChar char="Ø"/>
            </a:pPr>
            <a:r>
              <a:rPr lang="en-US" sz="1800" dirty="0"/>
              <a:t>The work proposes to leverage non-Transformer based Generative AI models, specifically Variational Autoencoders (VAEs) for robust anomaly detection from normal data, and Generative Adversarial Networks (GANs) for synthesizing diverse, realistic industrial data. </a:t>
            </a:r>
          </a:p>
          <a:p>
            <a:pPr>
              <a:buFont typeface="Wingdings" panose="05000000000000000000" pitchFamily="2" charset="2"/>
              <a:buChar char="Ø"/>
            </a:pPr>
            <a:r>
              <a:rPr lang="en-US" sz="1800" dirty="0"/>
              <a:t>The ultimate goal is to overcome data scarcity, enable more reliable AI systems, enhance human situational awareness and decision-making, and thus significantly improve human-machine collaboration for industrial efficiency and safety.</a:t>
            </a:r>
            <a:endParaRPr lang="en-IN" sz="1800" dirty="0"/>
          </a:p>
          <a:p>
            <a:endParaRPr lang="en-IN" sz="1800" dirty="0"/>
          </a:p>
        </p:txBody>
      </p:sp>
      <p:sp>
        <p:nvSpPr>
          <p:cNvPr id="4" name="Footer Placeholder 3">
            <a:extLst>
              <a:ext uri="{FF2B5EF4-FFF2-40B4-BE49-F238E27FC236}">
                <a16:creationId xmlns:a16="http://schemas.microsoft.com/office/drawing/2014/main" id="{B0DB5803-9EDB-DDAF-E4AC-E09AE8FC21D9}"/>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667564FE-4DC3-A447-4A44-E5EC7A31AF84}"/>
              </a:ext>
            </a:extLst>
          </p:cNvPr>
          <p:cNvSpPr>
            <a:spLocks noGrp="1"/>
          </p:cNvSpPr>
          <p:nvPr>
            <p:ph type="sldNum" sz="quarter" idx="12"/>
          </p:nvPr>
        </p:nvSpPr>
        <p:spPr/>
        <p:txBody>
          <a:bodyPr/>
          <a:lstStyle/>
          <a:p>
            <a:fld id="{0541023B-0DCA-4467-9EB4-7DB5EBA0C709}" type="slidenum">
              <a:rPr lang="en-IN" smtClean="0"/>
              <a:t>4</a:t>
            </a:fld>
            <a:endParaRPr lang="en-IN"/>
          </a:p>
        </p:txBody>
      </p:sp>
    </p:spTree>
    <p:extLst>
      <p:ext uri="{BB962C8B-B14F-4D97-AF65-F5344CB8AC3E}">
        <p14:creationId xmlns:p14="http://schemas.microsoft.com/office/powerpoint/2010/main" val="403089789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BEE8B-783A-239E-A7CE-B5F6E49AA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E33891-2C42-E3F2-A13C-73FC7DA01838}"/>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Motivation &amp; Benefits</a:t>
            </a:r>
          </a:p>
        </p:txBody>
      </p:sp>
      <p:sp>
        <p:nvSpPr>
          <p:cNvPr id="3" name="Content Placeholder 2">
            <a:extLst>
              <a:ext uri="{FF2B5EF4-FFF2-40B4-BE49-F238E27FC236}">
                <a16:creationId xmlns:a16="http://schemas.microsoft.com/office/drawing/2014/main" id="{214486CD-FAF6-332F-CFFB-5F6033EA61E8}"/>
              </a:ext>
            </a:extLst>
          </p:cNvPr>
          <p:cNvSpPr>
            <a:spLocks noGrp="1"/>
          </p:cNvSpPr>
          <p:nvPr>
            <p:ph idx="1"/>
          </p:nvPr>
        </p:nvSpPr>
        <p:spPr>
          <a:xfrm>
            <a:off x="838200" y="1835899"/>
            <a:ext cx="10515600" cy="4187248"/>
          </a:xfrm>
        </p:spPr>
        <p:txBody>
          <a:bodyPr>
            <a:normAutofit lnSpcReduction="10000"/>
          </a:bodyPr>
          <a:lstStyle/>
          <a:p>
            <a:pPr>
              <a:buFont typeface="Wingdings" panose="05000000000000000000" pitchFamily="2" charset="2"/>
              <a:buChar char="v"/>
            </a:pPr>
            <a:r>
              <a:rPr lang="en-IN" sz="1800" b="1" dirty="0"/>
              <a:t>What is the motivation?</a:t>
            </a:r>
            <a:endParaRPr lang="en-IN" sz="1400" b="1" dirty="0"/>
          </a:p>
          <a:p>
            <a:pPr lvl="1">
              <a:buFont typeface="Wingdings" panose="05000000000000000000" pitchFamily="2" charset="2"/>
              <a:buChar char="ü"/>
            </a:pPr>
            <a:r>
              <a:rPr lang="en-IN" sz="1400" dirty="0"/>
              <a:t>Industrial workflows are often very complex pertaining to the wide variety of intrinsic and extraneous factors.</a:t>
            </a:r>
          </a:p>
          <a:p>
            <a:pPr lvl="1">
              <a:buFont typeface="Wingdings" panose="05000000000000000000" pitchFamily="2" charset="2"/>
              <a:buChar char="ü"/>
            </a:pPr>
            <a:r>
              <a:rPr lang="en-IN" sz="1400" dirty="0"/>
              <a:t>Very difficult to model these complex distributions, therefore, AI systems often fail to provide robust solutions.</a:t>
            </a:r>
          </a:p>
          <a:p>
            <a:pPr marL="457200" lvl="1" indent="0">
              <a:buNone/>
            </a:pPr>
            <a:endParaRPr lang="en-IN" sz="1400" dirty="0"/>
          </a:p>
          <a:p>
            <a:pPr>
              <a:buFont typeface="Wingdings" panose="05000000000000000000" pitchFamily="2" charset="2"/>
              <a:buChar char="v"/>
            </a:pPr>
            <a:r>
              <a:rPr lang="en-IN" sz="1800" b="1" dirty="0"/>
              <a:t>What is the benefit of this work?</a:t>
            </a:r>
          </a:p>
          <a:p>
            <a:pPr lvl="1">
              <a:buFont typeface="Wingdings" panose="05000000000000000000" pitchFamily="2" charset="2"/>
              <a:buChar char="ü"/>
            </a:pPr>
            <a:r>
              <a:rPr lang="en-IN" sz="1400" dirty="0"/>
              <a:t>A comprehensive and comparative study in AI systems for industrial workflow.</a:t>
            </a:r>
          </a:p>
          <a:p>
            <a:pPr lvl="1">
              <a:buFont typeface="Wingdings" panose="05000000000000000000" pitchFamily="2" charset="2"/>
              <a:buChar char="ü"/>
            </a:pPr>
            <a:r>
              <a:rPr lang="en-IN" sz="1400" dirty="0"/>
              <a:t>It will create a premise for addressing the issues in modelling these complex data.</a:t>
            </a:r>
          </a:p>
          <a:p>
            <a:pPr marL="457200" lvl="1" indent="0">
              <a:buNone/>
            </a:pPr>
            <a:endParaRPr lang="en-IN" sz="1400" dirty="0"/>
          </a:p>
          <a:p>
            <a:pPr>
              <a:buFont typeface="Wingdings" panose="05000000000000000000" pitchFamily="2" charset="2"/>
              <a:buChar char="v"/>
            </a:pPr>
            <a:r>
              <a:rPr lang="en-IN" sz="1800" b="1" dirty="0"/>
              <a:t>What are the expected outcome?</a:t>
            </a:r>
          </a:p>
          <a:p>
            <a:pPr lvl="1">
              <a:buFont typeface="Wingdings" panose="05000000000000000000" pitchFamily="2" charset="2"/>
              <a:buChar char="ü"/>
            </a:pPr>
            <a:r>
              <a:rPr lang="en-IN" sz="1400" dirty="0"/>
              <a:t>Robust AI systems which can correctly assess unforeseen circumstances.</a:t>
            </a:r>
          </a:p>
          <a:p>
            <a:pPr lvl="1">
              <a:buFont typeface="Wingdings" panose="05000000000000000000" pitchFamily="2" charset="2"/>
              <a:buChar char="ü"/>
            </a:pPr>
            <a:r>
              <a:rPr lang="en-IN" sz="1400" dirty="0"/>
              <a:t>Harnessing the power of SOTA Generative AI Models to create realistic and diverse synthetic industrial data.</a:t>
            </a:r>
          </a:p>
          <a:p>
            <a:pPr marL="457200" lvl="1" indent="0">
              <a:buNone/>
            </a:pPr>
            <a:endParaRPr lang="en-IN" sz="1400" dirty="0"/>
          </a:p>
          <a:p>
            <a:pPr>
              <a:buFont typeface="Wingdings" panose="05000000000000000000" pitchFamily="2" charset="2"/>
              <a:buChar char="v"/>
            </a:pPr>
            <a:r>
              <a:rPr lang="en-IN" sz="1800" b="1" dirty="0"/>
              <a:t>How it can eventually enhance human-machine collaboration?</a:t>
            </a:r>
            <a:endParaRPr lang="en-IN" sz="1400" b="1" dirty="0"/>
          </a:p>
          <a:p>
            <a:pPr lvl="1">
              <a:buFont typeface="Wingdings" panose="05000000000000000000" pitchFamily="2" charset="2"/>
              <a:buChar char="ü"/>
            </a:pPr>
            <a:r>
              <a:rPr lang="en-IN" sz="1400" dirty="0"/>
              <a:t>Meeting increasing demands to have closed loop systems in the era of Industry 4.0.</a:t>
            </a:r>
          </a:p>
          <a:p>
            <a:pPr lvl="1">
              <a:buFont typeface="Wingdings" panose="05000000000000000000" pitchFamily="2" charset="2"/>
              <a:buChar char="ü"/>
            </a:pPr>
            <a:r>
              <a:rPr lang="en-IN" sz="1400" dirty="0"/>
              <a:t>Foster trust among industrial machinery operators, business personnels and AI systems.</a:t>
            </a:r>
          </a:p>
          <a:p>
            <a:endParaRPr lang="en-IN" sz="1800" dirty="0"/>
          </a:p>
        </p:txBody>
      </p:sp>
      <p:sp>
        <p:nvSpPr>
          <p:cNvPr id="4" name="Footer Placeholder 3">
            <a:extLst>
              <a:ext uri="{FF2B5EF4-FFF2-40B4-BE49-F238E27FC236}">
                <a16:creationId xmlns:a16="http://schemas.microsoft.com/office/drawing/2014/main" id="{EB338188-FBFE-466C-9C4F-A84CDCDE29F1}"/>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2E58ABBA-A0B1-08BF-69EF-3DD36A6EFC2E}"/>
              </a:ext>
            </a:extLst>
          </p:cNvPr>
          <p:cNvSpPr>
            <a:spLocks noGrp="1"/>
          </p:cNvSpPr>
          <p:nvPr>
            <p:ph type="sldNum" sz="quarter" idx="12"/>
          </p:nvPr>
        </p:nvSpPr>
        <p:spPr/>
        <p:txBody>
          <a:bodyPr/>
          <a:lstStyle/>
          <a:p>
            <a:fld id="{0541023B-0DCA-4467-9EB4-7DB5EBA0C709}" type="slidenum">
              <a:rPr lang="en-IN" smtClean="0"/>
              <a:t>5</a:t>
            </a:fld>
            <a:endParaRPr lang="en-IN"/>
          </a:p>
        </p:txBody>
      </p:sp>
    </p:spTree>
    <p:extLst>
      <p:ext uri="{BB962C8B-B14F-4D97-AF65-F5344CB8AC3E}">
        <p14:creationId xmlns:p14="http://schemas.microsoft.com/office/powerpoint/2010/main" val="23929762"/>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5AA1B-7781-B524-ABF4-CFE7CB651C15}"/>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Scope of Work</a:t>
            </a:r>
          </a:p>
        </p:txBody>
      </p:sp>
      <p:sp>
        <p:nvSpPr>
          <p:cNvPr id="3" name="Text Placeholder 2">
            <a:extLst>
              <a:ext uri="{FF2B5EF4-FFF2-40B4-BE49-F238E27FC236}">
                <a16:creationId xmlns:a16="http://schemas.microsoft.com/office/drawing/2014/main" id="{0C64C123-1319-B8AA-09ED-200DCD49A3C9}"/>
              </a:ext>
            </a:extLst>
          </p:cNvPr>
          <p:cNvSpPr>
            <a:spLocks noGrp="1"/>
          </p:cNvSpPr>
          <p:nvPr>
            <p:ph type="body" idx="1"/>
          </p:nvPr>
        </p:nvSpPr>
        <p:spPr/>
        <p:txBody>
          <a:bodyPr/>
          <a:lstStyle/>
          <a:p>
            <a:r>
              <a:rPr lang="en-IN" dirty="0"/>
              <a:t>In-Scope</a:t>
            </a:r>
          </a:p>
        </p:txBody>
      </p:sp>
      <p:sp>
        <p:nvSpPr>
          <p:cNvPr id="4" name="Content Placeholder 3">
            <a:extLst>
              <a:ext uri="{FF2B5EF4-FFF2-40B4-BE49-F238E27FC236}">
                <a16:creationId xmlns:a16="http://schemas.microsoft.com/office/drawing/2014/main" id="{769FCCBB-A59A-0306-B960-88F08180EC1D}"/>
              </a:ext>
            </a:extLst>
          </p:cNvPr>
          <p:cNvSpPr>
            <a:spLocks noGrp="1"/>
          </p:cNvSpPr>
          <p:nvPr>
            <p:ph sz="half" idx="2"/>
          </p:nvPr>
        </p:nvSpPr>
        <p:spPr/>
        <p:txBody>
          <a:bodyPr anchor="t">
            <a:normAutofit/>
          </a:bodyPr>
          <a:lstStyle/>
          <a:p>
            <a:r>
              <a:rPr lang="en-IN" sz="1800" b="1" dirty="0"/>
              <a:t>Generative Models: </a:t>
            </a:r>
            <a:r>
              <a:rPr lang="en-IN" sz="1600" dirty="0"/>
              <a:t>Implementation and experimentation with VAEs and GANs on industrial datasets.</a:t>
            </a:r>
            <a:endParaRPr lang="en-IN" sz="1800" dirty="0"/>
          </a:p>
          <a:p>
            <a:r>
              <a:rPr lang="en-IN" sz="1800" b="1" dirty="0"/>
              <a:t>Anomaly Detection:</a:t>
            </a:r>
            <a:r>
              <a:rPr lang="en-IN" sz="1800" dirty="0"/>
              <a:t> </a:t>
            </a:r>
            <a:r>
              <a:rPr lang="en-IN" sz="1600" dirty="0"/>
              <a:t>Implementation of anomaly detection models and their evaluation.</a:t>
            </a:r>
            <a:endParaRPr lang="en-IN" sz="1800" dirty="0"/>
          </a:p>
          <a:p>
            <a:r>
              <a:rPr lang="en-IN" sz="1800" b="1" dirty="0"/>
              <a:t>Data Generation:</a:t>
            </a:r>
            <a:r>
              <a:rPr lang="en-IN" sz="1800" dirty="0"/>
              <a:t> </a:t>
            </a:r>
            <a:r>
              <a:rPr lang="en-IN" sz="1600" dirty="0"/>
              <a:t>Use generative AI models to generate synthetic faulty data and its evaluation.</a:t>
            </a:r>
            <a:endParaRPr lang="en-IN" sz="1800" dirty="0"/>
          </a:p>
          <a:p>
            <a:r>
              <a:rPr lang="en-IN" sz="1800" b="1" dirty="0"/>
              <a:t>Model Generalization:</a:t>
            </a:r>
            <a:r>
              <a:rPr lang="en-IN" sz="1800" dirty="0"/>
              <a:t> </a:t>
            </a:r>
            <a:r>
              <a:rPr lang="en-IN" sz="1600" dirty="0"/>
              <a:t>Anomaly detection model generalization using synthetically generated data.</a:t>
            </a:r>
            <a:endParaRPr lang="en-IN" sz="1800" dirty="0"/>
          </a:p>
        </p:txBody>
      </p:sp>
      <p:sp>
        <p:nvSpPr>
          <p:cNvPr id="5" name="Text Placeholder 4">
            <a:extLst>
              <a:ext uri="{FF2B5EF4-FFF2-40B4-BE49-F238E27FC236}">
                <a16:creationId xmlns:a16="http://schemas.microsoft.com/office/drawing/2014/main" id="{D5DD39DE-D6FB-4A5D-4897-B2BDDB079967}"/>
              </a:ext>
            </a:extLst>
          </p:cNvPr>
          <p:cNvSpPr>
            <a:spLocks noGrp="1"/>
          </p:cNvSpPr>
          <p:nvPr>
            <p:ph type="body" sz="quarter" idx="3"/>
          </p:nvPr>
        </p:nvSpPr>
        <p:spPr/>
        <p:txBody>
          <a:bodyPr/>
          <a:lstStyle/>
          <a:p>
            <a:r>
              <a:rPr lang="en-IN" dirty="0"/>
              <a:t>Out-of-Scope*</a:t>
            </a:r>
          </a:p>
        </p:txBody>
      </p:sp>
      <p:sp>
        <p:nvSpPr>
          <p:cNvPr id="6" name="Content Placeholder 5">
            <a:extLst>
              <a:ext uri="{FF2B5EF4-FFF2-40B4-BE49-F238E27FC236}">
                <a16:creationId xmlns:a16="http://schemas.microsoft.com/office/drawing/2014/main" id="{E9E154A9-467B-D59D-0DEE-E3C286C86826}"/>
              </a:ext>
            </a:extLst>
          </p:cNvPr>
          <p:cNvSpPr>
            <a:spLocks noGrp="1"/>
          </p:cNvSpPr>
          <p:nvPr>
            <p:ph sz="quarter" idx="4"/>
          </p:nvPr>
        </p:nvSpPr>
        <p:spPr/>
        <p:txBody>
          <a:bodyPr>
            <a:normAutofit/>
          </a:bodyPr>
          <a:lstStyle/>
          <a:p>
            <a:r>
              <a:rPr lang="en-IN" sz="1800" b="1" dirty="0"/>
              <a:t>Transformer based Models:</a:t>
            </a:r>
            <a:r>
              <a:rPr lang="en-IN" sz="1800" dirty="0"/>
              <a:t> </a:t>
            </a:r>
            <a:r>
              <a:rPr lang="en-IN" sz="1600" dirty="0"/>
              <a:t>Implementation and application of Transformer based architectures for human-machine interaction or synthetic data generation.</a:t>
            </a:r>
            <a:endParaRPr lang="en-IN" sz="1800" dirty="0"/>
          </a:p>
          <a:p>
            <a:r>
              <a:rPr lang="en-IN" sz="1800" b="1" dirty="0"/>
              <a:t>Advance HMIs:</a:t>
            </a:r>
            <a:r>
              <a:rPr lang="en-IN" sz="1800" dirty="0"/>
              <a:t> </a:t>
            </a:r>
            <a:r>
              <a:rPr lang="en-IN" sz="1600" dirty="0"/>
              <a:t>Designing and constructing full-scale, highly interactive Human-Machine Interfaces or complete control systems based on model outputs.</a:t>
            </a:r>
            <a:endParaRPr lang="en-IN" sz="1800" dirty="0"/>
          </a:p>
          <a:p>
            <a:endParaRPr lang="en-IN" sz="1800" dirty="0"/>
          </a:p>
        </p:txBody>
      </p:sp>
      <p:sp>
        <p:nvSpPr>
          <p:cNvPr id="7" name="Footer Placeholder 6">
            <a:extLst>
              <a:ext uri="{FF2B5EF4-FFF2-40B4-BE49-F238E27FC236}">
                <a16:creationId xmlns:a16="http://schemas.microsoft.com/office/drawing/2014/main" id="{B41F7F31-9202-FFFE-A445-5D25EB8602D3}"/>
              </a:ext>
            </a:extLst>
          </p:cNvPr>
          <p:cNvSpPr>
            <a:spLocks noGrp="1"/>
          </p:cNvSpPr>
          <p:nvPr>
            <p:ph type="ftr" sz="quarter" idx="11"/>
          </p:nvPr>
        </p:nvSpPr>
        <p:spPr/>
        <p:txBody>
          <a:bodyPr/>
          <a:lstStyle/>
          <a:p>
            <a:r>
              <a:rPr lang="en-IN"/>
              <a:t>Dissertation S2-24 AIMLCZG628T</a:t>
            </a:r>
          </a:p>
        </p:txBody>
      </p:sp>
      <p:sp>
        <p:nvSpPr>
          <p:cNvPr id="8" name="Slide Number Placeholder 7">
            <a:extLst>
              <a:ext uri="{FF2B5EF4-FFF2-40B4-BE49-F238E27FC236}">
                <a16:creationId xmlns:a16="http://schemas.microsoft.com/office/drawing/2014/main" id="{83E95F29-16C1-161A-D773-4543756B55FA}"/>
              </a:ext>
            </a:extLst>
          </p:cNvPr>
          <p:cNvSpPr>
            <a:spLocks noGrp="1"/>
          </p:cNvSpPr>
          <p:nvPr>
            <p:ph type="sldNum" sz="quarter" idx="12"/>
          </p:nvPr>
        </p:nvSpPr>
        <p:spPr/>
        <p:txBody>
          <a:bodyPr/>
          <a:lstStyle/>
          <a:p>
            <a:fld id="{0541023B-0DCA-4467-9EB4-7DB5EBA0C709}" type="slidenum">
              <a:rPr lang="en-IN" smtClean="0"/>
              <a:t>6</a:t>
            </a:fld>
            <a:endParaRPr lang="en-IN"/>
          </a:p>
        </p:txBody>
      </p:sp>
      <p:sp>
        <p:nvSpPr>
          <p:cNvPr id="9" name="TextBox 8">
            <a:extLst>
              <a:ext uri="{FF2B5EF4-FFF2-40B4-BE49-F238E27FC236}">
                <a16:creationId xmlns:a16="http://schemas.microsoft.com/office/drawing/2014/main" id="{1637C614-17E7-EB06-41E8-6AAE26D8D282}"/>
              </a:ext>
            </a:extLst>
          </p:cNvPr>
          <p:cNvSpPr txBox="1"/>
          <p:nvPr/>
        </p:nvSpPr>
        <p:spPr>
          <a:xfrm>
            <a:off x="7777691" y="5719009"/>
            <a:ext cx="3574521" cy="369332"/>
          </a:xfrm>
          <a:prstGeom prst="rect">
            <a:avLst/>
          </a:prstGeom>
          <a:noFill/>
        </p:spPr>
        <p:txBody>
          <a:bodyPr wrap="square" rtlCol="0">
            <a:spAutoFit/>
          </a:bodyPr>
          <a:lstStyle/>
          <a:p>
            <a:pPr algn="r"/>
            <a:r>
              <a:rPr lang="en-IN" sz="900" dirty="0"/>
              <a:t>*The out-of-scope of this dissertation is subject to change depending on the project timeline and new discoveries.</a:t>
            </a:r>
          </a:p>
        </p:txBody>
      </p:sp>
    </p:spTree>
    <p:extLst>
      <p:ext uri="{BB962C8B-B14F-4D97-AF65-F5344CB8AC3E}">
        <p14:creationId xmlns:p14="http://schemas.microsoft.com/office/powerpoint/2010/main" val="1089512087"/>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054BA-C310-9ACF-D047-5BFC62D92433}"/>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Datasets</a:t>
            </a:r>
          </a:p>
        </p:txBody>
      </p:sp>
      <p:sp>
        <p:nvSpPr>
          <p:cNvPr id="3" name="Content Placeholder 2">
            <a:extLst>
              <a:ext uri="{FF2B5EF4-FFF2-40B4-BE49-F238E27FC236}">
                <a16:creationId xmlns:a16="http://schemas.microsoft.com/office/drawing/2014/main" id="{19ADD5D6-3FD0-4059-6B8F-DD11FAB0572D}"/>
              </a:ext>
            </a:extLst>
          </p:cNvPr>
          <p:cNvSpPr>
            <a:spLocks noGrp="1"/>
          </p:cNvSpPr>
          <p:nvPr>
            <p:ph idx="1"/>
          </p:nvPr>
        </p:nvSpPr>
        <p:spPr/>
        <p:txBody>
          <a:bodyPr>
            <a:normAutofit/>
          </a:bodyPr>
          <a:lstStyle/>
          <a:p>
            <a:r>
              <a:rPr lang="en-US" sz="2000" b="1" dirty="0"/>
              <a:t>Industrial Equipment Monitoring Dataset (Kaggle)</a:t>
            </a:r>
            <a:r>
              <a:rPr lang="en-US" sz="2000" dirty="0"/>
              <a:t> </a:t>
            </a:r>
            <a:r>
              <a:rPr lang="en-US" sz="2000" i="1" dirty="0"/>
              <a:t>This dataset provides simulated real-time monitoring data for various industrial equipment, including turbines, compressors, and pumps. It captures key parameters like temperature, pressure, vibration, and humidity, along with a binary indicator for 'faulty' equipment, making it suitable for anomaly detection tasks where faulty instances are typically a minority class.</a:t>
            </a:r>
            <a:r>
              <a:rPr lang="en-US" sz="2000" dirty="0"/>
              <a:t> </a:t>
            </a:r>
          </a:p>
          <a:p>
            <a:pPr marL="457200" lvl="1" indent="0">
              <a:buNone/>
            </a:pPr>
            <a:r>
              <a:rPr lang="en-US" sz="1600" dirty="0">
                <a:hlinkClick r:id="rId3"/>
              </a:rPr>
              <a:t>Download Link</a:t>
            </a:r>
            <a:endParaRPr lang="en-US" sz="1600" dirty="0"/>
          </a:p>
          <a:p>
            <a:pPr marL="457200" lvl="1" indent="0">
              <a:buNone/>
            </a:pPr>
            <a:endParaRPr lang="en-US" sz="1600" dirty="0"/>
          </a:p>
          <a:p>
            <a:r>
              <a:rPr lang="en-IN" sz="2000" b="1" dirty="0"/>
              <a:t>Skoltech Anomaly Benchmark (SKAB)</a:t>
            </a:r>
            <a:r>
              <a:rPr lang="en-IN" sz="2000" dirty="0"/>
              <a:t> </a:t>
            </a:r>
            <a:r>
              <a:rPr lang="en-US" sz="2000" i="1" dirty="0"/>
              <a:t>SKAB is a benchmark designed for evaluating anomaly detection algorithms using time-series data. It contains datasets with collective and point anomalies, which are often rare events in real-world industrial processes. The dataset is multivariate, collected from sensors installed on a testbed.</a:t>
            </a:r>
            <a:r>
              <a:rPr lang="en-US" sz="2000" dirty="0"/>
              <a:t> </a:t>
            </a:r>
          </a:p>
          <a:p>
            <a:pPr marL="457200" lvl="1" indent="0">
              <a:buNone/>
            </a:pPr>
            <a:r>
              <a:rPr lang="en-US" sz="1600" dirty="0">
                <a:hlinkClick r:id="rId4"/>
              </a:rPr>
              <a:t>Download Link</a:t>
            </a:r>
            <a:endParaRPr lang="en-US" sz="1600" dirty="0"/>
          </a:p>
        </p:txBody>
      </p:sp>
      <p:sp>
        <p:nvSpPr>
          <p:cNvPr id="4" name="Footer Placeholder 3">
            <a:extLst>
              <a:ext uri="{FF2B5EF4-FFF2-40B4-BE49-F238E27FC236}">
                <a16:creationId xmlns:a16="http://schemas.microsoft.com/office/drawing/2014/main" id="{4BDE0F0A-25D2-C691-9173-D6FB8A8FE346}"/>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FD96A3D7-F3B0-B70A-5DA0-0BD0BC324C12}"/>
              </a:ext>
            </a:extLst>
          </p:cNvPr>
          <p:cNvSpPr>
            <a:spLocks noGrp="1"/>
          </p:cNvSpPr>
          <p:nvPr>
            <p:ph type="sldNum" sz="quarter" idx="12"/>
          </p:nvPr>
        </p:nvSpPr>
        <p:spPr/>
        <p:txBody>
          <a:bodyPr/>
          <a:lstStyle/>
          <a:p>
            <a:fld id="{0541023B-0DCA-4467-9EB4-7DB5EBA0C709}" type="slidenum">
              <a:rPr lang="en-IN" smtClean="0"/>
              <a:t>7</a:t>
            </a:fld>
            <a:endParaRPr lang="en-IN"/>
          </a:p>
        </p:txBody>
      </p:sp>
      <p:sp>
        <p:nvSpPr>
          <p:cNvPr id="6" name="TextBox 5">
            <a:extLst>
              <a:ext uri="{FF2B5EF4-FFF2-40B4-BE49-F238E27FC236}">
                <a16:creationId xmlns:a16="http://schemas.microsoft.com/office/drawing/2014/main" id="{A57C43B1-26B6-ED73-648F-2C3A307E1157}"/>
              </a:ext>
            </a:extLst>
          </p:cNvPr>
          <p:cNvSpPr txBox="1"/>
          <p:nvPr/>
        </p:nvSpPr>
        <p:spPr>
          <a:xfrm>
            <a:off x="6998329" y="5897457"/>
            <a:ext cx="4803628" cy="230832"/>
          </a:xfrm>
          <a:prstGeom prst="rect">
            <a:avLst/>
          </a:prstGeom>
          <a:noFill/>
        </p:spPr>
        <p:txBody>
          <a:bodyPr wrap="square" rtlCol="0">
            <a:spAutoFit/>
          </a:bodyPr>
          <a:lstStyle/>
          <a:p>
            <a:pPr algn="r"/>
            <a:r>
              <a:rPr lang="en-IN" sz="900" dirty="0"/>
              <a:t>*Datasets are not limited to the two mentioned here. Other datasets are also being explored.</a:t>
            </a:r>
          </a:p>
        </p:txBody>
      </p:sp>
    </p:spTree>
    <p:extLst>
      <p:ext uri="{BB962C8B-B14F-4D97-AF65-F5344CB8AC3E}">
        <p14:creationId xmlns:p14="http://schemas.microsoft.com/office/powerpoint/2010/main" val="65499968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59C36-3E5C-193B-59C8-F701242C1A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047A3-BFFF-F591-54B5-9249710A7957}"/>
              </a:ext>
            </a:extLst>
          </p:cNvPr>
          <p:cNvSpPr>
            <a:spLocks noGrp="1"/>
          </p:cNvSpPr>
          <p:nvPr>
            <p:ph type="title"/>
          </p:nvPr>
        </p:nvSpPr>
        <p:spPr/>
        <p:txBody>
          <a:bodyPr/>
          <a:lstStyle/>
          <a:p>
            <a:r>
              <a:rPr lang="en-IN" dirty="0"/>
              <a:t>Concepts At Work</a:t>
            </a:r>
          </a:p>
        </p:txBody>
      </p:sp>
      <p:sp>
        <p:nvSpPr>
          <p:cNvPr id="4" name="Footer Placeholder 3">
            <a:extLst>
              <a:ext uri="{FF2B5EF4-FFF2-40B4-BE49-F238E27FC236}">
                <a16:creationId xmlns:a16="http://schemas.microsoft.com/office/drawing/2014/main" id="{16E4E971-C0BF-F50A-4721-C10E917224AA}"/>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CFAC521E-6A29-354B-A683-92E90943EFE4}"/>
              </a:ext>
            </a:extLst>
          </p:cNvPr>
          <p:cNvSpPr>
            <a:spLocks noGrp="1"/>
          </p:cNvSpPr>
          <p:nvPr>
            <p:ph type="sldNum" sz="quarter" idx="12"/>
          </p:nvPr>
        </p:nvSpPr>
        <p:spPr/>
        <p:txBody>
          <a:bodyPr/>
          <a:lstStyle/>
          <a:p>
            <a:fld id="{0541023B-0DCA-4467-9EB4-7DB5EBA0C709}" type="slidenum">
              <a:rPr lang="en-IN" smtClean="0"/>
              <a:t>8</a:t>
            </a:fld>
            <a:endParaRPr lang="en-IN"/>
          </a:p>
        </p:txBody>
      </p:sp>
    </p:spTree>
    <p:extLst>
      <p:ext uri="{BB962C8B-B14F-4D97-AF65-F5344CB8AC3E}">
        <p14:creationId xmlns:p14="http://schemas.microsoft.com/office/powerpoint/2010/main" val="139775215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96E90-A103-0E76-01A3-341D5C1CB750}"/>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Feature Scaling</a:t>
            </a:r>
            <a:endParaRPr lang="en-IN" dirty="0"/>
          </a:p>
        </p:txBody>
      </p:sp>
      <p:sp>
        <p:nvSpPr>
          <p:cNvPr id="3" name="Text Placeholder 2">
            <a:extLst>
              <a:ext uri="{FF2B5EF4-FFF2-40B4-BE49-F238E27FC236}">
                <a16:creationId xmlns:a16="http://schemas.microsoft.com/office/drawing/2014/main" id="{50859844-9568-6CD8-A3CB-C3E23EEFA734}"/>
              </a:ext>
            </a:extLst>
          </p:cNvPr>
          <p:cNvSpPr>
            <a:spLocks noGrp="1"/>
          </p:cNvSpPr>
          <p:nvPr>
            <p:ph type="body" idx="1"/>
          </p:nvPr>
        </p:nvSpPr>
        <p:spPr/>
        <p:txBody>
          <a:bodyPr/>
          <a:lstStyle/>
          <a:p>
            <a:r>
              <a:rPr lang="en-IN" dirty="0"/>
              <a:t>Min-Max Scaling</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F4BCD417-A13A-D2E1-8983-54305CD39F40}"/>
                  </a:ext>
                </a:extLst>
              </p:cNvPr>
              <p:cNvSpPr>
                <a:spLocks noGrp="1"/>
              </p:cNvSpPr>
              <p:nvPr>
                <p:ph sz="half" idx="2"/>
              </p:nvPr>
            </p:nvSpPr>
            <p:spPr/>
            <p:txBody>
              <a:bodyPr>
                <a:normAutofit/>
              </a:bodyPr>
              <a:lstStyle/>
              <a:p>
                <a:r>
                  <a:rPr lang="en-US" sz="1600" dirty="0"/>
                  <a:t>Min-max scaling adjusts the data to fit within the range [0,1].</a:t>
                </a:r>
              </a:p>
              <a:p>
                <a:pPr marL="0" indent="0">
                  <a:buNone/>
                </a:pPr>
                <a14:m>
                  <m:oMathPara xmlns:m="http://schemas.openxmlformats.org/officeDocument/2006/math">
                    <m:oMathParaPr>
                      <m:jc m:val="centerGroup"/>
                    </m:oMathParaPr>
                    <m:oMath xmlns:m="http://schemas.openxmlformats.org/officeDocument/2006/math">
                      <m:sSup>
                        <m:sSupPr>
                          <m:ctrlPr>
                            <a:rPr lang="en-IN" sz="1600" b="0" i="1" smtClean="0">
                              <a:latin typeface="Cambria Math" panose="02040503050406030204" pitchFamily="18" charset="0"/>
                            </a:rPr>
                          </m:ctrlPr>
                        </m:sSupPr>
                        <m:e>
                          <m:r>
                            <a:rPr lang="en-IN" sz="1600" b="0" i="1" smtClean="0">
                              <a:latin typeface="Cambria Math" panose="02040503050406030204" pitchFamily="18" charset="0"/>
                            </a:rPr>
                            <m:t>𝑥</m:t>
                          </m:r>
                        </m:e>
                        <m:sup>
                          <m:r>
                            <a:rPr lang="en-IN" sz="1600" b="0" i="1" smtClean="0">
                              <a:latin typeface="Cambria Math" panose="02040503050406030204" pitchFamily="18" charset="0"/>
                            </a:rPr>
                            <m:t>′</m:t>
                          </m:r>
                        </m:sup>
                      </m:sSup>
                      <m:r>
                        <a:rPr lang="en-IN" sz="1600" b="0" i="1" smtClean="0">
                          <a:latin typeface="Cambria Math" panose="02040503050406030204" pitchFamily="18" charset="0"/>
                        </a:rPr>
                        <m:t>=</m:t>
                      </m:r>
                      <m:f>
                        <m:fPr>
                          <m:ctrlPr>
                            <a:rPr lang="en-IN" sz="1600" b="0" i="1" smtClean="0">
                              <a:latin typeface="Cambria Math" panose="02040503050406030204" pitchFamily="18" charset="0"/>
                            </a:rPr>
                          </m:ctrlPr>
                        </m:fPr>
                        <m:num>
                          <m:r>
                            <a:rPr lang="en-IN" sz="1600" b="0" i="1" smtClean="0">
                              <a:latin typeface="Cambria Math" panose="02040503050406030204" pitchFamily="18" charset="0"/>
                            </a:rPr>
                            <m:t>𝑥</m:t>
                          </m:r>
                          <m:r>
                            <a:rPr lang="en-IN" sz="1600" b="0" i="1" smtClean="0">
                              <a:latin typeface="Cambria Math" panose="02040503050406030204" pitchFamily="18" charset="0"/>
                            </a:rPr>
                            <m:t>−</m:t>
                          </m:r>
                          <m:func>
                            <m:funcPr>
                              <m:ctrlPr>
                                <a:rPr lang="en-IN" sz="1600" b="0" i="1" smtClean="0">
                                  <a:latin typeface="Cambria Math" panose="02040503050406030204" pitchFamily="18" charset="0"/>
                                </a:rPr>
                              </m:ctrlPr>
                            </m:funcPr>
                            <m:fName>
                              <m:r>
                                <m:rPr>
                                  <m:sty m:val="p"/>
                                </m:rPr>
                                <a:rPr lang="en-IN" sz="1600" b="0" i="0" smtClean="0">
                                  <a:latin typeface="Cambria Math" panose="02040503050406030204" pitchFamily="18" charset="0"/>
                                </a:rPr>
                                <m:t>min</m:t>
                              </m:r>
                            </m:fName>
                            <m:e>
                              <m:d>
                                <m:dPr>
                                  <m:ctrlPr>
                                    <a:rPr lang="en-IN" sz="1600" b="0" i="1" smtClean="0">
                                      <a:latin typeface="Cambria Math" panose="02040503050406030204" pitchFamily="18" charset="0"/>
                                    </a:rPr>
                                  </m:ctrlPr>
                                </m:dPr>
                                <m:e>
                                  <m:r>
                                    <a:rPr lang="en-IN" sz="1600" b="0" i="1" smtClean="0">
                                      <a:latin typeface="Cambria Math" panose="02040503050406030204" pitchFamily="18" charset="0"/>
                                    </a:rPr>
                                    <m:t>𝑥</m:t>
                                  </m:r>
                                </m:e>
                              </m:d>
                            </m:e>
                          </m:func>
                        </m:num>
                        <m:den>
                          <m:func>
                            <m:funcPr>
                              <m:ctrlPr>
                                <a:rPr lang="en-IN" sz="1600" b="0" i="1" smtClean="0">
                                  <a:latin typeface="Cambria Math" panose="02040503050406030204" pitchFamily="18" charset="0"/>
                                </a:rPr>
                              </m:ctrlPr>
                            </m:funcPr>
                            <m:fName>
                              <m:r>
                                <m:rPr>
                                  <m:sty m:val="p"/>
                                </m:rPr>
                                <a:rPr lang="en-IN" sz="1600" b="0" i="0" smtClean="0">
                                  <a:latin typeface="Cambria Math" panose="02040503050406030204" pitchFamily="18" charset="0"/>
                                </a:rPr>
                                <m:t>max</m:t>
                              </m:r>
                            </m:fName>
                            <m:e>
                              <m:d>
                                <m:dPr>
                                  <m:ctrlPr>
                                    <a:rPr lang="en-IN" sz="1600" b="0" i="1" smtClean="0">
                                      <a:latin typeface="Cambria Math" panose="02040503050406030204" pitchFamily="18" charset="0"/>
                                    </a:rPr>
                                  </m:ctrlPr>
                                </m:dPr>
                                <m:e>
                                  <m:r>
                                    <a:rPr lang="en-IN" sz="1600" b="0" i="1" smtClean="0">
                                      <a:latin typeface="Cambria Math" panose="02040503050406030204" pitchFamily="18" charset="0"/>
                                    </a:rPr>
                                    <m:t>𝑥</m:t>
                                  </m:r>
                                </m:e>
                              </m:d>
                            </m:e>
                          </m:func>
                          <m:r>
                            <a:rPr lang="en-IN" sz="1600" b="0" i="1" smtClean="0">
                              <a:latin typeface="Cambria Math" panose="02040503050406030204" pitchFamily="18" charset="0"/>
                            </a:rPr>
                            <m:t>−</m:t>
                          </m:r>
                          <m:func>
                            <m:funcPr>
                              <m:ctrlPr>
                                <a:rPr lang="en-IN" sz="1600" b="0" i="1" smtClean="0">
                                  <a:latin typeface="Cambria Math" panose="02040503050406030204" pitchFamily="18" charset="0"/>
                                </a:rPr>
                              </m:ctrlPr>
                            </m:funcPr>
                            <m:fName>
                              <m:r>
                                <m:rPr>
                                  <m:sty m:val="p"/>
                                </m:rPr>
                                <a:rPr lang="en-IN" sz="1600" b="0" i="0" smtClean="0">
                                  <a:latin typeface="Cambria Math" panose="02040503050406030204" pitchFamily="18" charset="0"/>
                                </a:rPr>
                                <m:t>min</m:t>
                              </m:r>
                            </m:fName>
                            <m:e>
                              <m:d>
                                <m:dPr>
                                  <m:ctrlPr>
                                    <a:rPr lang="en-IN" sz="1600" b="0" i="1" smtClean="0">
                                      <a:latin typeface="Cambria Math" panose="02040503050406030204" pitchFamily="18" charset="0"/>
                                    </a:rPr>
                                  </m:ctrlPr>
                                </m:dPr>
                                <m:e>
                                  <m:r>
                                    <a:rPr lang="en-IN" sz="1600" b="0" i="1" smtClean="0">
                                      <a:latin typeface="Cambria Math" panose="02040503050406030204" pitchFamily="18" charset="0"/>
                                    </a:rPr>
                                    <m:t>𝑥</m:t>
                                  </m:r>
                                </m:e>
                              </m:d>
                            </m:e>
                          </m:func>
                        </m:den>
                      </m:f>
                    </m:oMath>
                  </m:oMathPara>
                </a14:m>
                <a:endParaRPr lang="en-IN" sz="1600" b="0" dirty="0"/>
              </a:p>
              <a:p>
                <a:endParaRPr lang="en-US" sz="1600" dirty="0"/>
              </a:p>
              <a:p>
                <a:r>
                  <a:rPr lang="en-US" sz="1600" dirty="0"/>
                  <a:t>To reverse the transformation, the minimum and maximum values of the original data must be recorded.</a:t>
                </a:r>
              </a:p>
              <a:p>
                <a:pPr marL="0" indent="0">
                  <a:buNone/>
                </a:pPr>
                <a:endParaRPr lang="en-IN" sz="16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600" b="0" i="1" smtClean="0">
                          <a:latin typeface="Cambria Math" panose="02040503050406030204" pitchFamily="18" charset="0"/>
                        </a:rPr>
                        <m:t>𝑥</m:t>
                      </m:r>
                      <m:r>
                        <a:rPr lang="en-IN" sz="1600" b="0" i="1" smtClean="0">
                          <a:latin typeface="Cambria Math" panose="02040503050406030204" pitchFamily="18" charset="0"/>
                        </a:rPr>
                        <m:t>=</m:t>
                      </m:r>
                      <m:sSup>
                        <m:sSupPr>
                          <m:ctrlPr>
                            <a:rPr lang="en-IN" sz="1600" b="0" i="1" smtClean="0">
                              <a:latin typeface="Cambria Math" panose="02040503050406030204" pitchFamily="18" charset="0"/>
                            </a:rPr>
                          </m:ctrlPr>
                        </m:sSupPr>
                        <m:e>
                          <m:r>
                            <a:rPr lang="en-IN" sz="1600" b="0" i="1" smtClean="0">
                              <a:latin typeface="Cambria Math" panose="02040503050406030204" pitchFamily="18" charset="0"/>
                            </a:rPr>
                            <m:t>𝑥</m:t>
                          </m:r>
                        </m:e>
                        <m:sup>
                          <m:r>
                            <a:rPr lang="en-IN" sz="1600" b="0" i="1" smtClean="0">
                              <a:latin typeface="Cambria Math" panose="02040503050406030204" pitchFamily="18" charset="0"/>
                            </a:rPr>
                            <m:t>′</m:t>
                          </m:r>
                        </m:sup>
                      </m:sSup>
                      <m:d>
                        <m:dPr>
                          <m:ctrlPr>
                            <a:rPr lang="en-IN" sz="1600" b="0" i="1" smtClean="0">
                              <a:latin typeface="Cambria Math" panose="02040503050406030204" pitchFamily="18" charset="0"/>
                            </a:rPr>
                          </m:ctrlPr>
                        </m:dPr>
                        <m:e>
                          <m:func>
                            <m:funcPr>
                              <m:ctrlPr>
                                <a:rPr lang="en-IN" sz="1600" b="0" i="1" smtClean="0">
                                  <a:latin typeface="Cambria Math" panose="02040503050406030204" pitchFamily="18" charset="0"/>
                                </a:rPr>
                              </m:ctrlPr>
                            </m:funcPr>
                            <m:fName>
                              <m:r>
                                <m:rPr>
                                  <m:sty m:val="p"/>
                                </m:rPr>
                                <a:rPr lang="en-IN" sz="1600" b="0" i="0" smtClean="0">
                                  <a:latin typeface="Cambria Math" panose="02040503050406030204" pitchFamily="18" charset="0"/>
                                </a:rPr>
                                <m:t>max</m:t>
                              </m:r>
                            </m:fName>
                            <m:e>
                              <m:d>
                                <m:dPr>
                                  <m:ctrlPr>
                                    <a:rPr lang="en-IN" sz="1600" b="0" i="1" smtClean="0">
                                      <a:latin typeface="Cambria Math" panose="02040503050406030204" pitchFamily="18" charset="0"/>
                                    </a:rPr>
                                  </m:ctrlPr>
                                </m:dPr>
                                <m:e>
                                  <m:r>
                                    <a:rPr lang="en-IN" sz="1600" b="0" i="1" smtClean="0">
                                      <a:latin typeface="Cambria Math" panose="02040503050406030204" pitchFamily="18" charset="0"/>
                                    </a:rPr>
                                    <m:t>𝑥</m:t>
                                  </m:r>
                                </m:e>
                              </m:d>
                            </m:e>
                          </m:func>
                          <m:r>
                            <a:rPr lang="en-IN" sz="1600" b="0" i="1" smtClean="0">
                              <a:latin typeface="Cambria Math" panose="02040503050406030204" pitchFamily="18" charset="0"/>
                            </a:rPr>
                            <m:t>−</m:t>
                          </m:r>
                          <m:func>
                            <m:funcPr>
                              <m:ctrlPr>
                                <a:rPr lang="en-IN" sz="1600" b="0" i="1" smtClean="0">
                                  <a:latin typeface="Cambria Math" panose="02040503050406030204" pitchFamily="18" charset="0"/>
                                </a:rPr>
                              </m:ctrlPr>
                            </m:funcPr>
                            <m:fName>
                              <m:r>
                                <m:rPr>
                                  <m:sty m:val="p"/>
                                </m:rPr>
                                <a:rPr lang="en-IN" sz="1600" b="0" i="0" smtClean="0">
                                  <a:latin typeface="Cambria Math" panose="02040503050406030204" pitchFamily="18" charset="0"/>
                                </a:rPr>
                                <m:t>min</m:t>
                              </m:r>
                            </m:fName>
                            <m:e>
                              <m:d>
                                <m:dPr>
                                  <m:ctrlPr>
                                    <a:rPr lang="en-IN" sz="1600" b="0" i="1" smtClean="0">
                                      <a:latin typeface="Cambria Math" panose="02040503050406030204" pitchFamily="18" charset="0"/>
                                    </a:rPr>
                                  </m:ctrlPr>
                                </m:dPr>
                                <m:e>
                                  <m:r>
                                    <a:rPr lang="en-IN" sz="1600" b="0" i="1" smtClean="0">
                                      <a:latin typeface="Cambria Math" panose="02040503050406030204" pitchFamily="18" charset="0"/>
                                    </a:rPr>
                                    <m:t>𝑥</m:t>
                                  </m:r>
                                </m:e>
                              </m:d>
                            </m:e>
                          </m:func>
                        </m:e>
                      </m:d>
                      <m:r>
                        <a:rPr lang="en-IN" sz="1600" b="0" i="1" smtClean="0">
                          <a:latin typeface="Cambria Math" panose="02040503050406030204" pitchFamily="18" charset="0"/>
                        </a:rPr>
                        <m:t>+</m:t>
                      </m:r>
                      <m:func>
                        <m:funcPr>
                          <m:ctrlPr>
                            <a:rPr lang="en-IN" sz="1600" b="0" i="1" smtClean="0">
                              <a:latin typeface="Cambria Math" panose="02040503050406030204" pitchFamily="18" charset="0"/>
                            </a:rPr>
                          </m:ctrlPr>
                        </m:funcPr>
                        <m:fName>
                          <m:r>
                            <m:rPr>
                              <m:sty m:val="p"/>
                            </m:rPr>
                            <a:rPr lang="en-IN" sz="1600" b="0" i="0" smtClean="0">
                              <a:latin typeface="Cambria Math" panose="02040503050406030204" pitchFamily="18" charset="0"/>
                            </a:rPr>
                            <m:t>min</m:t>
                          </m:r>
                        </m:fName>
                        <m:e>
                          <m:d>
                            <m:dPr>
                              <m:ctrlPr>
                                <a:rPr lang="en-IN" sz="1600" b="0" i="1" smtClean="0">
                                  <a:latin typeface="Cambria Math" panose="02040503050406030204" pitchFamily="18" charset="0"/>
                                </a:rPr>
                              </m:ctrlPr>
                            </m:dPr>
                            <m:e>
                              <m:r>
                                <a:rPr lang="en-IN" sz="1600" b="0" i="1" smtClean="0">
                                  <a:latin typeface="Cambria Math" panose="02040503050406030204" pitchFamily="18" charset="0"/>
                                </a:rPr>
                                <m:t>𝑥</m:t>
                              </m:r>
                            </m:e>
                          </m:d>
                        </m:e>
                      </m:func>
                    </m:oMath>
                  </m:oMathPara>
                </a14:m>
                <a:endParaRPr lang="en-IN" sz="1600" b="0" dirty="0"/>
              </a:p>
              <a:p>
                <a:endParaRPr lang="en-US" sz="1600" dirty="0"/>
              </a:p>
            </p:txBody>
          </p:sp>
        </mc:Choice>
        <mc:Fallback>
          <p:sp>
            <p:nvSpPr>
              <p:cNvPr id="4" name="Content Placeholder 3">
                <a:extLst>
                  <a:ext uri="{FF2B5EF4-FFF2-40B4-BE49-F238E27FC236}">
                    <a16:creationId xmlns:a16="http://schemas.microsoft.com/office/drawing/2014/main" id="{F4BCD417-A13A-D2E1-8983-54305CD39F40}"/>
                  </a:ext>
                </a:extLst>
              </p:cNvPr>
              <p:cNvSpPr>
                <a:spLocks noGrp="1" noRot="1" noChangeAspect="1" noMove="1" noResize="1" noEditPoints="1" noAdjustHandles="1" noChangeArrowheads="1" noChangeShapeType="1" noTextEdit="1"/>
              </p:cNvSpPr>
              <p:nvPr>
                <p:ph sz="half" idx="2"/>
              </p:nvPr>
            </p:nvSpPr>
            <p:spPr>
              <a:blipFill>
                <a:blip r:embed="rId3"/>
                <a:stretch>
                  <a:fillRect l="-473" t="-1159"/>
                </a:stretch>
              </a:blipFill>
            </p:spPr>
            <p:txBody>
              <a:bodyPr/>
              <a:lstStyle/>
              <a:p>
                <a:r>
                  <a:rPr lang="en-IN">
                    <a:noFill/>
                  </a:rPr>
                  <a:t> </a:t>
                </a:r>
              </a:p>
            </p:txBody>
          </p:sp>
        </mc:Fallback>
      </mc:AlternateContent>
      <p:sp>
        <p:nvSpPr>
          <p:cNvPr id="5" name="Text Placeholder 4">
            <a:extLst>
              <a:ext uri="{FF2B5EF4-FFF2-40B4-BE49-F238E27FC236}">
                <a16:creationId xmlns:a16="http://schemas.microsoft.com/office/drawing/2014/main" id="{EDBDC017-2772-C964-4525-B3198470B4C1}"/>
              </a:ext>
            </a:extLst>
          </p:cNvPr>
          <p:cNvSpPr>
            <a:spLocks noGrp="1"/>
          </p:cNvSpPr>
          <p:nvPr>
            <p:ph type="body" sz="quarter" idx="3"/>
          </p:nvPr>
        </p:nvSpPr>
        <p:spPr/>
        <p:txBody>
          <a:bodyPr/>
          <a:lstStyle/>
          <a:p>
            <a:r>
              <a:rPr lang="en-IN" dirty="0"/>
              <a:t>Z-Score Scaling</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F138BB56-F3E6-4A31-99A4-5DF9E5370A14}"/>
                  </a:ext>
                </a:extLst>
              </p:cNvPr>
              <p:cNvSpPr>
                <a:spLocks noGrp="1"/>
              </p:cNvSpPr>
              <p:nvPr>
                <p:ph sz="quarter" idx="4"/>
              </p:nvPr>
            </p:nvSpPr>
            <p:spPr/>
            <p:txBody>
              <a:bodyPr>
                <a:noAutofit/>
              </a:bodyPr>
              <a:lstStyle/>
              <a:p>
                <a:r>
                  <a:rPr lang="en-US" sz="1600" dirty="0"/>
                  <a:t>Z-score scaling is a transformation that standardizes the data by centering it around the mean (µ) and scaling it based on the standard deviation (σ).</a:t>
                </a:r>
              </a:p>
              <a:p>
                <a:r>
                  <a:rPr lang="en-US" sz="1600" dirty="0"/>
                  <a:t>After applying this transformation, the mean of the scaled data becomes 0, and the standard deviation becomes 1.</a:t>
                </a:r>
              </a:p>
              <a:p>
                <a:pPr marL="0" indent="0">
                  <a:buNone/>
                </a:pPr>
                <a14:m>
                  <m:oMathPara xmlns:m="http://schemas.openxmlformats.org/officeDocument/2006/math">
                    <m:oMathParaPr>
                      <m:jc m:val="centerGroup"/>
                    </m:oMathParaPr>
                    <m:oMath xmlns:m="http://schemas.openxmlformats.org/officeDocument/2006/math">
                      <m:sSup>
                        <m:sSupPr>
                          <m:ctrlPr>
                            <a:rPr lang="en-IN" sz="1600" b="0" i="1" smtClean="0">
                              <a:latin typeface="Cambria Math" panose="02040503050406030204" pitchFamily="18" charset="0"/>
                            </a:rPr>
                          </m:ctrlPr>
                        </m:sSupPr>
                        <m:e>
                          <m:r>
                            <a:rPr lang="en-IN" sz="1600" b="0" i="1" smtClean="0">
                              <a:latin typeface="Cambria Math" panose="02040503050406030204" pitchFamily="18" charset="0"/>
                            </a:rPr>
                            <m:t>𝑥</m:t>
                          </m:r>
                        </m:e>
                        <m:sup>
                          <m:r>
                            <a:rPr lang="en-IN" sz="1600" b="0" i="1" smtClean="0">
                              <a:latin typeface="Cambria Math" panose="02040503050406030204" pitchFamily="18" charset="0"/>
                            </a:rPr>
                            <m:t>′</m:t>
                          </m:r>
                        </m:sup>
                      </m:sSup>
                      <m:r>
                        <a:rPr lang="en-IN" sz="1600" b="0" i="1" smtClean="0">
                          <a:latin typeface="Cambria Math" panose="02040503050406030204" pitchFamily="18" charset="0"/>
                        </a:rPr>
                        <m:t>=</m:t>
                      </m:r>
                      <m:f>
                        <m:fPr>
                          <m:ctrlPr>
                            <a:rPr lang="en-IN" sz="1600" b="0" i="1" smtClean="0">
                              <a:latin typeface="Cambria Math" panose="02040503050406030204" pitchFamily="18" charset="0"/>
                            </a:rPr>
                          </m:ctrlPr>
                        </m:fPr>
                        <m:num>
                          <m:r>
                            <a:rPr lang="en-IN" sz="1600" b="0" i="1" smtClean="0">
                              <a:latin typeface="Cambria Math" panose="02040503050406030204" pitchFamily="18" charset="0"/>
                            </a:rPr>
                            <m:t>𝑥</m:t>
                          </m:r>
                          <m:r>
                            <a:rPr lang="en-IN" sz="1600" b="0" i="1" smtClean="0">
                              <a:latin typeface="Cambria Math" panose="02040503050406030204" pitchFamily="18" charset="0"/>
                            </a:rPr>
                            <m:t>−µ</m:t>
                          </m:r>
                        </m:num>
                        <m:den>
                          <m:r>
                            <m:rPr>
                              <m:nor/>
                            </m:rPr>
                            <a:rPr lang="en-US" sz="1600" dirty="0"/>
                            <m:t>σ</m:t>
                          </m:r>
                        </m:den>
                      </m:f>
                    </m:oMath>
                  </m:oMathPara>
                </a14:m>
                <a:endParaRPr lang="en-IN" sz="1600" dirty="0"/>
              </a:p>
              <a:p>
                <a14:m>
                  <m:oMath xmlns:m="http://schemas.openxmlformats.org/officeDocument/2006/math">
                    <m:r>
                      <a:rPr lang="en-IN" sz="1600" b="0" i="1" smtClean="0">
                        <a:latin typeface="Cambria Math" panose="02040503050406030204" pitchFamily="18" charset="0"/>
                      </a:rPr>
                      <m:t>𝑠𝑖𝑔𝑚𝑎</m:t>
                    </m:r>
                  </m:oMath>
                </a14:m>
                <a:endParaRPr lang="en-IN" sz="1600" dirty="0"/>
              </a:p>
              <a:p>
                <a:r>
                  <a:rPr lang="en-US" sz="1600" dirty="0"/>
                  <a:t>To reverse the transformation, the mean and standard deviation of the original data must be recorded.</a:t>
                </a:r>
              </a:p>
              <a:p>
                <a:pPr marL="0" indent="0">
                  <a:buNone/>
                </a:pPr>
                <a:endParaRPr lang="en-IN" sz="18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800" b="0" i="1" smtClean="0">
                          <a:latin typeface="Cambria Math" panose="02040503050406030204" pitchFamily="18" charset="0"/>
                        </a:rPr>
                        <m:t>𝑥</m:t>
                      </m:r>
                      <m:r>
                        <a:rPr lang="en-IN" sz="1800" b="0" i="1" smtClean="0">
                          <a:latin typeface="Cambria Math" panose="02040503050406030204" pitchFamily="18" charset="0"/>
                        </a:rPr>
                        <m:t>=</m:t>
                      </m:r>
                      <m:r>
                        <a:rPr lang="en-IN" sz="1800" b="0" i="1" smtClean="0">
                          <a:latin typeface="Cambria Math" panose="02040503050406030204" pitchFamily="18" charset="0"/>
                        </a:rPr>
                        <m:t>𝑥</m:t>
                      </m:r>
                      <m:r>
                        <a:rPr lang="en-IN" sz="1800" b="0" i="1" smtClean="0">
                          <a:latin typeface="Cambria Math" panose="02040503050406030204" pitchFamily="18" charset="0"/>
                        </a:rPr>
                        <m:t>′</m:t>
                      </m:r>
                      <m:r>
                        <m:rPr>
                          <m:nor/>
                        </m:rPr>
                        <a:rPr lang="en-US" sz="1800" dirty="0"/>
                        <m:t>σ</m:t>
                      </m:r>
                      <m:r>
                        <a:rPr lang="en-IN" sz="1800" b="0" i="1" dirty="0" smtClean="0">
                          <a:latin typeface="Cambria Math" panose="02040503050406030204" pitchFamily="18" charset="0"/>
                        </a:rPr>
                        <m:t>+</m:t>
                      </m:r>
                      <m:r>
                        <m:rPr>
                          <m:nor/>
                        </m:rPr>
                        <a:rPr lang="en-US" sz="1800" dirty="0"/>
                        <m:t>µ</m:t>
                      </m:r>
                    </m:oMath>
                  </m:oMathPara>
                </a14:m>
                <a:endParaRPr lang="en-IN" sz="1800" dirty="0"/>
              </a:p>
              <a:p>
                <a:endParaRPr lang="en-IN" sz="1800" dirty="0"/>
              </a:p>
            </p:txBody>
          </p:sp>
        </mc:Choice>
        <mc:Fallback>
          <p:sp>
            <p:nvSpPr>
              <p:cNvPr id="6" name="Content Placeholder 5">
                <a:extLst>
                  <a:ext uri="{FF2B5EF4-FFF2-40B4-BE49-F238E27FC236}">
                    <a16:creationId xmlns:a16="http://schemas.microsoft.com/office/drawing/2014/main" id="{F138BB56-F3E6-4A31-99A4-5DF9E5370A14}"/>
                  </a:ext>
                </a:extLst>
              </p:cNvPr>
              <p:cNvSpPr>
                <a:spLocks noGrp="1" noRot="1" noChangeAspect="1" noMove="1" noResize="1" noEditPoints="1" noAdjustHandles="1" noChangeArrowheads="1" noChangeShapeType="1" noTextEdit="1"/>
              </p:cNvSpPr>
              <p:nvPr>
                <p:ph sz="quarter" idx="4"/>
              </p:nvPr>
            </p:nvSpPr>
            <p:spPr>
              <a:blipFill>
                <a:blip r:embed="rId4"/>
                <a:stretch>
                  <a:fillRect l="-471" t="-1159"/>
                </a:stretch>
              </a:blipFill>
            </p:spPr>
            <p:txBody>
              <a:bodyPr/>
              <a:lstStyle/>
              <a:p>
                <a:r>
                  <a:rPr lang="en-IN">
                    <a:noFill/>
                  </a:rPr>
                  <a:t> </a:t>
                </a:r>
              </a:p>
            </p:txBody>
          </p:sp>
        </mc:Fallback>
      </mc:AlternateContent>
      <p:sp>
        <p:nvSpPr>
          <p:cNvPr id="7" name="Footer Placeholder 6">
            <a:extLst>
              <a:ext uri="{FF2B5EF4-FFF2-40B4-BE49-F238E27FC236}">
                <a16:creationId xmlns:a16="http://schemas.microsoft.com/office/drawing/2014/main" id="{B4CB03D8-9D4A-C0BD-5ED6-6BCAF031950D}"/>
              </a:ext>
            </a:extLst>
          </p:cNvPr>
          <p:cNvSpPr>
            <a:spLocks noGrp="1"/>
          </p:cNvSpPr>
          <p:nvPr>
            <p:ph type="ftr" sz="quarter" idx="11"/>
          </p:nvPr>
        </p:nvSpPr>
        <p:spPr/>
        <p:txBody>
          <a:bodyPr/>
          <a:lstStyle/>
          <a:p>
            <a:r>
              <a:rPr lang="en-IN"/>
              <a:t>Dissertation S2-24 AIMLCZG628T</a:t>
            </a:r>
          </a:p>
        </p:txBody>
      </p:sp>
      <p:sp>
        <p:nvSpPr>
          <p:cNvPr id="8" name="Slide Number Placeholder 7">
            <a:extLst>
              <a:ext uri="{FF2B5EF4-FFF2-40B4-BE49-F238E27FC236}">
                <a16:creationId xmlns:a16="http://schemas.microsoft.com/office/drawing/2014/main" id="{62B8120F-2370-6E36-00E8-5A344FB28467}"/>
              </a:ext>
            </a:extLst>
          </p:cNvPr>
          <p:cNvSpPr>
            <a:spLocks noGrp="1"/>
          </p:cNvSpPr>
          <p:nvPr>
            <p:ph type="sldNum" sz="quarter" idx="12"/>
          </p:nvPr>
        </p:nvSpPr>
        <p:spPr/>
        <p:txBody>
          <a:bodyPr/>
          <a:lstStyle/>
          <a:p>
            <a:fld id="{0541023B-0DCA-4467-9EB4-7DB5EBA0C709}" type="slidenum">
              <a:rPr lang="en-IN" smtClean="0"/>
              <a:t>9</a:t>
            </a:fld>
            <a:endParaRPr lang="en-IN"/>
          </a:p>
        </p:txBody>
      </p:sp>
    </p:spTree>
    <p:extLst>
      <p:ext uri="{BB962C8B-B14F-4D97-AF65-F5344CB8AC3E}">
        <p14:creationId xmlns:p14="http://schemas.microsoft.com/office/powerpoint/2010/main" val="103718772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4674B-FECC-01F4-0FC0-8CC9EB4638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EE277D-4ACB-E6EA-C0B4-0F804228B0D9}"/>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Performance Metrices</a:t>
            </a:r>
            <a:endParaRPr lang="en-IN" dirty="0"/>
          </a:p>
        </p:txBody>
      </p:sp>
      <p:sp>
        <p:nvSpPr>
          <p:cNvPr id="3" name="Text Placeholder 2">
            <a:extLst>
              <a:ext uri="{FF2B5EF4-FFF2-40B4-BE49-F238E27FC236}">
                <a16:creationId xmlns:a16="http://schemas.microsoft.com/office/drawing/2014/main" id="{6B66170A-1F09-1403-864E-202F6FB7D04B}"/>
              </a:ext>
            </a:extLst>
          </p:cNvPr>
          <p:cNvSpPr>
            <a:spLocks noGrp="1"/>
          </p:cNvSpPr>
          <p:nvPr>
            <p:ph type="body" idx="1"/>
          </p:nvPr>
        </p:nvSpPr>
        <p:spPr/>
        <p:txBody>
          <a:bodyPr/>
          <a:lstStyle/>
          <a:p>
            <a:r>
              <a:rPr lang="en-IN" dirty="0"/>
              <a:t>F</a:t>
            </a:r>
            <a:r>
              <a:rPr lang="el-GR" baseline="-25000" dirty="0"/>
              <a:t>β</a:t>
            </a:r>
            <a:r>
              <a:rPr lang="en-IN" dirty="0"/>
              <a:t> Score</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1D8CFE2C-42C2-4A63-4D07-E2A471D701AD}"/>
                  </a:ext>
                </a:extLst>
              </p:cNvPr>
              <p:cNvSpPr>
                <a:spLocks noGrp="1"/>
              </p:cNvSpPr>
              <p:nvPr>
                <p:ph sz="half" idx="2"/>
              </p:nvPr>
            </p:nvSpPr>
            <p:spPr/>
            <p:txBody>
              <a:bodyPr>
                <a:noAutofit/>
              </a:bodyPr>
              <a:lstStyle/>
              <a:p>
                <a:r>
                  <a:rPr lang="en-US" sz="1300" dirty="0"/>
                  <a:t>In binary classification tasks the F</a:t>
                </a:r>
                <a:r>
                  <a:rPr lang="en-US" sz="1300" baseline="-25000" dirty="0"/>
                  <a:t>β</a:t>
                </a:r>
                <a:r>
                  <a:rPr lang="en-US" sz="1300" dirty="0"/>
                  <a:t> score is a family of metrics used to evaluate a set of predictions.</a:t>
                </a:r>
              </a:p>
              <a:p>
                <a:r>
                  <a:rPr lang="en-US" sz="1300" b="1" dirty="0"/>
                  <a:t>Prediction Types</a:t>
                </a:r>
                <a:r>
                  <a:rPr lang="en-US" sz="1300" dirty="0"/>
                  <a:t> – True Positives (TP), True Negatives (TN), False Positives (FP) &amp; False Negatives (FN)</a:t>
                </a:r>
              </a:p>
              <a:p>
                <a:r>
                  <a:rPr lang="en-US" sz="1300" b="1" dirty="0"/>
                  <a:t>Recall</a:t>
                </a:r>
                <a:r>
                  <a:rPr lang="en-US" sz="1300" dirty="0"/>
                  <a:t> – quantifies the proportion of actual anomalies correctly identified by the classifier. </a:t>
                </a:r>
              </a:p>
              <a:p>
                <a:r>
                  <a:rPr lang="en-US" sz="1300" b="1" dirty="0"/>
                  <a:t>Precision</a:t>
                </a:r>
                <a:r>
                  <a:rPr lang="en-US" sz="1300" dirty="0"/>
                  <a:t> – measures how many elements classified as anomalies are true anomalies. </a:t>
                </a:r>
              </a:p>
              <a:p>
                <a:r>
                  <a:rPr lang="en-US" sz="1300" b="1" dirty="0"/>
                  <a:t>F</a:t>
                </a:r>
                <a:r>
                  <a:rPr lang="en-US" sz="1300" b="1" baseline="-25000" dirty="0"/>
                  <a:t>β</a:t>
                </a:r>
                <a:r>
                  <a:rPr lang="en-US" sz="1300" b="1" dirty="0"/>
                  <a:t> score</a:t>
                </a:r>
                <a:r>
                  <a:rPr lang="en-US" sz="1300" dirty="0"/>
                  <a:t> – balances recall and precision.</a:t>
                </a:r>
              </a:p>
              <a:p>
                <a:endParaRPr lang="en-IN" sz="13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300" b="0" i="1" smtClean="0">
                          <a:latin typeface="Cambria Math" panose="02040503050406030204" pitchFamily="18" charset="0"/>
                        </a:rPr>
                        <m:t>𝑅𝑒𝑐𝑎𝑙𝑙</m:t>
                      </m:r>
                      <m:r>
                        <a:rPr lang="en-IN" sz="1300" b="0" i="1" smtClean="0">
                          <a:latin typeface="Cambria Math" panose="02040503050406030204" pitchFamily="18" charset="0"/>
                        </a:rPr>
                        <m:t>=</m:t>
                      </m:r>
                      <m:f>
                        <m:fPr>
                          <m:ctrlPr>
                            <a:rPr lang="en-IN" sz="1300" b="0" i="1" smtClean="0">
                              <a:latin typeface="Cambria Math" panose="02040503050406030204" pitchFamily="18" charset="0"/>
                            </a:rPr>
                          </m:ctrlPr>
                        </m:fPr>
                        <m:num>
                          <m:r>
                            <a:rPr lang="en-IN" sz="1300" b="0" i="1" smtClean="0">
                              <a:latin typeface="Cambria Math" panose="02040503050406030204" pitchFamily="18" charset="0"/>
                            </a:rPr>
                            <m:t>𝑇𝑃</m:t>
                          </m:r>
                        </m:num>
                        <m:den>
                          <m:r>
                            <a:rPr lang="en-IN" sz="1300" b="0" i="1" smtClean="0">
                              <a:latin typeface="Cambria Math" panose="02040503050406030204" pitchFamily="18" charset="0"/>
                            </a:rPr>
                            <m:t>𝑇𝑃</m:t>
                          </m:r>
                          <m:r>
                            <a:rPr lang="en-IN" sz="1300" b="0" i="1" smtClean="0">
                              <a:latin typeface="Cambria Math" panose="02040503050406030204" pitchFamily="18" charset="0"/>
                            </a:rPr>
                            <m:t>+</m:t>
                          </m:r>
                          <m:r>
                            <a:rPr lang="en-IN" sz="1300" b="0" i="1" smtClean="0">
                              <a:latin typeface="Cambria Math" panose="02040503050406030204" pitchFamily="18" charset="0"/>
                            </a:rPr>
                            <m:t>𝐹𝑁</m:t>
                          </m:r>
                        </m:den>
                      </m:f>
                      <m:r>
                        <a:rPr lang="en-IN" sz="1300" b="0" i="1" smtClean="0">
                          <a:latin typeface="Cambria Math" panose="02040503050406030204" pitchFamily="18" charset="0"/>
                        </a:rPr>
                        <m:t>             </m:t>
                      </m:r>
                      <m:r>
                        <a:rPr lang="en-IN" sz="1300" b="0" i="1" smtClean="0">
                          <a:latin typeface="Cambria Math" panose="02040503050406030204" pitchFamily="18" charset="0"/>
                        </a:rPr>
                        <m:t>𝑃𝑟𝑒𝑐𝑖𝑠𝑖𝑜𝑛</m:t>
                      </m:r>
                      <m:r>
                        <a:rPr lang="en-IN" sz="1300" b="0" i="1" smtClean="0">
                          <a:latin typeface="Cambria Math" panose="02040503050406030204" pitchFamily="18" charset="0"/>
                        </a:rPr>
                        <m:t>=</m:t>
                      </m:r>
                      <m:f>
                        <m:fPr>
                          <m:ctrlPr>
                            <a:rPr lang="en-IN" sz="1300" b="0" i="1" smtClean="0">
                              <a:latin typeface="Cambria Math" panose="02040503050406030204" pitchFamily="18" charset="0"/>
                            </a:rPr>
                          </m:ctrlPr>
                        </m:fPr>
                        <m:num>
                          <m:r>
                            <a:rPr lang="en-IN" sz="1300" b="0" i="1" smtClean="0">
                              <a:latin typeface="Cambria Math" panose="02040503050406030204" pitchFamily="18" charset="0"/>
                            </a:rPr>
                            <m:t>𝑇𝑃</m:t>
                          </m:r>
                        </m:num>
                        <m:den>
                          <m:r>
                            <a:rPr lang="en-IN" sz="1300" b="0" i="1" smtClean="0">
                              <a:latin typeface="Cambria Math" panose="02040503050406030204" pitchFamily="18" charset="0"/>
                            </a:rPr>
                            <m:t>𝑇𝑃</m:t>
                          </m:r>
                          <m:r>
                            <a:rPr lang="en-IN" sz="1300" b="0" i="1" smtClean="0">
                              <a:latin typeface="Cambria Math" panose="02040503050406030204" pitchFamily="18" charset="0"/>
                            </a:rPr>
                            <m:t>+</m:t>
                          </m:r>
                          <m:r>
                            <a:rPr lang="en-IN" sz="1300" b="0" i="1" smtClean="0">
                              <a:latin typeface="Cambria Math" panose="02040503050406030204" pitchFamily="18" charset="0"/>
                            </a:rPr>
                            <m:t>𝐹𝑃</m:t>
                          </m:r>
                        </m:den>
                      </m:f>
                    </m:oMath>
                  </m:oMathPara>
                </a14:m>
                <a:endParaRPr lang="en-US" sz="1300" dirty="0"/>
              </a:p>
              <a:p>
                <a:endParaRPr lang="en-IN" sz="13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300" b="0" i="1" smtClean="0">
                          <a:latin typeface="Cambria Math" panose="02040503050406030204" pitchFamily="18" charset="0"/>
                        </a:rPr>
                        <m:t>𝐹</m:t>
                      </m:r>
                      <m:r>
                        <m:rPr>
                          <m:sty m:val="p"/>
                        </m:rPr>
                        <a:rPr lang="el-GR" sz="1300" b="0" i="1" baseline="-25000" smtClean="0">
                          <a:latin typeface="Cambria Math" panose="02040503050406030204" pitchFamily="18" charset="0"/>
                        </a:rPr>
                        <m:t>β</m:t>
                      </m:r>
                      <m:r>
                        <a:rPr lang="en-IN" sz="1300" b="0" i="1" smtClean="0">
                          <a:latin typeface="Cambria Math" panose="02040503050406030204" pitchFamily="18" charset="0"/>
                        </a:rPr>
                        <m:t>=</m:t>
                      </m:r>
                      <m:f>
                        <m:fPr>
                          <m:ctrlPr>
                            <a:rPr lang="en-IN" sz="1300" b="0" i="1" smtClean="0">
                              <a:latin typeface="Cambria Math" panose="02040503050406030204" pitchFamily="18" charset="0"/>
                            </a:rPr>
                          </m:ctrlPr>
                        </m:fPr>
                        <m:num>
                          <m:d>
                            <m:dPr>
                              <m:ctrlPr>
                                <a:rPr lang="en-IN" sz="1300" b="0" i="1" smtClean="0">
                                  <a:latin typeface="Cambria Math" panose="02040503050406030204" pitchFamily="18" charset="0"/>
                                </a:rPr>
                              </m:ctrlPr>
                            </m:dPr>
                            <m:e>
                              <m:r>
                                <a:rPr lang="en-IN" sz="1300" b="0" i="1" smtClean="0">
                                  <a:latin typeface="Cambria Math" panose="02040503050406030204" pitchFamily="18" charset="0"/>
                                </a:rPr>
                                <m:t>1+</m:t>
                              </m:r>
                              <m:r>
                                <m:rPr>
                                  <m:sty m:val="p"/>
                                </m:rPr>
                                <a:rPr lang="el-GR" sz="1300" b="0" i="1" smtClean="0">
                                  <a:latin typeface="Cambria Math" panose="02040503050406030204" pitchFamily="18" charset="0"/>
                                </a:rPr>
                                <m:t>β</m:t>
                              </m:r>
                              <m:r>
                                <a:rPr lang="en-IN" sz="1300" b="0" i="1" baseline="30000" smtClean="0">
                                  <a:latin typeface="Cambria Math" panose="02040503050406030204" pitchFamily="18" charset="0"/>
                                </a:rPr>
                                <m:t>2</m:t>
                              </m:r>
                            </m:e>
                          </m:d>
                          <m:d>
                            <m:dPr>
                              <m:ctrlPr>
                                <a:rPr lang="en-IN" sz="1300" b="0" i="1" smtClean="0">
                                  <a:latin typeface="Cambria Math" panose="02040503050406030204" pitchFamily="18" charset="0"/>
                                </a:rPr>
                              </m:ctrlPr>
                            </m:dPr>
                            <m:e>
                              <m:r>
                                <a:rPr lang="en-IN" sz="1300" i="1">
                                  <a:latin typeface="Cambria Math" panose="02040503050406030204" pitchFamily="18" charset="0"/>
                                </a:rPr>
                                <m:t>𝑃𝑟𝑒𝑐𝑖𝑠𝑖𝑜𝑛</m:t>
                              </m:r>
                              <m:r>
                                <a:rPr lang="en-IN" sz="1300" i="1">
                                  <a:latin typeface="Cambria Math" panose="02040503050406030204" pitchFamily="18" charset="0"/>
                                </a:rPr>
                                <m:t>∙</m:t>
                              </m:r>
                              <m:r>
                                <a:rPr lang="en-IN" sz="1300" i="1">
                                  <a:latin typeface="Cambria Math" panose="02040503050406030204" pitchFamily="18" charset="0"/>
                                </a:rPr>
                                <m:t>𝑅𝑒𝑐𝑎𝑙𝑙</m:t>
                              </m:r>
                            </m:e>
                          </m:d>
                        </m:num>
                        <m:den>
                          <m:r>
                            <m:rPr>
                              <m:sty m:val="p"/>
                            </m:rPr>
                            <a:rPr lang="el-GR" sz="1300" b="0" i="1" smtClean="0">
                              <a:latin typeface="Cambria Math" panose="02040503050406030204" pitchFamily="18" charset="0"/>
                            </a:rPr>
                            <m:t>β</m:t>
                          </m:r>
                          <m:r>
                            <a:rPr lang="en-IN" sz="1300" b="0" i="1" baseline="30000" smtClean="0">
                              <a:latin typeface="Cambria Math" panose="02040503050406030204" pitchFamily="18" charset="0"/>
                            </a:rPr>
                            <m:t>2</m:t>
                          </m:r>
                          <m:r>
                            <a:rPr lang="en-IN" sz="1300" b="0" i="1" smtClean="0">
                              <a:latin typeface="Cambria Math" panose="02040503050406030204" pitchFamily="18" charset="0"/>
                            </a:rPr>
                            <m:t>∙</m:t>
                          </m:r>
                          <m:r>
                            <a:rPr lang="en-IN" sz="1300" b="0" i="1" smtClean="0">
                              <a:latin typeface="Cambria Math" panose="02040503050406030204" pitchFamily="18" charset="0"/>
                            </a:rPr>
                            <m:t>𝑃𝑟𝑒𝑐𝑖𝑠𝑖𝑜𝑛</m:t>
                          </m:r>
                          <m:r>
                            <a:rPr lang="en-IN" sz="1300" b="0" i="1" smtClean="0">
                              <a:latin typeface="Cambria Math" panose="02040503050406030204" pitchFamily="18" charset="0"/>
                            </a:rPr>
                            <m:t>+</m:t>
                          </m:r>
                          <m:r>
                            <a:rPr lang="en-IN" sz="1300" b="0" i="1" smtClean="0">
                              <a:latin typeface="Cambria Math" panose="02040503050406030204" pitchFamily="18" charset="0"/>
                            </a:rPr>
                            <m:t>𝑅𝑒𝑐𝑎𝑙𝑙</m:t>
                          </m:r>
                        </m:den>
                      </m:f>
                    </m:oMath>
                  </m:oMathPara>
                </a14:m>
                <a:endParaRPr lang="en-IN" sz="1300" b="0" dirty="0"/>
              </a:p>
              <a:p>
                <a:endParaRPr lang="en-IN" sz="1200" dirty="0"/>
              </a:p>
            </p:txBody>
          </p:sp>
        </mc:Choice>
        <mc:Fallback>
          <p:sp>
            <p:nvSpPr>
              <p:cNvPr id="4" name="Content Placeholder 3">
                <a:extLst>
                  <a:ext uri="{FF2B5EF4-FFF2-40B4-BE49-F238E27FC236}">
                    <a16:creationId xmlns:a16="http://schemas.microsoft.com/office/drawing/2014/main" id="{1D8CFE2C-42C2-4A63-4D07-E2A471D701AD}"/>
                  </a:ext>
                </a:extLst>
              </p:cNvPr>
              <p:cNvSpPr>
                <a:spLocks noGrp="1" noRot="1" noChangeAspect="1" noMove="1" noResize="1" noEditPoints="1" noAdjustHandles="1" noChangeArrowheads="1" noChangeShapeType="1" noTextEdit="1"/>
              </p:cNvSpPr>
              <p:nvPr>
                <p:ph sz="half" idx="2"/>
              </p:nvPr>
            </p:nvSpPr>
            <p:spPr>
              <a:blipFill>
                <a:blip r:embed="rId3"/>
                <a:stretch>
                  <a:fillRect l="-118" t="-662"/>
                </a:stretch>
              </a:blipFill>
            </p:spPr>
            <p:txBody>
              <a:bodyPr/>
              <a:lstStyle/>
              <a:p>
                <a:r>
                  <a:rPr lang="en-IN">
                    <a:noFill/>
                  </a:rPr>
                  <a:t> </a:t>
                </a:r>
              </a:p>
            </p:txBody>
          </p:sp>
        </mc:Fallback>
      </mc:AlternateContent>
      <p:sp>
        <p:nvSpPr>
          <p:cNvPr id="5" name="Text Placeholder 4">
            <a:extLst>
              <a:ext uri="{FF2B5EF4-FFF2-40B4-BE49-F238E27FC236}">
                <a16:creationId xmlns:a16="http://schemas.microsoft.com/office/drawing/2014/main" id="{CA79976C-2313-0C07-1BFE-601BEC9070F8}"/>
              </a:ext>
            </a:extLst>
          </p:cNvPr>
          <p:cNvSpPr>
            <a:spLocks noGrp="1"/>
          </p:cNvSpPr>
          <p:nvPr>
            <p:ph type="body" sz="quarter" idx="3"/>
          </p:nvPr>
        </p:nvSpPr>
        <p:spPr/>
        <p:txBody>
          <a:bodyPr/>
          <a:lstStyle/>
          <a:p>
            <a:r>
              <a:rPr lang="en-IN" dirty="0"/>
              <a:t>Reconstruction Metrics</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038B642D-7A3D-FEC6-753C-746BDAC6CD15}"/>
                  </a:ext>
                </a:extLst>
              </p:cNvPr>
              <p:cNvSpPr>
                <a:spLocks noGrp="1"/>
              </p:cNvSpPr>
              <p:nvPr>
                <p:ph sz="quarter" idx="4"/>
              </p:nvPr>
            </p:nvSpPr>
            <p:spPr/>
            <p:txBody>
              <a:bodyPr>
                <a:noAutofit/>
              </a:bodyPr>
              <a:lstStyle/>
              <a:p>
                <a:r>
                  <a:rPr lang="en-US" sz="1300" dirty="0"/>
                  <a:t>There are numerous metrics for calculating the difference between a tensor and its reconstruction.</a:t>
                </a:r>
              </a:p>
              <a:p>
                <a:r>
                  <a:rPr lang="en-US" sz="1300" b="1" dirty="0"/>
                  <a:t>Mean Absolute Error</a:t>
                </a:r>
                <a:r>
                  <a:rPr lang="en-US" sz="1300" dirty="0"/>
                  <a:t> – measures the average absolute difference between predicted and true values.</a:t>
                </a:r>
              </a:p>
              <a:p>
                <a:r>
                  <a:rPr lang="en-US" sz="1300" b="1" dirty="0"/>
                  <a:t>Mean Squared Error</a:t>
                </a:r>
                <a:r>
                  <a:rPr lang="en-US" sz="1300" dirty="0"/>
                  <a:t> – calculates the mean square difference between predicted and true values.</a:t>
                </a:r>
                <a:endParaRPr lang="en-IN" sz="1300" dirty="0"/>
              </a:p>
              <a:p>
                <a:r>
                  <a:rPr lang="en-US" sz="1300" b="1" dirty="0"/>
                  <a:t>Mean Absolute Percentage Error</a:t>
                </a:r>
                <a:r>
                  <a:rPr lang="en-US" sz="1300" dirty="0"/>
                  <a:t> – quantifies the percentage difference between predicted and true values.</a:t>
                </a:r>
              </a:p>
              <a:p>
                <a:endParaRPr lang="en-IN" sz="13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300" i="1">
                          <a:latin typeface="Cambria Math" panose="02040503050406030204" pitchFamily="18" charset="0"/>
                        </a:rPr>
                        <m:t>𝑀𝐴𝐸</m:t>
                      </m:r>
                      <m:r>
                        <a:rPr lang="en-IN" sz="1300" i="1">
                          <a:latin typeface="Cambria Math" panose="02040503050406030204" pitchFamily="18" charset="0"/>
                        </a:rPr>
                        <m:t>=</m:t>
                      </m:r>
                      <m:f>
                        <m:fPr>
                          <m:ctrlPr>
                            <a:rPr lang="en-IN" sz="1300" i="1">
                              <a:latin typeface="Cambria Math" panose="02040503050406030204" pitchFamily="18" charset="0"/>
                            </a:rPr>
                          </m:ctrlPr>
                        </m:fPr>
                        <m:num>
                          <m:r>
                            <a:rPr lang="en-IN" sz="1300" i="1">
                              <a:latin typeface="Cambria Math" panose="02040503050406030204" pitchFamily="18" charset="0"/>
                            </a:rPr>
                            <m:t>1</m:t>
                          </m:r>
                        </m:num>
                        <m:den>
                          <m:r>
                            <a:rPr lang="en-IN" sz="1300" i="1">
                              <a:latin typeface="Cambria Math" panose="02040503050406030204" pitchFamily="18" charset="0"/>
                            </a:rPr>
                            <m:t>𝑛</m:t>
                          </m:r>
                        </m:den>
                      </m:f>
                      <m:nary>
                        <m:naryPr>
                          <m:chr m:val="∑"/>
                          <m:ctrlPr>
                            <a:rPr lang="en-IN" sz="1300" i="1">
                              <a:latin typeface="Cambria Math" panose="02040503050406030204" pitchFamily="18" charset="0"/>
                            </a:rPr>
                          </m:ctrlPr>
                        </m:naryPr>
                        <m:sub>
                          <m:r>
                            <m:rPr>
                              <m:brk m:alnAt="23"/>
                            </m:rPr>
                            <a:rPr lang="en-IN" sz="1300" i="1">
                              <a:latin typeface="Cambria Math" panose="02040503050406030204" pitchFamily="18" charset="0"/>
                            </a:rPr>
                            <m:t>𝑖</m:t>
                          </m:r>
                          <m:r>
                            <a:rPr lang="en-IN" sz="1300" i="1">
                              <a:latin typeface="Cambria Math" panose="02040503050406030204" pitchFamily="18" charset="0"/>
                            </a:rPr>
                            <m:t>=1</m:t>
                          </m:r>
                        </m:sub>
                        <m:sup>
                          <m:r>
                            <a:rPr lang="en-IN" sz="1300" i="1">
                              <a:latin typeface="Cambria Math" panose="02040503050406030204" pitchFamily="18" charset="0"/>
                            </a:rPr>
                            <m:t>𝑛</m:t>
                          </m:r>
                        </m:sup>
                        <m:e>
                          <m:r>
                            <a:rPr lang="en-IN" sz="1300" i="1">
                              <a:latin typeface="Cambria Math" panose="02040503050406030204" pitchFamily="18" charset="0"/>
                            </a:rPr>
                            <m:t>|</m:t>
                          </m:r>
                          <m:r>
                            <a:rPr lang="en-IN" sz="1300" i="1">
                              <a:latin typeface="Cambria Math" panose="02040503050406030204" pitchFamily="18" charset="0"/>
                            </a:rPr>
                            <m:t>𝑥𝑖</m:t>
                          </m:r>
                          <m:r>
                            <a:rPr lang="en-IN" sz="1300" i="1">
                              <a:latin typeface="Cambria Math" panose="02040503050406030204" pitchFamily="18" charset="0"/>
                            </a:rPr>
                            <m:t>−</m:t>
                          </m:r>
                          <m:acc>
                            <m:accPr>
                              <m:chr m:val="̂"/>
                              <m:ctrlPr>
                                <a:rPr lang="en-IN" sz="1300" i="1">
                                  <a:latin typeface="Cambria Math" panose="02040503050406030204" pitchFamily="18" charset="0"/>
                                </a:rPr>
                              </m:ctrlPr>
                            </m:accPr>
                            <m:e>
                              <m:r>
                                <a:rPr lang="en-IN" sz="1300" i="1">
                                  <a:latin typeface="Cambria Math" panose="02040503050406030204" pitchFamily="18" charset="0"/>
                                </a:rPr>
                                <m:t>𝑥</m:t>
                              </m:r>
                            </m:e>
                          </m:acc>
                          <m:r>
                            <a:rPr lang="en-IN" sz="1300" i="1" baseline="-25000">
                              <a:latin typeface="Cambria Math" panose="02040503050406030204" pitchFamily="18" charset="0"/>
                            </a:rPr>
                            <m:t>𝑖</m:t>
                          </m:r>
                          <m:r>
                            <a:rPr lang="en-IN" sz="1300" i="1">
                              <a:latin typeface="Cambria Math" panose="02040503050406030204" pitchFamily="18" charset="0"/>
                            </a:rPr>
                            <m:t>|</m:t>
                          </m:r>
                        </m:e>
                      </m:nary>
                      <m:r>
                        <a:rPr lang="en-IN" sz="1300" i="1">
                          <a:latin typeface="Cambria Math" panose="02040503050406030204" pitchFamily="18" charset="0"/>
                        </a:rPr>
                        <m:t>        </m:t>
                      </m:r>
                      <m:r>
                        <a:rPr lang="en-IN" sz="1300" i="1">
                          <a:latin typeface="Cambria Math" panose="02040503050406030204" pitchFamily="18" charset="0"/>
                        </a:rPr>
                        <m:t>𝑀𝑆𝐸</m:t>
                      </m:r>
                      <m:r>
                        <a:rPr lang="en-IN" sz="1300" i="1">
                          <a:latin typeface="Cambria Math" panose="02040503050406030204" pitchFamily="18" charset="0"/>
                        </a:rPr>
                        <m:t>= </m:t>
                      </m:r>
                      <m:f>
                        <m:fPr>
                          <m:ctrlPr>
                            <a:rPr lang="en-IN" sz="1300" i="1">
                              <a:latin typeface="Cambria Math" panose="02040503050406030204" pitchFamily="18" charset="0"/>
                            </a:rPr>
                          </m:ctrlPr>
                        </m:fPr>
                        <m:num>
                          <m:r>
                            <a:rPr lang="en-IN" sz="1300" i="1">
                              <a:latin typeface="Cambria Math" panose="02040503050406030204" pitchFamily="18" charset="0"/>
                            </a:rPr>
                            <m:t>1</m:t>
                          </m:r>
                        </m:num>
                        <m:den>
                          <m:r>
                            <a:rPr lang="en-IN" sz="1300" i="1">
                              <a:latin typeface="Cambria Math" panose="02040503050406030204" pitchFamily="18" charset="0"/>
                            </a:rPr>
                            <m:t>𝑛</m:t>
                          </m:r>
                        </m:den>
                      </m:f>
                      <m:nary>
                        <m:naryPr>
                          <m:chr m:val="∑"/>
                          <m:ctrlPr>
                            <a:rPr lang="en-IN" sz="1300" i="1">
                              <a:latin typeface="Cambria Math" panose="02040503050406030204" pitchFamily="18" charset="0"/>
                            </a:rPr>
                          </m:ctrlPr>
                        </m:naryPr>
                        <m:sub>
                          <m:r>
                            <m:rPr>
                              <m:brk m:alnAt="23"/>
                            </m:rPr>
                            <a:rPr lang="en-IN" sz="1300" i="1">
                              <a:latin typeface="Cambria Math" panose="02040503050406030204" pitchFamily="18" charset="0"/>
                            </a:rPr>
                            <m:t>𝑖</m:t>
                          </m:r>
                          <m:r>
                            <a:rPr lang="en-IN" sz="1300" i="1">
                              <a:latin typeface="Cambria Math" panose="02040503050406030204" pitchFamily="18" charset="0"/>
                            </a:rPr>
                            <m:t>=1</m:t>
                          </m:r>
                        </m:sub>
                        <m:sup>
                          <m:r>
                            <a:rPr lang="en-IN" sz="1300" i="1">
                              <a:latin typeface="Cambria Math" panose="02040503050406030204" pitchFamily="18" charset="0"/>
                            </a:rPr>
                            <m:t>𝑛</m:t>
                          </m:r>
                        </m:sup>
                        <m:e>
                          <m:d>
                            <m:dPr>
                              <m:ctrlPr>
                                <a:rPr lang="en-IN" sz="1300" i="1">
                                  <a:latin typeface="Cambria Math" panose="02040503050406030204" pitchFamily="18" charset="0"/>
                                </a:rPr>
                              </m:ctrlPr>
                            </m:dPr>
                            <m:e>
                              <m:r>
                                <a:rPr lang="en-IN" sz="1300" i="1">
                                  <a:latin typeface="Cambria Math" panose="02040503050406030204" pitchFamily="18" charset="0"/>
                                </a:rPr>
                                <m:t>𝑥</m:t>
                              </m:r>
                              <m:r>
                                <a:rPr lang="en-IN" sz="1300" i="1" baseline="-25000">
                                  <a:latin typeface="Cambria Math" panose="02040503050406030204" pitchFamily="18" charset="0"/>
                                </a:rPr>
                                <m:t>𝑖</m:t>
                              </m:r>
                              <m:r>
                                <a:rPr lang="en-IN" sz="1300" i="1">
                                  <a:latin typeface="Cambria Math" panose="02040503050406030204" pitchFamily="18" charset="0"/>
                                </a:rPr>
                                <m:t>−</m:t>
                              </m:r>
                              <m:acc>
                                <m:accPr>
                                  <m:chr m:val="̂"/>
                                  <m:ctrlPr>
                                    <a:rPr lang="en-IN" sz="1300" i="1">
                                      <a:latin typeface="Cambria Math" panose="02040503050406030204" pitchFamily="18" charset="0"/>
                                    </a:rPr>
                                  </m:ctrlPr>
                                </m:accPr>
                                <m:e>
                                  <m:r>
                                    <a:rPr lang="en-IN" sz="1300" i="1">
                                      <a:latin typeface="Cambria Math" panose="02040503050406030204" pitchFamily="18" charset="0"/>
                                    </a:rPr>
                                    <m:t>𝑥</m:t>
                                  </m:r>
                                  <m:r>
                                    <a:rPr lang="en-IN" sz="1300" i="1" baseline="-25000">
                                      <a:latin typeface="Cambria Math" panose="02040503050406030204" pitchFamily="18" charset="0"/>
                                    </a:rPr>
                                    <m:t>𝑖</m:t>
                                  </m:r>
                                </m:e>
                              </m:acc>
                            </m:e>
                          </m:d>
                          <m:r>
                            <a:rPr lang="en-IN" sz="1300" i="1" baseline="30000">
                              <a:latin typeface="Cambria Math" panose="02040503050406030204" pitchFamily="18" charset="0"/>
                            </a:rPr>
                            <m:t>2</m:t>
                          </m:r>
                        </m:e>
                      </m:nary>
                    </m:oMath>
                  </m:oMathPara>
                </a14:m>
                <a:endParaRPr lang="en-IN" sz="1300" dirty="0"/>
              </a:p>
              <a:p>
                <a:pPr marL="0" indent="0">
                  <a:buNone/>
                </a:pPr>
                <a:endParaRPr lang="en-IN" sz="13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300" b="0" i="1" smtClean="0">
                          <a:latin typeface="Cambria Math" panose="02040503050406030204" pitchFamily="18" charset="0"/>
                        </a:rPr>
                        <m:t>𝑀𝐴𝑃𝐸</m:t>
                      </m:r>
                      <m:r>
                        <a:rPr lang="en-IN" sz="1300" b="0" i="1" smtClean="0">
                          <a:latin typeface="Cambria Math" panose="02040503050406030204" pitchFamily="18" charset="0"/>
                        </a:rPr>
                        <m:t>=100% ×</m:t>
                      </m:r>
                      <m:f>
                        <m:fPr>
                          <m:ctrlPr>
                            <a:rPr lang="en-IN" sz="1300" b="0" i="1" smtClean="0">
                              <a:latin typeface="Cambria Math" panose="02040503050406030204" pitchFamily="18" charset="0"/>
                              <a:ea typeface="Cambria Math" panose="02040503050406030204" pitchFamily="18" charset="0"/>
                            </a:rPr>
                          </m:ctrlPr>
                        </m:fPr>
                        <m:num>
                          <m:r>
                            <a:rPr lang="en-IN" sz="1300" b="0" i="1" smtClean="0">
                              <a:latin typeface="Cambria Math" panose="02040503050406030204" pitchFamily="18" charset="0"/>
                              <a:ea typeface="Cambria Math" panose="02040503050406030204" pitchFamily="18" charset="0"/>
                            </a:rPr>
                            <m:t>1</m:t>
                          </m:r>
                        </m:num>
                        <m:den>
                          <m:r>
                            <a:rPr lang="en-IN" sz="1300" b="0" i="1" smtClean="0">
                              <a:latin typeface="Cambria Math" panose="02040503050406030204" pitchFamily="18" charset="0"/>
                              <a:ea typeface="Cambria Math" panose="02040503050406030204" pitchFamily="18" charset="0"/>
                            </a:rPr>
                            <m:t>𝑛</m:t>
                          </m:r>
                        </m:den>
                      </m:f>
                      <m:nary>
                        <m:naryPr>
                          <m:chr m:val="∑"/>
                          <m:ctrlPr>
                            <a:rPr lang="en-IN" sz="1300" b="0" i="1" smtClean="0">
                              <a:latin typeface="Cambria Math" panose="02040503050406030204" pitchFamily="18" charset="0"/>
                              <a:ea typeface="Cambria Math" panose="02040503050406030204" pitchFamily="18" charset="0"/>
                            </a:rPr>
                          </m:ctrlPr>
                        </m:naryPr>
                        <m:sub>
                          <m:r>
                            <m:rPr>
                              <m:brk m:alnAt="23"/>
                            </m:rPr>
                            <a:rPr lang="en-IN" sz="1300" b="0" i="1" smtClean="0">
                              <a:latin typeface="Cambria Math" panose="02040503050406030204" pitchFamily="18" charset="0"/>
                              <a:ea typeface="Cambria Math" panose="02040503050406030204" pitchFamily="18" charset="0"/>
                            </a:rPr>
                            <m:t>𝑖</m:t>
                          </m:r>
                          <m:r>
                            <a:rPr lang="en-IN" sz="1300" b="0" i="1" smtClean="0">
                              <a:latin typeface="Cambria Math" panose="02040503050406030204" pitchFamily="18" charset="0"/>
                              <a:ea typeface="Cambria Math" panose="02040503050406030204" pitchFamily="18" charset="0"/>
                            </a:rPr>
                            <m:t>=1</m:t>
                          </m:r>
                        </m:sub>
                        <m:sup>
                          <m:r>
                            <a:rPr lang="en-IN" sz="1300" b="0" i="1" smtClean="0">
                              <a:latin typeface="Cambria Math" panose="02040503050406030204" pitchFamily="18" charset="0"/>
                              <a:ea typeface="Cambria Math" panose="02040503050406030204" pitchFamily="18" charset="0"/>
                            </a:rPr>
                            <m:t>𝑛</m:t>
                          </m:r>
                        </m:sup>
                        <m:e>
                          <m:r>
                            <a:rPr lang="en-IN" sz="1300" b="0" i="1" smtClean="0">
                              <a:latin typeface="Cambria Math" panose="02040503050406030204" pitchFamily="18" charset="0"/>
                              <a:ea typeface="Cambria Math" panose="02040503050406030204" pitchFamily="18" charset="0"/>
                            </a:rPr>
                            <m:t>|</m:t>
                          </m:r>
                          <m:f>
                            <m:fPr>
                              <m:ctrlPr>
                                <a:rPr lang="en-IN" sz="1300" b="0" i="1" smtClean="0">
                                  <a:latin typeface="Cambria Math" panose="02040503050406030204" pitchFamily="18" charset="0"/>
                                  <a:ea typeface="Cambria Math" panose="02040503050406030204" pitchFamily="18" charset="0"/>
                                </a:rPr>
                              </m:ctrlPr>
                            </m:fPr>
                            <m:num>
                              <m:r>
                                <a:rPr lang="en-IN" sz="1300" b="0" i="1" smtClean="0">
                                  <a:latin typeface="Cambria Math" panose="02040503050406030204" pitchFamily="18" charset="0"/>
                                  <a:ea typeface="Cambria Math" panose="02040503050406030204" pitchFamily="18" charset="0"/>
                                </a:rPr>
                                <m:t>𝑥</m:t>
                              </m:r>
                              <m:r>
                                <a:rPr lang="en-IN" sz="1300" b="0" i="1" baseline="-25000" smtClean="0">
                                  <a:latin typeface="Cambria Math" panose="02040503050406030204" pitchFamily="18" charset="0"/>
                                  <a:ea typeface="Cambria Math" panose="02040503050406030204" pitchFamily="18" charset="0"/>
                                </a:rPr>
                                <m:t>𝑖</m:t>
                              </m:r>
                              <m:r>
                                <a:rPr lang="en-IN" sz="1300" b="0" i="1" smtClean="0">
                                  <a:latin typeface="Cambria Math" panose="02040503050406030204" pitchFamily="18" charset="0"/>
                                  <a:ea typeface="Cambria Math" panose="02040503050406030204" pitchFamily="18" charset="0"/>
                                </a:rPr>
                                <m:t>−</m:t>
                              </m:r>
                              <m:acc>
                                <m:accPr>
                                  <m:chr m:val="̂"/>
                                  <m:ctrlPr>
                                    <a:rPr lang="en-IN" sz="1300" b="0" i="1" smtClean="0">
                                      <a:latin typeface="Cambria Math" panose="02040503050406030204" pitchFamily="18" charset="0"/>
                                      <a:ea typeface="Cambria Math" panose="02040503050406030204" pitchFamily="18" charset="0"/>
                                    </a:rPr>
                                  </m:ctrlPr>
                                </m:accPr>
                                <m:e>
                                  <m:r>
                                    <a:rPr lang="en-IN" sz="1300" b="0" i="1" smtClean="0">
                                      <a:latin typeface="Cambria Math" panose="02040503050406030204" pitchFamily="18" charset="0"/>
                                      <a:ea typeface="Cambria Math" panose="02040503050406030204" pitchFamily="18" charset="0"/>
                                    </a:rPr>
                                    <m:t>𝑥</m:t>
                                  </m:r>
                                  <m:r>
                                    <a:rPr lang="en-IN" sz="1300" b="0" i="1" baseline="-25000" smtClean="0">
                                      <a:latin typeface="Cambria Math" panose="02040503050406030204" pitchFamily="18" charset="0"/>
                                      <a:ea typeface="Cambria Math" panose="02040503050406030204" pitchFamily="18" charset="0"/>
                                    </a:rPr>
                                    <m:t>𝑖</m:t>
                                  </m:r>
                                </m:e>
                              </m:acc>
                            </m:num>
                            <m:den>
                              <m:r>
                                <a:rPr lang="en-IN" sz="1300" b="0" i="1" smtClean="0">
                                  <a:latin typeface="Cambria Math" panose="02040503050406030204" pitchFamily="18" charset="0"/>
                                </a:rPr>
                                <m:t>𝑥</m:t>
                              </m:r>
                              <m:r>
                                <a:rPr lang="en-IN" sz="1300" b="0" i="1" baseline="-25000" smtClean="0">
                                  <a:latin typeface="Cambria Math" panose="02040503050406030204" pitchFamily="18" charset="0"/>
                                </a:rPr>
                                <m:t>𝑖</m:t>
                              </m:r>
                            </m:den>
                          </m:f>
                          <m:r>
                            <a:rPr lang="en-IN" sz="1300" b="0" i="1" smtClean="0">
                              <a:latin typeface="Cambria Math" panose="02040503050406030204" pitchFamily="18" charset="0"/>
                            </a:rPr>
                            <m:t>|</m:t>
                          </m:r>
                        </m:e>
                      </m:nary>
                    </m:oMath>
                  </m:oMathPara>
                </a14:m>
                <a:endParaRPr lang="en-IN" sz="1300" b="0" dirty="0">
                  <a:ea typeface="Cambria Math" panose="02040503050406030204" pitchFamily="18" charset="0"/>
                </a:endParaRPr>
              </a:p>
            </p:txBody>
          </p:sp>
        </mc:Choice>
        <mc:Fallback>
          <p:sp>
            <p:nvSpPr>
              <p:cNvPr id="6" name="Content Placeholder 5">
                <a:extLst>
                  <a:ext uri="{FF2B5EF4-FFF2-40B4-BE49-F238E27FC236}">
                    <a16:creationId xmlns:a16="http://schemas.microsoft.com/office/drawing/2014/main" id="{038B642D-7A3D-FEC6-753C-746BDAC6CD15}"/>
                  </a:ext>
                </a:extLst>
              </p:cNvPr>
              <p:cNvSpPr>
                <a:spLocks noGrp="1" noRot="1" noChangeAspect="1" noMove="1" noResize="1" noEditPoints="1" noAdjustHandles="1" noChangeArrowheads="1" noChangeShapeType="1" noTextEdit="1"/>
              </p:cNvSpPr>
              <p:nvPr>
                <p:ph sz="quarter" idx="4"/>
              </p:nvPr>
            </p:nvSpPr>
            <p:spPr>
              <a:blipFill>
                <a:blip r:embed="rId4"/>
                <a:stretch>
                  <a:fillRect l="-118" t="-662" r="-118" b="-20695"/>
                </a:stretch>
              </a:blipFill>
            </p:spPr>
            <p:txBody>
              <a:bodyPr/>
              <a:lstStyle/>
              <a:p>
                <a:r>
                  <a:rPr lang="en-IN">
                    <a:noFill/>
                  </a:rPr>
                  <a:t> </a:t>
                </a:r>
              </a:p>
            </p:txBody>
          </p:sp>
        </mc:Fallback>
      </mc:AlternateContent>
      <p:sp>
        <p:nvSpPr>
          <p:cNvPr id="7" name="Footer Placeholder 6">
            <a:extLst>
              <a:ext uri="{FF2B5EF4-FFF2-40B4-BE49-F238E27FC236}">
                <a16:creationId xmlns:a16="http://schemas.microsoft.com/office/drawing/2014/main" id="{7E817CF5-30C7-C762-FE92-A0B3B8C58FCB}"/>
              </a:ext>
            </a:extLst>
          </p:cNvPr>
          <p:cNvSpPr>
            <a:spLocks noGrp="1"/>
          </p:cNvSpPr>
          <p:nvPr>
            <p:ph type="ftr" sz="quarter" idx="11"/>
          </p:nvPr>
        </p:nvSpPr>
        <p:spPr/>
        <p:txBody>
          <a:bodyPr/>
          <a:lstStyle/>
          <a:p>
            <a:r>
              <a:rPr lang="en-IN"/>
              <a:t>Dissertation S2-24 AIMLCZG628T</a:t>
            </a:r>
          </a:p>
        </p:txBody>
      </p:sp>
      <p:sp>
        <p:nvSpPr>
          <p:cNvPr id="8" name="Slide Number Placeholder 7">
            <a:extLst>
              <a:ext uri="{FF2B5EF4-FFF2-40B4-BE49-F238E27FC236}">
                <a16:creationId xmlns:a16="http://schemas.microsoft.com/office/drawing/2014/main" id="{B45ADF19-2AB3-E7D9-AD0A-E2E89CD7D36F}"/>
              </a:ext>
            </a:extLst>
          </p:cNvPr>
          <p:cNvSpPr>
            <a:spLocks noGrp="1"/>
          </p:cNvSpPr>
          <p:nvPr>
            <p:ph type="sldNum" sz="quarter" idx="12"/>
          </p:nvPr>
        </p:nvSpPr>
        <p:spPr/>
        <p:txBody>
          <a:bodyPr/>
          <a:lstStyle/>
          <a:p>
            <a:fld id="{0541023B-0DCA-4467-9EB4-7DB5EBA0C709}" type="slidenum">
              <a:rPr lang="en-IN" smtClean="0"/>
              <a:t>10</a:t>
            </a:fld>
            <a:endParaRPr lang="en-IN"/>
          </a:p>
        </p:txBody>
      </p:sp>
    </p:spTree>
    <p:extLst>
      <p:ext uri="{BB962C8B-B14F-4D97-AF65-F5344CB8AC3E}">
        <p14:creationId xmlns:p14="http://schemas.microsoft.com/office/powerpoint/2010/main" val="1488608388"/>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C1165-8866-9EA4-97D0-89A5FD144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6AF952-6583-87A6-867E-3FB1821918E1}"/>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Performance Metrices (contd.)</a:t>
            </a:r>
            <a:endParaRPr lang="en-IN" dirty="0"/>
          </a:p>
        </p:txBody>
      </p:sp>
      <p:sp>
        <p:nvSpPr>
          <p:cNvPr id="3" name="Text Placeholder 2">
            <a:extLst>
              <a:ext uri="{FF2B5EF4-FFF2-40B4-BE49-F238E27FC236}">
                <a16:creationId xmlns:a16="http://schemas.microsoft.com/office/drawing/2014/main" id="{AF343572-9798-A015-4533-F3455AF1C3F9}"/>
              </a:ext>
            </a:extLst>
          </p:cNvPr>
          <p:cNvSpPr>
            <a:spLocks noGrp="1"/>
          </p:cNvSpPr>
          <p:nvPr>
            <p:ph type="body" idx="1"/>
          </p:nvPr>
        </p:nvSpPr>
        <p:spPr/>
        <p:txBody>
          <a:bodyPr/>
          <a:lstStyle/>
          <a:p>
            <a:r>
              <a:rPr lang="en-IN" dirty="0"/>
              <a:t>ROC-AUC</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506EF340-BBF5-C4C6-654E-13070E5B109A}"/>
                  </a:ext>
                </a:extLst>
              </p:cNvPr>
              <p:cNvSpPr>
                <a:spLocks noGrp="1"/>
              </p:cNvSpPr>
              <p:nvPr>
                <p:ph sz="half" idx="2"/>
              </p:nvPr>
            </p:nvSpPr>
            <p:spPr/>
            <p:txBody>
              <a:bodyPr>
                <a:noAutofit/>
              </a:bodyPr>
              <a:lstStyle/>
              <a:p>
                <a:r>
                  <a:rPr lang="en-US" sz="1600" b="1" dirty="0"/>
                  <a:t>Receiver Operating Characteristic (ROC) curve</a:t>
                </a:r>
                <a:r>
                  <a:rPr lang="en-US" sz="1600" dirty="0"/>
                  <a:t> – A graphical representation of the performance of a binary classification model, displaying the trade-off between the true positive rate (sensitivity) and the false positive rate (1-specificity) for different classification thresholds.</a:t>
                </a:r>
              </a:p>
              <a:p>
                <a:endParaRPr lang="en-IN" sz="16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600" b="0" i="1" smtClean="0">
                          <a:latin typeface="Cambria Math" panose="02040503050406030204" pitchFamily="18" charset="0"/>
                        </a:rPr>
                        <m:t>𝑇𝑃𝑅</m:t>
                      </m:r>
                      <m:r>
                        <a:rPr lang="en-IN" sz="1600" b="0" i="1" smtClean="0">
                          <a:latin typeface="Cambria Math" panose="02040503050406030204" pitchFamily="18" charset="0"/>
                        </a:rPr>
                        <m:t>=</m:t>
                      </m:r>
                      <m:f>
                        <m:fPr>
                          <m:ctrlPr>
                            <a:rPr lang="en-IN" sz="1600" b="0" i="1" smtClean="0">
                              <a:latin typeface="Cambria Math" panose="02040503050406030204" pitchFamily="18" charset="0"/>
                            </a:rPr>
                          </m:ctrlPr>
                        </m:fPr>
                        <m:num>
                          <m:r>
                            <a:rPr lang="en-IN" sz="1600" b="0" i="1" smtClean="0">
                              <a:latin typeface="Cambria Math" panose="02040503050406030204" pitchFamily="18" charset="0"/>
                            </a:rPr>
                            <m:t>𝑇𝑃</m:t>
                          </m:r>
                        </m:num>
                        <m:den>
                          <m:r>
                            <a:rPr lang="en-IN" sz="1600" b="0" i="1" smtClean="0">
                              <a:latin typeface="Cambria Math" panose="02040503050406030204" pitchFamily="18" charset="0"/>
                            </a:rPr>
                            <m:t>𝑇𝑃</m:t>
                          </m:r>
                          <m:r>
                            <a:rPr lang="en-IN" sz="1600" b="0" i="1" smtClean="0">
                              <a:latin typeface="Cambria Math" panose="02040503050406030204" pitchFamily="18" charset="0"/>
                            </a:rPr>
                            <m:t>+</m:t>
                          </m:r>
                          <m:r>
                            <a:rPr lang="en-IN" sz="1600" b="0" i="1" smtClean="0">
                              <a:latin typeface="Cambria Math" panose="02040503050406030204" pitchFamily="18" charset="0"/>
                            </a:rPr>
                            <m:t>𝐹𝑁</m:t>
                          </m:r>
                        </m:den>
                      </m:f>
                    </m:oMath>
                  </m:oMathPara>
                </a14:m>
                <a:endParaRPr lang="en-IN" sz="1600" b="0" dirty="0"/>
              </a:p>
              <a:p>
                <a:pPr marL="0" indent="0">
                  <a:buNone/>
                </a:pPr>
                <a:endParaRPr lang="en-IN" sz="16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600" b="0" i="1" smtClean="0">
                          <a:latin typeface="Cambria Math" panose="02040503050406030204" pitchFamily="18" charset="0"/>
                        </a:rPr>
                        <m:t>𝐹𝑃𝑅</m:t>
                      </m:r>
                      <m:r>
                        <a:rPr lang="en-IN" sz="1600" b="0" i="1" smtClean="0">
                          <a:latin typeface="Cambria Math" panose="02040503050406030204" pitchFamily="18" charset="0"/>
                        </a:rPr>
                        <m:t>=</m:t>
                      </m:r>
                      <m:f>
                        <m:fPr>
                          <m:ctrlPr>
                            <a:rPr lang="en-IN" sz="1600" b="0" i="1" smtClean="0">
                              <a:latin typeface="Cambria Math" panose="02040503050406030204" pitchFamily="18" charset="0"/>
                            </a:rPr>
                          </m:ctrlPr>
                        </m:fPr>
                        <m:num>
                          <m:r>
                            <a:rPr lang="en-IN" sz="1600" b="0" i="1" smtClean="0">
                              <a:latin typeface="Cambria Math" panose="02040503050406030204" pitchFamily="18" charset="0"/>
                            </a:rPr>
                            <m:t>𝐹𝑃</m:t>
                          </m:r>
                        </m:num>
                        <m:den>
                          <m:r>
                            <a:rPr lang="en-IN" sz="1600" b="0" i="1" smtClean="0">
                              <a:latin typeface="Cambria Math" panose="02040503050406030204" pitchFamily="18" charset="0"/>
                            </a:rPr>
                            <m:t>𝐹𝑃</m:t>
                          </m:r>
                          <m:r>
                            <a:rPr lang="en-IN" sz="1600" b="0" i="1" smtClean="0">
                              <a:latin typeface="Cambria Math" panose="02040503050406030204" pitchFamily="18" charset="0"/>
                            </a:rPr>
                            <m:t>+</m:t>
                          </m:r>
                          <m:r>
                            <a:rPr lang="en-IN" sz="1600" b="0" i="1" smtClean="0">
                              <a:latin typeface="Cambria Math" panose="02040503050406030204" pitchFamily="18" charset="0"/>
                            </a:rPr>
                            <m:t>𝑇𝑁</m:t>
                          </m:r>
                        </m:den>
                      </m:f>
                    </m:oMath>
                  </m:oMathPara>
                </a14:m>
                <a:endParaRPr lang="en-IN" sz="1600" b="0" dirty="0"/>
              </a:p>
            </p:txBody>
          </p:sp>
        </mc:Choice>
        <mc:Fallback>
          <p:sp>
            <p:nvSpPr>
              <p:cNvPr id="4" name="Content Placeholder 3">
                <a:extLst>
                  <a:ext uri="{FF2B5EF4-FFF2-40B4-BE49-F238E27FC236}">
                    <a16:creationId xmlns:a16="http://schemas.microsoft.com/office/drawing/2014/main" id="{506EF340-BBF5-C4C6-654E-13070E5B109A}"/>
                  </a:ext>
                </a:extLst>
              </p:cNvPr>
              <p:cNvSpPr>
                <a:spLocks noGrp="1" noRot="1" noChangeAspect="1" noMove="1" noResize="1" noEditPoints="1" noAdjustHandles="1" noChangeArrowheads="1" noChangeShapeType="1" noTextEdit="1"/>
              </p:cNvSpPr>
              <p:nvPr>
                <p:ph sz="half" idx="2"/>
              </p:nvPr>
            </p:nvSpPr>
            <p:spPr>
              <a:blipFill>
                <a:blip r:embed="rId3"/>
                <a:stretch>
                  <a:fillRect l="-473" t="-1159" r="-1182"/>
                </a:stretch>
              </a:blipFill>
            </p:spPr>
            <p:txBody>
              <a:bodyPr/>
              <a:lstStyle/>
              <a:p>
                <a:r>
                  <a:rPr lang="en-IN">
                    <a:noFill/>
                  </a:rPr>
                  <a:t> </a:t>
                </a:r>
              </a:p>
            </p:txBody>
          </p:sp>
        </mc:Fallback>
      </mc:AlternateContent>
      <p:sp>
        <p:nvSpPr>
          <p:cNvPr id="5" name="Text Placeholder 4">
            <a:extLst>
              <a:ext uri="{FF2B5EF4-FFF2-40B4-BE49-F238E27FC236}">
                <a16:creationId xmlns:a16="http://schemas.microsoft.com/office/drawing/2014/main" id="{930FFD12-D770-3879-174B-566533D60C2F}"/>
              </a:ext>
            </a:extLst>
          </p:cNvPr>
          <p:cNvSpPr>
            <a:spLocks noGrp="1"/>
          </p:cNvSpPr>
          <p:nvPr>
            <p:ph type="body" sz="quarter" idx="3"/>
          </p:nvPr>
        </p:nvSpPr>
        <p:spPr/>
        <p:txBody>
          <a:bodyPr/>
          <a:lstStyle/>
          <a:p>
            <a:r>
              <a:rPr lang="en-IN" dirty="0"/>
              <a:t>PR-AUC</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7AA9B734-0D8F-504C-3475-D6D3809F7DB8}"/>
                  </a:ext>
                </a:extLst>
              </p:cNvPr>
              <p:cNvSpPr>
                <a:spLocks noGrp="1"/>
              </p:cNvSpPr>
              <p:nvPr>
                <p:ph sz="quarter" idx="4"/>
              </p:nvPr>
            </p:nvSpPr>
            <p:spPr/>
            <p:txBody>
              <a:bodyPr>
                <a:noAutofit/>
              </a:bodyPr>
              <a:lstStyle/>
              <a:p>
                <a:r>
                  <a:rPr lang="en-US" sz="1600" b="1" dirty="0"/>
                  <a:t>Precision Recall (PR) curve</a:t>
                </a:r>
                <a:r>
                  <a:rPr lang="en-US" sz="1600" dirty="0"/>
                  <a:t> – A graphical representation of a binary classification model's performance, specifically illustrating the trade-off between precision and recall at different classification thresholds.</a:t>
                </a:r>
              </a:p>
              <a:p>
                <a:endParaRPr lang="en-IN" sz="16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600" i="1">
                          <a:latin typeface="Cambria Math" panose="02040503050406030204" pitchFamily="18" charset="0"/>
                        </a:rPr>
                        <m:t>𝑅𝑒𝑐𝑎𝑙𝑙</m:t>
                      </m:r>
                      <m:r>
                        <a:rPr lang="en-IN" sz="1600" i="1">
                          <a:latin typeface="Cambria Math" panose="02040503050406030204" pitchFamily="18" charset="0"/>
                        </a:rPr>
                        <m:t>=</m:t>
                      </m:r>
                      <m:f>
                        <m:fPr>
                          <m:ctrlPr>
                            <a:rPr lang="en-IN" sz="1600" i="1">
                              <a:latin typeface="Cambria Math" panose="02040503050406030204" pitchFamily="18" charset="0"/>
                            </a:rPr>
                          </m:ctrlPr>
                        </m:fPr>
                        <m:num>
                          <m:r>
                            <a:rPr lang="en-IN" sz="1600" i="1">
                              <a:latin typeface="Cambria Math" panose="02040503050406030204" pitchFamily="18" charset="0"/>
                            </a:rPr>
                            <m:t>𝑇𝑃</m:t>
                          </m:r>
                        </m:num>
                        <m:den>
                          <m:r>
                            <a:rPr lang="en-IN" sz="1600" i="1">
                              <a:latin typeface="Cambria Math" panose="02040503050406030204" pitchFamily="18" charset="0"/>
                            </a:rPr>
                            <m:t>𝑇𝑃</m:t>
                          </m:r>
                          <m:r>
                            <a:rPr lang="en-IN" sz="1600" i="1">
                              <a:latin typeface="Cambria Math" panose="02040503050406030204" pitchFamily="18" charset="0"/>
                            </a:rPr>
                            <m:t>+</m:t>
                          </m:r>
                          <m:r>
                            <a:rPr lang="en-IN" sz="1600" i="1">
                              <a:latin typeface="Cambria Math" panose="02040503050406030204" pitchFamily="18" charset="0"/>
                            </a:rPr>
                            <m:t>𝐹𝑁</m:t>
                          </m:r>
                        </m:den>
                      </m:f>
                    </m:oMath>
                  </m:oMathPara>
                </a14:m>
                <a:endParaRPr lang="en-IN" sz="1600" i="1" dirty="0">
                  <a:latin typeface="Cambria Math" panose="02040503050406030204" pitchFamily="18" charset="0"/>
                </a:endParaRPr>
              </a:p>
              <a:p>
                <a:pPr marL="0" indent="0">
                  <a:buNone/>
                </a:pPr>
                <a:endParaRPr lang="en-IN" sz="16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sz="1600" i="1">
                          <a:latin typeface="Cambria Math" panose="02040503050406030204" pitchFamily="18" charset="0"/>
                        </a:rPr>
                        <m:t>𝑃𝑟𝑒𝑐𝑖𝑠𝑖𝑜𝑛</m:t>
                      </m:r>
                      <m:r>
                        <a:rPr lang="en-IN" sz="1600" i="1">
                          <a:latin typeface="Cambria Math" panose="02040503050406030204" pitchFamily="18" charset="0"/>
                        </a:rPr>
                        <m:t>=</m:t>
                      </m:r>
                      <m:f>
                        <m:fPr>
                          <m:ctrlPr>
                            <a:rPr lang="en-IN" sz="1600" i="1">
                              <a:latin typeface="Cambria Math" panose="02040503050406030204" pitchFamily="18" charset="0"/>
                            </a:rPr>
                          </m:ctrlPr>
                        </m:fPr>
                        <m:num>
                          <m:r>
                            <a:rPr lang="en-IN" sz="1600" i="1">
                              <a:latin typeface="Cambria Math" panose="02040503050406030204" pitchFamily="18" charset="0"/>
                            </a:rPr>
                            <m:t>𝑇𝑃</m:t>
                          </m:r>
                        </m:num>
                        <m:den>
                          <m:r>
                            <a:rPr lang="en-IN" sz="1600" i="1">
                              <a:latin typeface="Cambria Math" panose="02040503050406030204" pitchFamily="18" charset="0"/>
                            </a:rPr>
                            <m:t>𝑇𝑃</m:t>
                          </m:r>
                          <m:r>
                            <a:rPr lang="en-IN" sz="1600" i="1">
                              <a:latin typeface="Cambria Math" panose="02040503050406030204" pitchFamily="18" charset="0"/>
                            </a:rPr>
                            <m:t>+</m:t>
                          </m:r>
                          <m:r>
                            <a:rPr lang="en-IN" sz="1600" i="1">
                              <a:latin typeface="Cambria Math" panose="02040503050406030204" pitchFamily="18" charset="0"/>
                            </a:rPr>
                            <m:t>𝐹𝑃</m:t>
                          </m:r>
                        </m:den>
                      </m:f>
                    </m:oMath>
                  </m:oMathPara>
                </a14:m>
                <a:endParaRPr lang="en-US" sz="1600" dirty="0"/>
              </a:p>
            </p:txBody>
          </p:sp>
        </mc:Choice>
        <mc:Fallback>
          <p:sp>
            <p:nvSpPr>
              <p:cNvPr id="6" name="Content Placeholder 5">
                <a:extLst>
                  <a:ext uri="{FF2B5EF4-FFF2-40B4-BE49-F238E27FC236}">
                    <a16:creationId xmlns:a16="http://schemas.microsoft.com/office/drawing/2014/main" id="{7AA9B734-0D8F-504C-3475-D6D3809F7DB8}"/>
                  </a:ext>
                </a:extLst>
              </p:cNvPr>
              <p:cNvSpPr>
                <a:spLocks noGrp="1" noRot="1" noChangeAspect="1" noMove="1" noResize="1" noEditPoints="1" noAdjustHandles="1" noChangeArrowheads="1" noChangeShapeType="1" noTextEdit="1"/>
              </p:cNvSpPr>
              <p:nvPr>
                <p:ph sz="quarter" idx="4"/>
              </p:nvPr>
            </p:nvSpPr>
            <p:spPr>
              <a:blipFill>
                <a:blip r:embed="rId4"/>
                <a:stretch>
                  <a:fillRect l="-471" t="-1159"/>
                </a:stretch>
              </a:blipFill>
            </p:spPr>
            <p:txBody>
              <a:bodyPr/>
              <a:lstStyle/>
              <a:p>
                <a:r>
                  <a:rPr lang="en-IN">
                    <a:noFill/>
                  </a:rPr>
                  <a:t> </a:t>
                </a:r>
              </a:p>
            </p:txBody>
          </p:sp>
        </mc:Fallback>
      </mc:AlternateContent>
      <p:sp>
        <p:nvSpPr>
          <p:cNvPr id="7" name="Footer Placeholder 6">
            <a:extLst>
              <a:ext uri="{FF2B5EF4-FFF2-40B4-BE49-F238E27FC236}">
                <a16:creationId xmlns:a16="http://schemas.microsoft.com/office/drawing/2014/main" id="{CEDB267B-9545-F3CA-AB6F-D7CBAE0831BE}"/>
              </a:ext>
            </a:extLst>
          </p:cNvPr>
          <p:cNvSpPr>
            <a:spLocks noGrp="1"/>
          </p:cNvSpPr>
          <p:nvPr>
            <p:ph type="ftr" sz="quarter" idx="11"/>
          </p:nvPr>
        </p:nvSpPr>
        <p:spPr/>
        <p:txBody>
          <a:bodyPr/>
          <a:lstStyle/>
          <a:p>
            <a:r>
              <a:rPr lang="en-IN"/>
              <a:t>Dissertation S2-24 AIMLCZG628T</a:t>
            </a:r>
          </a:p>
        </p:txBody>
      </p:sp>
      <p:sp>
        <p:nvSpPr>
          <p:cNvPr id="8" name="Slide Number Placeholder 7">
            <a:extLst>
              <a:ext uri="{FF2B5EF4-FFF2-40B4-BE49-F238E27FC236}">
                <a16:creationId xmlns:a16="http://schemas.microsoft.com/office/drawing/2014/main" id="{97C7FE95-9701-A4E3-48E7-F10642FB689B}"/>
              </a:ext>
            </a:extLst>
          </p:cNvPr>
          <p:cNvSpPr>
            <a:spLocks noGrp="1"/>
          </p:cNvSpPr>
          <p:nvPr>
            <p:ph type="sldNum" sz="quarter" idx="12"/>
          </p:nvPr>
        </p:nvSpPr>
        <p:spPr/>
        <p:txBody>
          <a:bodyPr/>
          <a:lstStyle/>
          <a:p>
            <a:fld id="{0541023B-0DCA-4467-9EB4-7DB5EBA0C709}" type="slidenum">
              <a:rPr lang="en-IN" smtClean="0"/>
              <a:t>11</a:t>
            </a:fld>
            <a:endParaRPr lang="en-IN"/>
          </a:p>
        </p:txBody>
      </p:sp>
    </p:spTree>
    <p:extLst>
      <p:ext uri="{BB962C8B-B14F-4D97-AF65-F5344CB8AC3E}">
        <p14:creationId xmlns:p14="http://schemas.microsoft.com/office/powerpoint/2010/main" val="183500257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5DB8D-ACD3-4954-917C-71EE98596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04F80-4862-B9C8-F6A9-8A5C2306396B}"/>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Learning Paradigms</a:t>
            </a:r>
            <a:endParaRPr lang="en-IN" dirty="0"/>
          </a:p>
        </p:txBody>
      </p:sp>
      <p:sp>
        <p:nvSpPr>
          <p:cNvPr id="3" name="Text Placeholder 2">
            <a:extLst>
              <a:ext uri="{FF2B5EF4-FFF2-40B4-BE49-F238E27FC236}">
                <a16:creationId xmlns:a16="http://schemas.microsoft.com/office/drawing/2014/main" id="{17AB62C7-C55A-0954-0D01-151935618F07}"/>
              </a:ext>
            </a:extLst>
          </p:cNvPr>
          <p:cNvSpPr>
            <a:spLocks noGrp="1"/>
          </p:cNvSpPr>
          <p:nvPr>
            <p:ph type="body" idx="1"/>
          </p:nvPr>
        </p:nvSpPr>
        <p:spPr/>
        <p:txBody>
          <a:bodyPr/>
          <a:lstStyle/>
          <a:p>
            <a:r>
              <a:rPr lang="en-IN" dirty="0"/>
              <a:t>Supervised Learning</a:t>
            </a:r>
          </a:p>
        </p:txBody>
      </p:sp>
      <p:sp>
        <p:nvSpPr>
          <p:cNvPr id="4" name="Content Placeholder 3">
            <a:extLst>
              <a:ext uri="{FF2B5EF4-FFF2-40B4-BE49-F238E27FC236}">
                <a16:creationId xmlns:a16="http://schemas.microsoft.com/office/drawing/2014/main" id="{C75450C4-EA0A-B74E-5330-A4258D410624}"/>
              </a:ext>
            </a:extLst>
          </p:cNvPr>
          <p:cNvSpPr>
            <a:spLocks noGrp="1"/>
          </p:cNvSpPr>
          <p:nvPr>
            <p:ph sz="half" idx="2"/>
          </p:nvPr>
        </p:nvSpPr>
        <p:spPr/>
        <p:txBody>
          <a:bodyPr>
            <a:normAutofit/>
          </a:bodyPr>
          <a:lstStyle/>
          <a:p>
            <a:r>
              <a:rPr lang="en-US" sz="1600" dirty="0"/>
              <a:t>Supervised learning is a type of machine learning where the algorithm learns from labelled examples.</a:t>
            </a:r>
          </a:p>
          <a:p>
            <a:r>
              <a:rPr lang="en-US" sz="1600" dirty="0"/>
              <a:t>Supervised models performs regression or classification tasks on new, unseen data. </a:t>
            </a:r>
          </a:p>
          <a:p>
            <a:r>
              <a:rPr lang="en-US" sz="1600" dirty="0"/>
              <a:t>In the context of deep neural networks, it involves training a model using input-output pairs, where the inputs are the features or attributes of the data, and the outputs are the corresponding labels or target values. </a:t>
            </a:r>
          </a:p>
          <a:p>
            <a:r>
              <a:rPr lang="en-US" sz="1600" dirty="0"/>
              <a:t>The goal is to teach a function f(x) that maps the input features to the correct output labels.</a:t>
            </a:r>
            <a:endParaRPr lang="en-IN" sz="1600" dirty="0"/>
          </a:p>
        </p:txBody>
      </p:sp>
      <p:sp>
        <p:nvSpPr>
          <p:cNvPr id="5" name="Text Placeholder 4">
            <a:extLst>
              <a:ext uri="{FF2B5EF4-FFF2-40B4-BE49-F238E27FC236}">
                <a16:creationId xmlns:a16="http://schemas.microsoft.com/office/drawing/2014/main" id="{537DB434-3750-6504-F8E4-1AD49D4EE8E1}"/>
              </a:ext>
            </a:extLst>
          </p:cNvPr>
          <p:cNvSpPr>
            <a:spLocks noGrp="1"/>
          </p:cNvSpPr>
          <p:nvPr>
            <p:ph type="body" sz="quarter" idx="3"/>
          </p:nvPr>
        </p:nvSpPr>
        <p:spPr/>
        <p:txBody>
          <a:bodyPr/>
          <a:lstStyle/>
          <a:p>
            <a:r>
              <a:rPr lang="en-IN" dirty="0"/>
              <a:t>Unsupervised Learning</a:t>
            </a:r>
          </a:p>
        </p:txBody>
      </p:sp>
      <p:sp>
        <p:nvSpPr>
          <p:cNvPr id="6" name="Content Placeholder 5">
            <a:extLst>
              <a:ext uri="{FF2B5EF4-FFF2-40B4-BE49-F238E27FC236}">
                <a16:creationId xmlns:a16="http://schemas.microsoft.com/office/drawing/2014/main" id="{5A9E4DBC-5A72-A64E-25C1-E5AB6B29A017}"/>
              </a:ext>
            </a:extLst>
          </p:cNvPr>
          <p:cNvSpPr>
            <a:spLocks noGrp="1"/>
          </p:cNvSpPr>
          <p:nvPr>
            <p:ph sz="quarter" idx="4"/>
          </p:nvPr>
        </p:nvSpPr>
        <p:spPr/>
        <p:txBody>
          <a:bodyPr>
            <a:noAutofit/>
          </a:bodyPr>
          <a:lstStyle/>
          <a:p>
            <a:r>
              <a:rPr lang="en-US" sz="1600" dirty="0"/>
              <a:t>Unsupervised learning is a type of machine learning where the algorithm learns patterns or structures in the input data without explicit labels or target values.</a:t>
            </a:r>
          </a:p>
          <a:p>
            <a:r>
              <a:rPr lang="en-US" sz="1600" dirty="0"/>
              <a:t>Unlike supervised learning, it does not rely on explicit labels or target values. Instead, it focuses on finding patterns or organizing the data to capture meaningful information without specific guidance.</a:t>
            </a:r>
            <a:endParaRPr lang="en-IN" sz="1600" dirty="0"/>
          </a:p>
          <a:p>
            <a:r>
              <a:rPr lang="en-US" sz="1600" dirty="0"/>
              <a:t>In the context of deep neural networks, it is often used for clustering, dimensionality reduction, or generative modelling tasks.</a:t>
            </a:r>
          </a:p>
          <a:p>
            <a:r>
              <a:rPr lang="en-US" sz="1600" dirty="0"/>
              <a:t>The goal is to discover inherent structures, relationships, or representations within the data.</a:t>
            </a:r>
            <a:endParaRPr lang="en-IN" sz="1600" dirty="0"/>
          </a:p>
          <a:p>
            <a:endParaRPr lang="en-IN" sz="1800" dirty="0"/>
          </a:p>
        </p:txBody>
      </p:sp>
      <p:sp>
        <p:nvSpPr>
          <p:cNvPr id="7" name="Footer Placeholder 6">
            <a:extLst>
              <a:ext uri="{FF2B5EF4-FFF2-40B4-BE49-F238E27FC236}">
                <a16:creationId xmlns:a16="http://schemas.microsoft.com/office/drawing/2014/main" id="{B2A5FBC7-FA14-CC14-5E9F-7A0DDBB94DE3}"/>
              </a:ext>
            </a:extLst>
          </p:cNvPr>
          <p:cNvSpPr>
            <a:spLocks noGrp="1"/>
          </p:cNvSpPr>
          <p:nvPr>
            <p:ph type="ftr" sz="quarter" idx="11"/>
          </p:nvPr>
        </p:nvSpPr>
        <p:spPr/>
        <p:txBody>
          <a:bodyPr/>
          <a:lstStyle/>
          <a:p>
            <a:r>
              <a:rPr lang="en-IN"/>
              <a:t>Dissertation S2-24 AIMLCZG628T</a:t>
            </a:r>
          </a:p>
        </p:txBody>
      </p:sp>
      <p:sp>
        <p:nvSpPr>
          <p:cNvPr id="8" name="Slide Number Placeholder 7">
            <a:extLst>
              <a:ext uri="{FF2B5EF4-FFF2-40B4-BE49-F238E27FC236}">
                <a16:creationId xmlns:a16="http://schemas.microsoft.com/office/drawing/2014/main" id="{B4FB0839-7584-8379-1C4D-C47E700B8395}"/>
              </a:ext>
            </a:extLst>
          </p:cNvPr>
          <p:cNvSpPr>
            <a:spLocks noGrp="1"/>
          </p:cNvSpPr>
          <p:nvPr>
            <p:ph type="sldNum" sz="quarter" idx="12"/>
          </p:nvPr>
        </p:nvSpPr>
        <p:spPr/>
        <p:txBody>
          <a:bodyPr/>
          <a:lstStyle/>
          <a:p>
            <a:fld id="{0541023B-0DCA-4467-9EB4-7DB5EBA0C709}" type="slidenum">
              <a:rPr lang="en-IN" smtClean="0"/>
              <a:t>12</a:t>
            </a:fld>
            <a:endParaRPr lang="en-IN"/>
          </a:p>
        </p:txBody>
      </p:sp>
    </p:spTree>
    <p:extLst>
      <p:ext uri="{BB962C8B-B14F-4D97-AF65-F5344CB8AC3E}">
        <p14:creationId xmlns:p14="http://schemas.microsoft.com/office/powerpoint/2010/main" val="2235956600"/>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9C4F0-D075-35B7-A1FE-3C1538AECEDD}"/>
              </a:ext>
            </a:extLst>
          </p:cNvPr>
          <p:cNvSpPr>
            <a:spLocks noGrp="1"/>
          </p:cNvSpPr>
          <p:nvPr>
            <p:ph type="title"/>
          </p:nvPr>
        </p:nvSpPr>
        <p:spPr/>
        <p:txBody>
          <a:bodyPr/>
          <a:lstStyle/>
          <a:p>
            <a:r>
              <a:rPr lang="en-IN" dirty="0"/>
              <a:t>Solution Plan</a:t>
            </a:r>
          </a:p>
        </p:txBody>
      </p:sp>
      <p:sp>
        <p:nvSpPr>
          <p:cNvPr id="4" name="Footer Placeholder 3">
            <a:extLst>
              <a:ext uri="{FF2B5EF4-FFF2-40B4-BE49-F238E27FC236}">
                <a16:creationId xmlns:a16="http://schemas.microsoft.com/office/drawing/2014/main" id="{C92D2DA3-36EC-9FBB-9B84-9608931EEB42}"/>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DA473BFB-5F44-9FE6-827A-38F24FC776F0}"/>
              </a:ext>
            </a:extLst>
          </p:cNvPr>
          <p:cNvSpPr>
            <a:spLocks noGrp="1"/>
          </p:cNvSpPr>
          <p:nvPr>
            <p:ph type="sldNum" sz="quarter" idx="12"/>
          </p:nvPr>
        </p:nvSpPr>
        <p:spPr/>
        <p:txBody>
          <a:bodyPr/>
          <a:lstStyle/>
          <a:p>
            <a:fld id="{0541023B-0DCA-4467-9EB4-7DB5EBA0C709}" type="slidenum">
              <a:rPr lang="en-IN" smtClean="0"/>
              <a:t>13</a:t>
            </a:fld>
            <a:endParaRPr lang="en-IN"/>
          </a:p>
        </p:txBody>
      </p:sp>
    </p:spTree>
    <p:extLst>
      <p:ext uri="{BB962C8B-B14F-4D97-AF65-F5344CB8AC3E}">
        <p14:creationId xmlns:p14="http://schemas.microsoft.com/office/powerpoint/2010/main" val="7616564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A4AF3-D13E-5F07-8EDC-02F397CD5116}"/>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Dissertation Workflow</a:t>
            </a:r>
          </a:p>
        </p:txBody>
      </p:sp>
      <p:sp>
        <p:nvSpPr>
          <p:cNvPr id="4" name="Footer Placeholder 3">
            <a:extLst>
              <a:ext uri="{FF2B5EF4-FFF2-40B4-BE49-F238E27FC236}">
                <a16:creationId xmlns:a16="http://schemas.microsoft.com/office/drawing/2014/main" id="{51A9830B-C498-187F-8864-CB488A368743}"/>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4FB3A652-E9FC-26B1-02B3-B2150C606B09}"/>
              </a:ext>
            </a:extLst>
          </p:cNvPr>
          <p:cNvSpPr>
            <a:spLocks noGrp="1"/>
          </p:cNvSpPr>
          <p:nvPr>
            <p:ph type="sldNum" sz="quarter" idx="12"/>
          </p:nvPr>
        </p:nvSpPr>
        <p:spPr/>
        <p:txBody>
          <a:bodyPr/>
          <a:lstStyle/>
          <a:p>
            <a:fld id="{0541023B-0DCA-4467-9EB4-7DB5EBA0C709}" type="slidenum">
              <a:rPr lang="en-IN" smtClean="0"/>
              <a:t>14</a:t>
            </a:fld>
            <a:endParaRPr lang="en-IN"/>
          </a:p>
        </p:txBody>
      </p:sp>
      <p:sp>
        <p:nvSpPr>
          <p:cNvPr id="20" name="Rectangle 19">
            <a:extLst>
              <a:ext uri="{FF2B5EF4-FFF2-40B4-BE49-F238E27FC236}">
                <a16:creationId xmlns:a16="http://schemas.microsoft.com/office/drawing/2014/main" id="{914318F1-C9C0-4417-61E1-FA4C2D4FB170}"/>
              </a:ext>
            </a:extLst>
          </p:cNvPr>
          <p:cNvSpPr/>
          <p:nvPr/>
        </p:nvSpPr>
        <p:spPr>
          <a:xfrm>
            <a:off x="10191963" y="737595"/>
            <a:ext cx="1161837" cy="4944013"/>
          </a:xfrm>
          <a:prstGeom prst="rect">
            <a:avLst/>
          </a:prstGeom>
          <a:solidFill>
            <a:schemeClr val="accent6">
              <a:lumMod val="40000"/>
              <a:lumOff val="60000"/>
              <a:alpha val="50000"/>
            </a:schemeClr>
          </a:solidFill>
          <a:ln>
            <a:solidFill>
              <a:schemeClr val="tx1"/>
            </a:solidFill>
          </a:ln>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309788D4-4A38-C56B-EE15-C3A3E8E53400}"/>
              </a:ext>
            </a:extLst>
          </p:cNvPr>
          <p:cNvSpPr/>
          <p:nvPr/>
        </p:nvSpPr>
        <p:spPr>
          <a:xfrm>
            <a:off x="5241318" y="1243172"/>
            <a:ext cx="4529406" cy="4869951"/>
          </a:xfrm>
          <a:prstGeom prst="rect">
            <a:avLst/>
          </a:prstGeom>
          <a:solidFill>
            <a:schemeClr val="accent1">
              <a:lumMod val="40000"/>
              <a:lumOff val="60000"/>
              <a:alpha val="50000"/>
            </a:schemeClr>
          </a:solidFill>
          <a:ln>
            <a:solidFill>
              <a:schemeClr val="tx1"/>
            </a:solidFill>
          </a:ln>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EEFDCB0B-26CF-0DDE-A85E-54A457426BCA}"/>
              </a:ext>
            </a:extLst>
          </p:cNvPr>
          <p:cNvSpPr/>
          <p:nvPr/>
        </p:nvSpPr>
        <p:spPr>
          <a:xfrm>
            <a:off x="521092" y="2938083"/>
            <a:ext cx="4032928" cy="1821621"/>
          </a:xfrm>
          <a:prstGeom prst="rect">
            <a:avLst/>
          </a:prstGeom>
          <a:solidFill>
            <a:schemeClr val="accent2">
              <a:alpha val="50000"/>
            </a:schemeClr>
          </a:solidFill>
          <a:ln>
            <a:solidFill>
              <a:schemeClr val="tx1"/>
            </a:solidFill>
          </a:ln>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C36CFCF9-14C1-A57D-2E5A-BA47B48201E5}"/>
              </a:ext>
            </a:extLst>
          </p:cNvPr>
          <p:cNvSpPr txBox="1"/>
          <p:nvPr/>
        </p:nvSpPr>
        <p:spPr>
          <a:xfrm rot="16200000">
            <a:off x="9482072" y="3031601"/>
            <a:ext cx="4969166" cy="230832"/>
          </a:xfrm>
          <a:prstGeom prst="rect">
            <a:avLst/>
          </a:prstGeom>
          <a:noFill/>
        </p:spPr>
        <p:txBody>
          <a:bodyPr wrap="square" rtlCol="0">
            <a:spAutoFit/>
          </a:bodyPr>
          <a:lstStyle/>
          <a:p>
            <a:pPr algn="r"/>
            <a:r>
              <a:rPr lang="en-IN" sz="900" dirty="0"/>
              <a:t>*The technology to be used to represent the reports in the presentation layer are yet to be decided.</a:t>
            </a:r>
          </a:p>
        </p:txBody>
      </p:sp>
      <p:sp>
        <p:nvSpPr>
          <p:cNvPr id="26" name="TextBox 25">
            <a:extLst>
              <a:ext uri="{FF2B5EF4-FFF2-40B4-BE49-F238E27FC236}">
                <a16:creationId xmlns:a16="http://schemas.microsoft.com/office/drawing/2014/main" id="{8DAF7CEA-8E2E-FD2F-F27D-2AC32A226954}"/>
              </a:ext>
            </a:extLst>
          </p:cNvPr>
          <p:cNvSpPr txBox="1"/>
          <p:nvPr/>
        </p:nvSpPr>
        <p:spPr>
          <a:xfrm>
            <a:off x="521092" y="4497576"/>
            <a:ext cx="3929653" cy="261610"/>
          </a:xfrm>
          <a:prstGeom prst="rect">
            <a:avLst/>
          </a:prstGeom>
          <a:noFill/>
        </p:spPr>
        <p:txBody>
          <a:bodyPr wrap="square" rtlCol="0" anchor="ctr">
            <a:spAutoFit/>
          </a:bodyPr>
          <a:lstStyle/>
          <a:p>
            <a:r>
              <a:rPr lang="en-IN" sz="1100" b="1" dirty="0"/>
              <a:t>Data Preprocessing Pipeline</a:t>
            </a:r>
          </a:p>
        </p:txBody>
      </p:sp>
      <p:sp>
        <p:nvSpPr>
          <p:cNvPr id="27" name="TextBox 26">
            <a:extLst>
              <a:ext uri="{FF2B5EF4-FFF2-40B4-BE49-F238E27FC236}">
                <a16:creationId xmlns:a16="http://schemas.microsoft.com/office/drawing/2014/main" id="{5FDDE131-404E-402D-3F62-76BB448257B3}"/>
              </a:ext>
            </a:extLst>
          </p:cNvPr>
          <p:cNvSpPr txBox="1"/>
          <p:nvPr/>
        </p:nvSpPr>
        <p:spPr>
          <a:xfrm>
            <a:off x="5241318" y="5852991"/>
            <a:ext cx="4361381" cy="261610"/>
          </a:xfrm>
          <a:prstGeom prst="rect">
            <a:avLst/>
          </a:prstGeom>
          <a:noFill/>
        </p:spPr>
        <p:txBody>
          <a:bodyPr wrap="square" rtlCol="0" anchor="ctr">
            <a:spAutoFit/>
          </a:bodyPr>
          <a:lstStyle/>
          <a:p>
            <a:r>
              <a:rPr lang="en-IN" sz="1100" b="1" dirty="0"/>
              <a:t>Modelling Pipeline</a:t>
            </a:r>
          </a:p>
        </p:txBody>
      </p:sp>
      <p:sp>
        <p:nvSpPr>
          <p:cNvPr id="28" name="TextBox 27">
            <a:extLst>
              <a:ext uri="{FF2B5EF4-FFF2-40B4-BE49-F238E27FC236}">
                <a16:creationId xmlns:a16="http://schemas.microsoft.com/office/drawing/2014/main" id="{3C17F72E-06DB-1FC5-21EC-9392F2DFB993}"/>
              </a:ext>
            </a:extLst>
          </p:cNvPr>
          <p:cNvSpPr txBox="1"/>
          <p:nvPr/>
        </p:nvSpPr>
        <p:spPr>
          <a:xfrm>
            <a:off x="10191963" y="5698355"/>
            <a:ext cx="1602769" cy="261610"/>
          </a:xfrm>
          <a:prstGeom prst="rect">
            <a:avLst/>
          </a:prstGeom>
          <a:noFill/>
        </p:spPr>
        <p:txBody>
          <a:bodyPr wrap="square" rtlCol="0" anchor="ctr">
            <a:spAutoFit/>
          </a:bodyPr>
          <a:lstStyle/>
          <a:p>
            <a:r>
              <a:rPr lang="en-IN" sz="1100" b="1" dirty="0"/>
              <a:t>Presentation Layer*</a:t>
            </a:r>
          </a:p>
        </p:txBody>
      </p:sp>
      <p:pic>
        <p:nvPicPr>
          <p:cNvPr id="30" name="Graphic 29" descr="Server">
            <a:extLst>
              <a:ext uri="{FF2B5EF4-FFF2-40B4-BE49-F238E27FC236}">
                <a16:creationId xmlns:a16="http://schemas.microsoft.com/office/drawing/2014/main" id="{8C13F157-193C-6E51-C7B9-EEBB71A4EE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53096" y="1434405"/>
            <a:ext cx="914400" cy="914400"/>
          </a:xfrm>
          <a:prstGeom prst="rect">
            <a:avLst/>
          </a:prstGeom>
          <a:effectLst>
            <a:outerShdw blurRad="63500" sx="102000" sy="102000" algn="ctr" rotWithShape="0">
              <a:prstClr val="black">
                <a:alpha val="40000"/>
              </a:prstClr>
            </a:outerShdw>
          </a:effectLst>
        </p:spPr>
      </p:pic>
      <p:sp>
        <p:nvSpPr>
          <p:cNvPr id="31" name="TextBox 30">
            <a:extLst>
              <a:ext uri="{FF2B5EF4-FFF2-40B4-BE49-F238E27FC236}">
                <a16:creationId xmlns:a16="http://schemas.microsoft.com/office/drawing/2014/main" id="{0BF8874E-5C92-354E-43B1-FB6FE0F62543}"/>
              </a:ext>
            </a:extLst>
          </p:cNvPr>
          <p:cNvSpPr txBox="1"/>
          <p:nvPr/>
        </p:nvSpPr>
        <p:spPr>
          <a:xfrm>
            <a:off x="1508911" y="2254529"/>
            <a:ext cx="1602769" cy="261610"/>
          </a:xfrm>
          <a:prstGeom prst="rect">
            <a:avLst/>
          </a:prstGeom>
          <a:noFill/>
        </p:spPr>
        <p:txBody>
          <a:bodyPr wrap="square" rtlCol="0" anchor="ctr">
            <a:spAutoFit/>
          </a:bodyPr>
          <a:lstStyle/>
          <a:p>
            <a:pPr algn="ctr"/>
            <a:r>
              <a:rPr lang="en-IN" sz="1100" b="1" dirty="0"/>
              <a:t>Data Source</a:t>
            </a:r>
          </a:p>
        </p:txBody>
      </p:sp>
      <p:cxnSp>
        <p:nvCxnSpPr>
          <p:cNvPr id="33" name="Connector: Elbow 32">
            <a:extLst>
              <a:ext uri="{FF2B5EF4-FFF2-40B4-BE49-F238E27FC236}">
                <a16:creationId xmlns:a16="http://schemas.microsoft.com/office/drawing/2014/main" id="{FD6A39CC-58F3-E4F9-FDFD-801E0FDFEAC1}"/>
              </a:ext>
            </a:extLst>
          </p:cNvPr>
          <p:cNvCxnSpPr>
            <a:cxnSpLocks/>
            <a:stCxn id="31" idx="2"/>
            <a:endCxn id="24" idx="0"/>
          </p:cNvCxnSpPr>
          <p:nvPr/>
        </p:nvCxnSpPr>
        <p:spPr>
          <a:xfrm rot="5400000">
            <a:off x="1507688" y="2391179"/>
            <a:ext cx="677648" cy="927568"/>
          </a:xfrm>
          <a:prstGeom prst="bentConnector3">
            <a:avLst>
              <a:gd name="adj1" fmla="val 50000"/>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91872781-767C-DC37-996D-DB1B8EB7BF72}"/>
              </a:ext>
            </a:extLst>
          </p:cNvPr>
          <p:cNvCxnSpPr>
            <a:cxnSpLocks/>
            <a:stCxn id="23" idx="0"/>
          </p:cNvCxnSpPr>
          <p:nvPr/>
        </p:nvCxnSpPr>
        <p:spPr>
          <a:xfrm rot="5400000" flipH="1" flipV="1">
            <a:off x="6054361" y="-1476444"/>
            <a:ext cx="2119326" cy="7234240"/>
          </a:xfrm>
          <a:prstGeom prst="bentConnector2">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4841BA96-8502-22EE-A052-DAD5A50FCE1C}"/>
              </a:ext>
            </a:extLst>
          </p:cNvPr>
          <p:cNvCxnSpPr>
            <a:cxnSpLocks/>
            <a:stCxn id="23" idx="3"/>
            <a:endCxn id="17" idx="1"/>
          </p:cNvCxnSpPr>
          <p:nvPr/>
        </p:nvCxnSpPr>
        <p:spPr>
          <a:xfrm flipV="1">
            <a:off x="4363304" y="1740764"/>
            <a:ext cx="1143644" cy="1728178"/>
          </a:xfrm>
          <a:prstGeom prst="bentConnector3">
            <a:avLst/>
          </a:prstGeom>
          <a:ln w="381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1D1C5C9F-48C2-3C34-9DBB-B53FBA937B3E}"/>
              </a:ext>
            </a:extLst>
          </p:cNvPr>
          <p:cNvCxnSpPr>
            <a:cxnSpLocks/>
            <a:stCxn id="23" idx="3"/>
            <a:endCxn id="19" idx="1"/>
          </p:cNvCxnSpPr>
          <p:nvPr/>
        </p:nvCxnSpPr>
        <p:spPr>
          <a:xfrm flipV="1">
            <a:off x="4363304" y="2482386"/>
            <a:ext cx="1143644" cy="986556"/>
          </a:xfrm>
          <a:prstGeom prst="bentConnector3">
            <a:avLst>
              <a:gd name="adj1" fmla="val 50000"/>
            </a:avLst>
          </a:prstGeom>
          <a:ln w="381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E04AFA67-BB6E-4B4B-ACF8-93477040A433}"/>
              </a:ext>
            </a:extLst>
          </p:cNvPr>
          <p:cNvCxnSpPr>
            <a:cxnSpLocks/>
            <a:stCxn id="23" idx="3"/>
            <a:endCxn id="9" idx="1"/>
          </p:cNvCxnSpPr>
          <p:nvPr/>
        </p:nvCxnSpPr>
        <p:spPr>
          <a:xfrm>
            <a:off x="4363304" y="3468942"/>
            <a:ext cx="1143644" cy="2956"/>
          </a:xfrm>
          <a:prstGeom prst="bentConnector3">
            <a:avLst>
              <a:gd name="adj1" fmla="val 50000"/>
            </a:avLst>
          </a:prstGeom>
          <a:ln w="381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0F754282-A0B0-C93D-040E-7A171683EC96}"/>
              </a:ext>
            </a:extLst>
          </p:cNvPr>
          <p:cNvCxnSpPr>
            <a:cxnSpLocks/>
            <a:stCxn id="23" idx="3"/>
            <a:endCxn id="12" idx="1"/>
          </p:cNvCxnSpPr>
          <p:nvPr/>
        </p:nvCxnSpPr>
        <p:spPr>
          <a:xfrm>
            <a:off x="4363304" y="3468942"/>
            <a:ext cx="1143646" cy="1298136"/>
          </a:xfrm>
          <a:prstGeom prst="bentConnector3">
            <a:avLst>
              <a:gd name="adj1" fmla="val 50000"/>
            </a:avLst>
          </a:prstGeom>
          <a:ln w="381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E337CEC3-59CE-3693-1458-20C34CB2E02B}"/>
              </a:ext>
            </a:extLst>
          </p:cNvPr>
          <p:cNvCxnSpPr>
            <a:cxnSpLocks/>
            <a:stCxn id="9" idx="3"/>
            <a:endCxn id="10" idx="1"/>
          </p:cNvCxnSpPr>
          <p:nvPr/>
        </p:nvCxnSpPr>
        <p:spPr>
          <a:xfrm flipV="1">
            <a:off x="7185918" y="3469748"/>
            <a:ext cx="663538" cy="2150"/>
          </a:xfrm>
          <a:prstGeom prst="straightConnector1">
            <a:avLst/>
          </a:prstGeom>
          <a:ln w="38100">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48FDF00-444D-ECEB-10F7-8A9CA62DF878}"/>
              </a:ext>
            </a:extLst>
          </p:cNvPr>
          <p:cNvCxnSpPr>
            <a:cxnSpLocks/>
            <a:stCxn id="12" idx="3"/>
            <a:endCxn id="13" idx="1"/>
          </p:cNvCxnSpPr>
          <p:nvPr/>
        </p:nvCxnSpPr>
        <p:spPr>
          <a:xfrm>
            <a:off x="7185918" y="4767078"/>
            <a:ext cx="663537" cy="0"/>
          </a:xfrm>
          <a:prstGeom prst="straightConnector1">
            <a:avLst/>
          </a:prstGeom>
          <a:ln w="38100">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Connector: Elbow 66">
            <a:extLst>
              <a:ext uri="{FF2B5EF4-FFF2-40B4-BE49-F238E27FC236}">
                <a16:creationId xmlns:a16="http://schemas.microsoft.com/office/drawing/2014/main" id="{403A8EA0-198E-1D97-EE8E-38DF4B413D0E}"/>
              </a:ext>
            </a:extLst>
          </p:cNvPr>
          <p:cNvCxnSpPr>
            <a:cxnSpLocks/>
            <a:stCxn id="17" idx="3"/>
            <a:endCxn id="11" idx="0"/>
          </p:cNvCxnSpPr>
          <p:nvPr/>
        </p:nvCxnSpPr>
        <p:spPr>
          <a:xfrm>
            <a:off x="9528426" y="1740764"/>
            <a:ext cx="942865" cy="2624290"/>
          </a:xfrm>
          <a:prstGeom prst="bentConnector3">
            <a:avLst>
              <a:gd name="adj1" fmla="val 50000"/>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B32704F1-1AD1-9501-49C5-A7EB0261C250}"/>
              </a:ext>
            </a:extLst>
          </p:cNvPr>
          <p:cNvCxnSpPr>
            <a:cxnSpLocks/>
            <a:stCxn id="19" idx="3"/>
            <a:endCxn id="11" idx="0"/>
          </p:cNvCxnSpPr>
          <p:nvPr/>
        </p:nvCxnSpPr>
        <p:spPr>
          <a:xfrm>
            <a:off x="9528426" y="2482386"/>
            <a:ext cx="942865" cy="1882668"/>
          </a:xfrm>
          <a:prstGeom prst="bentConnector3">
            <a:avLst>
              <a:gd name="adj1" fmla="val 50000"/>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214D71BC-A22D-D613-A36B-AC2DF18A9190}"/>
              </a:ext>
            </a:extLst>
          </p:cNvPr>
          <p:cNvCxnSpPr>
            <a:cxnSpLocks/>
            <a:stCxn id="10" idx="3"/>
            <a:endCxn id="11" idx="0"/>
          </p:cNvCxnSpPr>
          <p:nvPr/>
        </p:nvCxnSpPr>
        <p:spPr>
          <a:xfrm>
            <a:off x="9528426" y="3469748"/>
            <a:ext cx="942865" cy="895306"/>
          </a:xfrm>
          <a:prstGeom prst="bentConnector3">
            <a:avLst>
              <a:gd name="adj1" fmla="val 50000"/>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nector: Elbow 75">
            <a:extLst>
              <a:ext uri="{FF2B5EF4-FFF2-40B4-BE49-F238E27FC236}">
                <a16:creationId xmlns:a16="http://schemas.microsoft.com/office/drawing/2014/main" id="{2C257151-B18E-5D9C-DE92-7941EA20880F}"/>
              </a:ext>
            </a:extLst>
          </p:cNvPr>
          <p:cNvCxnSpPr>
            <a:cxnSpLocks/>
            <a:stCxn id="13" idx="3"/>
            <a:endCxn id="11" idx="0"/>
          </p:cNvCxnSpPr>
          <p:nvPr/>
        </p:nvCxnSpPr>
        <p:spPr>
          <a:xfrm flipV="1">
            <a:off x="9528426" y="4365054"/>
            <a:ext cx="942865" cy="402024"/>
          </a:xfrm>
          <a:prstGeom prst="bentConnector3">
            <a:avLst>
              <a:gd name="adj1" fmla="val 50000"/>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CB0B7231-146F-6C5D-0311-77022A5228E1}"/>
              </a:ext>
            </a:extLst>
          </p:cNvPr>
          <p:cNvCxnSpPr>
            <a:cxnSpLocks/>
            <a:stCxn id="24" idx="3"/>
            <a:endCxn id="23" idx="1"/>
          </p:cNvCxnSpPr>
          <p:nvPr/>
        </p:nvCxnSpPr>
        <p:spPr>
          <a:xfrm>
            <a:off x="1984512" y="3462390"/>
            <a:ext cx="645991" cy="6552"/>
          </a:xfrm>
          <a:prstGeom prst="straightConnector1">
            <a:avLst/>
          </a:prstGeom>
          <a:ln w="38100">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0AA81E9D-7F5F-5D00-E8F7-C55A62339655}"/>
              </a:ext>
            </a:extLst>
          </p:cNvPr>
          <p:cNvSpPr/>
          <p:nvPr/>
        </p:nvSpPr>
        <p:spPr>
          <a:xfrm>
            <a:off x="2630503" y="3200339"/>
            <a:ext cx="1732801" cy="537206"/>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en-IN" sz="1600" b="1" dirty="0"/>
              <a:t>Feature Scaling</a:t>
            </a:r>
          </a:p>
        </p:txBody>
      </p:sp>
      <p:sp>
        <p:nvSpPr>
          <p:cNvPr id="24" name="Rectangle: Rounded Corners 23">
            <a:extLst>
              <a:ext uri="{FF2B5EF4-FFF2-40B4-BE49-F238E27FC236}">
                <a16:creationId xmlns:a16="http://schemas.microsoft.com/office/drawing/2014/main" id="{2D97422D-155C-47F8-1259-EDF514696E89}"/>
              </a:ext>
            </a:extLst>
          </p:cNvPr>
          <p:cNvSpPr/>
          <p:nvPr/>
        </p:nvSpPr>
        <p:spPr>
          <a:xfrm>
            <a:off x="780944" y="3193787"/>
            <a:ext cx="1203568" cy="537206"/>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en-IN" sz="1600" b="1" dirty="0"/>
              <a:t>Wrangling</a:t>
            </a:r>
          </a:p>
        </p:txBody>
      </p:sp>
      <p:sp>
        <p:nvSpPr>
          <p:cNvPr id="9" name="Rectangle: Rounded Corners 8">
            <a:extLst>
              <a:ext uri="{FF2B5EF4-FFF2-40B4-BE49-F238E27FC236}">
                <a16:creationId xmlns:a16="http://schemas.microsoft.com/office/drawing/2014/main" id="{B7FD18B8-1273-A2BC-7123-875F44F7A7B8}"/>
              </a:ext>
            </a:extLst>
          </p:cNvPr>
          <p:cNvSpPr/>
          <p:nvPr/>
        </p:nvSpPr>
        <p:spPr>
          <a:xfrm>
            <a:off x="5506948" y="2896094"/>
            <a:ext cx="1678970" cy="1151608"/>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600" b="1" dirty="0"/>
              <a:t>VAE Model Training</a:t>
            </a:r>
          </a:p>
        </p:txBody>
      </p:sp>
      <p:sp>
        <p:nvSpPr>
          <p:cNvPr id="10" name="Rectangle: Rounded Corners 9">
            <a:extLst>
              <a:ext uri="{FF2B5EF4-FFF2-40B4-BE49-F238E27FC236}">
                <a16:creationId xmlns:a16="http://schemas.microsoft.com/office/drawing/2014/main" id="{244051C9-615A-042C-0E1E-EFAC4B89FDBC}"/>
              </a:ext>
            </a:extLst>
          </p:cNvPr>
          <p:cNvSpPr/>
          <p:nvPr/>
        </p:nvSpPr>
        <p:spPr>
          <a:xfrm>
            <a:off x="7849456" y="2891794"/>
            <a:ext cx="1678970" cy="1155907"/>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600" b="1" dirty="0"/>
              <a:t>Anomaly Score</a:t>
            </a:r>
          </a:p>
          <a:p>
            <a:pPr algn="ctr"/>
            <a:r>
              <a:rPr lang="en-IN" sz="1600" b="1" dirty="0"/>
              <a:t>Function</a:t>
            </a:r>
          </a:p>
        </p:txBody>
      </p:sp>
      <p:sp>
        <p:nvSpPr>
          <p:cNvPr id="11" name="Rectangle: Rounded Corners 10">
            <a:extLst>
              <a:ext uri="{FF2B5EF4-FFF2-40B4-BE49-F238E27FC236}">
                <a16:creationId xmlns:a16="http://schemas.microsoft.com/office/drawing/2014/main" id="{58871523-B504-B3DA-FEA6-C68EA6748A50}"/>
              </a:ext>
            </a:extLst>
          </p:cNvPr>
          <p:cNvSpPr/>
          <p:nvPr/>
        </p:nvSpPr>
        <p:spPr>
          <a:xfrm rot="16200000">
            <a:off x="9633913" y="4063463"/>
            <a:ext cx="2277938" cy="603182"/>
          </a:xfrm>
          <a:prstGeom prst="roundRect">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en-IN" sz="1600" b="1" dirty="0"/>
              <a:t>Model Evaluation</a:t>
            </a:r>
          </a:p>
        </p:txBody>
      </p:sp>
      <p:sp>
        <p:nvSpPr>
          <p:cNvPr id="12" name="Rectangle: Rounded Corners 11">
            <a:extLst>
              <a:ext uri="{FF2B5EF4-FFF2-40B4-BE49-F238E27FC236}">
                <a16:creationId xmlns:a16="http://schemas.microsoft.com/office/drawing/2014/main" id="{A955C601-D200-CAE0-67EF-DF0CCB30F656}"/>
              </a:ext>
            </a:extLst>
          </p:cNvPr>
          <p:cNvSpPr/>
          <p:nvPr/>
        </p:nvSpPr>
        <p:spPr>
          <a:xfrm>
            <a:off x="5506950" y="4130080"/>
            <a:ext cx="1678968" cy="1273995"/>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600" b="1" dirty="0"/>
              <a:t>GAN Model</a:t>
            </a:r>
            <a:br>
              <a:rPr lang="en-IN" sz="1600" b="1" dirty="0"/>
            </a:br>
            <a:r>
              <a:rPr lang="en-IN" sz="1600" b="1" dirty="0"/>
              <a:t>Training</a:t>
            </a:r>
          </a:p>
        </p:txBody>
      </p:sp>
      <p:sp>
        <p:nvSpPr>
          <p:cNvPr id="13" name="Rectangle: Rounded Corners 12">
            <a:extLst>
              <a:ext uri="{FF2B5EF4-FFF2-40B4-BE49-F238E27FC236}">
                <a16:creationId xmlns:a16="http://schemas.microsoft.com/office/drawing/2014/main" id="{CA77C1CA-6CEE-A146-1EBB-892901291669}"/>
              </a:ext>
            </a:extLst>
          </p:cNvPr>
          <p:cNvSpPr/>
          <p:nvPr/>
        </p:nvSpPr>
        <p:spPr>
          <a:xfrm>
            <a:off x="7849455" y="4130080"/>
            <a:ext cx="1678971" cy="1273995"/>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600" b="1" dirty="0"/>
              <a:t>Synthetic</a:t>
            </a:r>
            <a:br>
              <a:rPr lang="en-IN" sz="1600" b="1" dirty="0"/>
            </a:br>
            <a:r>
              <a:rPr lang="en-IN" sz="1600" b="1" dirty="0"/>
              <a:t>Data</a:t>
            </a:r>
            <a:br>
              <a:rPr lang="en-IN" sz="1600" b="1" dirty="0"/>
            </a:br>
            <a:r>
              <a:rPr lang="en-IN" sz="1600" b="1" dirty="0"/>
              <a:t>Generation</a:t>
            </a:r>
          </a:p>
        </p:txBody>
      </p:sp>
      <p:sp>
        <p:nvSpPr>
          <p:cNvPr id="16" name="Rectangle: Rounded Corners 15">
            <a:extLst>
              <a:ext uri="{FF2B5EF4-FFF2-40B4-BE49-F238E27FC236}">
                <a16:creationId xmlns:a16="http://schemas.microsoft.com/office/drawing/2014/main" id="{AD717A68-0F02-972E-E0A8-405610FF9B53}"/>
              </a:ext>
            </a:extLst>
          </p:cNvPr>
          <p:cNvSpPr/>
          <p:nvPr/>
        </p:nvSpPr>
        <p:spPr>
          <a:xfrm rot="16200000">
            <a:off x="9633913" y="1706457"/>
            <a:ext cx="2277938" cy="603182"/>
          </a:xfrm>
          <a:prstGeom prst="roundRect">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en-IN" sz="1600" b="1" dirty="0"/>
              <a:t>Statistical Reports</a:t>
            </a:r>
          </a:p>
        </p:txBody>
      </p:sp>
      <p:sp>
        <p:nvSpPr>
          <p:cNvPr id="17" name="Rectangle: Rounded Corners 16">
            <a:extLst>
              <a:ext uri="{FF2B5EF4-FFF2-40B4-BE49-F238E27FC236}">
                <a16:creationId xmlns:a16="http://schemas.microsoft.com/office/drawing/2014/main" id="{37075859-F1A2-0FF1-256E-D981CAFA494B}"/>
              </a:ext>
            </a:extLst>
          </p:cNvPr>
          <p:cNvSpPr/>
          <p:nvPr/>
        </p:nvSpPr>
        <p:spPr>
          <a:xfrm>
            <a:off x="5506948" y="1412850"/>
            <a:ext cx="4021478" cy="655828"/>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600" b="1" dirty="0"/>
              <a:t>Supervised Model Training</a:t>
            </a:r>
          </a:p>
        </p:txBody>
      </p:sp>
      <p:sp>
        <p:nvSpPr>
          <p:cNvPr id="19" name="Rectangle: Rounded Corners 18">
            <a:extLst>
              <a:ext uri="{FF2B5EF4-FFF2-40B4-BE49-F238E27FC236}">
                <a16:creationId xmlns:a16="http://schemas.microsoft.com/office/drawing/2014/main" id="{FF6F785A-5133-AF67-3109-5C8036F51B50}"/>
              </a:ext>
            </a:extLst>
          </p:cNvPr>
          <p:cNvSpPr/>
          <p:nvPr/>
        </p:nvSpPr>
        <p:spPr>
          <a:xfrm>
            <a:off x="5506948" y="2154472"/>
            <a:ext cx="4021478" cy="655828"/>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600" b="1" dirty="0"/>
              <a:t>Unsupervised Model Training</a:t>
            </a:r>
          </a:p>
        </p:txBody>
      </p:sp>
      <p:pic>
        <p:nvPicPr>
          <p:cNvPr id="141" name="Graphic 140">
            <a:extLst>
              <a:ext uri="{FF2B5EF4-FFF2-40B4-BE49-F238E27FC236}">
                <a16:creationId xmlns:a16="http://schemas.microsoft.com/office/drawing/2014/main" id="{2414C59C-60B5-BEBB-01CD-943996369C4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23819" y="4103131"/>
            <a:ext cx="997157" cy="294527"/>
          </a:xfrm>
          <a:prstGeom prst="rect">
            <a:avLst/>
          </a:prstGeom>
        </p:spPr>
      </p:pic>
      <p:pic>
        <p:nvPicPr>
          <p:cNvPr id="143" name="Graphic 142">
            <a:extLst>
              <a:ext uri="{FF2B5EF4-FFF2-40B4-BE49-F238E27FC236}">
                <a16:creationId xmlns:a16="http://schemas.microsoft.com/office/drawing/2014/main" id="{3052572F-07E6-3D11-204A-66BA8201525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32958" y="4333854"/>
            <a:ext cx="997156" cy="463131"/>
          </a:xfrm>
          <a:prstGeom prst="rect">
            <a:avLst/>
          </a:prstGeom>
        </p:spPr>
      </p:pic>
      <p:pic>
        <p:nvPicPr>
          <p:cNvPr id="145" name="Graphic 144">
            <a:extLst>
              <a:ext uri="{FF2B5EF4-FFF2-40B4-BE49-F238E27FC236}">
                <a16:creationId xmlns:a16="http://schemas.microsoft.com/office/drawing/2014/main" id="{79F907B3-EE40-94D8-9F1F-13012637ED5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559706" y="4333854"/>
            <a:ext cx="997156" cy="463131"/>
          </a:xfrm>
          <a:prstGeom prst="rect">
            <a:avLst/>
          </a:prstGeom>
        </p:spPr>
      </p:pic>
      <p:pic>
        <p:nvPicPr>
          <p:cNvPr id="147" name="Graphic 146">
            <a:extLst>
              <a:ext uri="{FF2B5EF4-FFF2-40B4-BE49-F238E27FC236}">
                <a16:creationId xmlns:a16="http://schemas.microsoft.com/office/drawing/2014/main" id="{DDE798E2-AA81-96F4-E837-F7536995D75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726835" y="5846094"/>
            <a:ext cx="997157" cy="259095"/>
          </a:xfrm>
          <a:prstGeom prst="rect">
            <a:avLst/>
          </a:prstGeom>
        </p:spPr>
      </p:pic>
      <p:pic>
        <p:nvPicPr>
          <p:cNvPr id="161" name="Graphic 160">
            <a:extLst>
              <a:ext uri="{FF2B5EF4-FFF2-40B4-BE49-F238E27FC236}">
                <a16:creationId xmlns:a16="http://schemas.microsoft.com/office/drawing/2014/main" id="{07B8D6AB-5E60-5E55-5DB0-FA49B4B409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50201" y="5553371"/>
            <a:ext cx="997157" cy="294527"/>
          </a:xfrm>
          <a:prstGeom prst="rect">
            <a:avLst/>
          </a:prstGeom>
        </p:spPr>
      </p:pic>
      <p:pic>
        <p:nvPicPr>
          <p:cNvPr id="162" name="Graphic 161">
            <a:extLst>
              <a:ext uri="{FF2B5EF4-FFF2-40B4-BE49-F238E27FC236}">
                <a16:creationId xmlns:a16="http://schemas.microsoft.com/office/drawing/2014/main" id="{E98CF660-461C-2020-E550-D4A27E22D50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682947" y="5711254"/>
            <a:ext cx="997156" cy="463131"/>
          </a:xfrm>
          <a:prstGeom prst="rect">
            <a:avLst/>
          </a:prstGeom>
        </p:spPr>
      </p:pic>
      <p:cxnSp>
        <p:nvCxnSpPr>
          <p:cNvPr id="164" name="Connector: Elbow 163">
            <a:extLst>
              <a:ext uri="{FF2B5EF4-FFF2-40B4-BE49-F238E27FC236}">
                <a16:creationId xmlns:a16="http://schemas.microsoft.com/office/drawing/2014/main" id="{CA3E183E-8CE4-30FB-4CC7-B474647545F3}"/>
              </a:ext>
            </a:extLst>
          </p:cNvPr>
          <p:cNvCxnSpPr>
            <a:cxnSpLocks/>
            <a:stCxn id="13" idx="2"/>
            <a:endCxn id="24" idx="1"/>
          </p:cNvCxnSpPr>
          <p:nvPr/>
        </p:nvCxnSpPr>
        <p:spPr>
          <a:xfrm rot="5400000" flipH="1">
            <a:off x="3764100" y="479235"/>
            <a:ext cx="1941685" cy="7907997"/>
          </a:xfrm>
          <a:prstGeom prst="bentConnector4">
            <a:avLst>
              <a:gd name="adj1" fmla="val -11773"/>
              <a:gd name="adj2" fmla="val 105619"/>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079486"/>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2EF7F-8FEF-E4ED-911B-0EA788E099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C0553B-AC69-256D-FB42-AC39F13C2B02}"/>
              </a:ext>
            </a:extLst>
          </p:cNvPr>
          <p:cNvSpPr>
            <a:spLocks noGrp="1"/>
          </p:cNvSpPr>
          <p:nvPr>
            <p:ph type="title"/>
          </p:nvPr>
        </p:nvSpPr>
        <p:spPr/>
        <p:txBody>
          <a:bodyPr/>
          <a:lstStyle/>
          <a:p>
            <a:r>
              <a:rPr lang="en-IN" dirty="0">
                <a:effectLst>
                  <a:outerShdw blurRad="38100" dist="38100" dir="2700000" algn="tl">
                    <a:srgbClr val="000000">
                      <a:alpha val="43137"/>
                    </a:srgbClr>
                  </a:outerShdw>
                </a:effectLst>
              </a:rPr>
              <a:t>Planner</a:t>
            </a:r>
          </a:p>
        </p:txBody>
      </p:sp>
      <p:sp>
        <p:nvSpPr>
          <p:cNvPr id="4" name="Footer Placeholder 3">
            <a:extLst>
              <a:ext uri="{FF2B5EF4-FFF2-40B4-BE49-F238E27FC236}">
                <a16:creationId xmlns:a16="http://schemas.microsoft.com/office/drawing/2014/main" id="{23B461C2-0A3B-E1D4-8192-47ED28D039B9}"/>
              </a:ext>
            </a:extLst>
          </p:cNvPr>
          <p:cNvSpPr>
            <a:spLocks noGrp="1"/>
          </p:cNvSpPr>
          <p:nvPr>
            <p:ph type="ftr" sz="quarter" idx="11"/>
          </p:nvPr>
        </p:nvSpPr>
        <p:spPr/>
        <p:txBody>
          <a:bodyPr/>
          <a:lstStyle/>
          <a:p>
            <a:r>
              <a:rPr lang="en-IN"/>
              <a:t>Dissertation S2-24 AIMLCZG628T</a:t>
            </a:r>
          </a:p>
        </p:txBody>
      </p:sp>
      <p:sp>
        <p:nvSpPr>
          <p:cNvPr id="5" name="Slide Number Placeholder 4">
            <a:extLst>
              <a:ext uri="{FF2B5EF4-FFF2-40B4-BE49-F238E27FC236}">
                <a16:creationId xmlns:a16="http://schemas.microsoft.com/office/drawing/2014/main" id="{2C6671EE-FE65-6B16-7C60-85B6F619DDB0}"/>
              </a:ext>
            </a:extLst>
          </p:cNvPr>
          <p:cNvSpPr>
            <a:spLocks noGrp="1"/>
          </p:cNvSpPr>
          <p:nvPr>
            <p:ph type="sldNum" sz="quarter" idx="12"/>
          </p:nvPr>
        </p:nvSpPr>
        <p:spPr/>
        <p:txBody>
          <a:bodyPr/>
          <a:lstStyle/>
          <a:p>
            <a:fld id="{0541023B-0DCA-4467-9EB4-7DB5EBA0C709}" type="slidenum">
              <a:rPr lang="en-IN" smtClean="0"/>
              <a:t>15</a:t>
            </a:fld>
            <a:endParaRPr lang="en-IN"/>
          </a:p>
        </p:txBody>
      </p:sp>
      <p:graphicFrame>
        <p:nvGraphicFramePr>
          <p:cNvPr id="9" name="Table 8">
            <a:extLst>
              <a:ext uri="{FF2B5EF4-FFF2-40B4-BE49-F238E27FC236}">
                <a16:creationId xmlns:a16="http://schemas.microsoft.com/office/drawing/2014/main" id="{ECF63EC2-608C-413F-C30D-06D3E99DFA4E}"/>
              </a:ext>
            </a:extLst>
          </p:cNvPr>
          <p:cNvGraphicFramePr>
            <a:graphicFrameLocks noGrp="1"/>
          </p:cNvGraphicFramePr>
          <p:nvPr>
            <p:extLst>
              <p:ext uri="{D42A27DB-BD31-4B8C-83A1-F6EECF244321}">
                <p14:modId xmlns:p14="http://schemas.microsoft.com/office/powerpoint/2010/main" val="3363178318"/>
              </p:ext>
            </p:extLst>
          </p:nvPr>
        </p:nvGraphicFramePr>
        <p:xfrm>
          <a:off x="137555" y="845128"/>
          <a:ext cx="11919571" cy="4692785"/>
        </p:xfrm>
        <a:graphic>
          <a:graphicData uri="http://schemas.openxmlformats.org/drawingml/2006/table">
            <a:tbl>
              <a:tblPr>
                <a:effectLst>
                  <a:outerShdw blurRad="50800" dist="38100" dir="2700000" algn="tl" rotWithShape="0">
                    <a:prstClr val="black">
                      <a:alpha val="40000"/>
                    </a:prstClr>
                  </a:outerShdw>
                </a:effectLst>
              </a:tblPr>
              <a:tblGrid>
                <a:gridCol w="197278">
                  <a:extLst>
                    <a:ext uri="{9D8B030D-6E8A-4147-A177-3AD203B41FA5}">
                      <a16:colId xmlns:a16="http://schemas.microsoft.com/office/drawing/2014/main" val="3057095811"/>
                    </a:ext>
                  </a:extLst>
                </a:gridCol>
                <a:gridCol w="548946">
                  <a:extLst>
                    <a:ext uri="{9D8B030D-6E8A-4147-A177-3AD203B41FA5}">
                      <a16:colId xmlns:a16="http://schemas.microsoft.com/office/drawing/2014/main" val="3981054646"/>
                    </a:ext>
                  </a:extLst>
                </a:gridCol>
                <a:gridCol w="548946">
                  <a:extLst>
                    <a:ext uri="{9D8B030D-6E8A-4147-A177-3AD203B41FA5}">
                      <a16:colId xmlns:a16="http://schemas.microsoft.com/office/drawing/2014/main" val="3420861429"/>
                    </a:ext>
                  </a:extLst>
                </a:gridCol>
                <a:gridCol w="548946">
                  <a:extLst>
                    <a:ext uri="{9D8B030D-6E8A-4147-A177-3AD203B41FA5}">
                      <a16:colId xmlns:a16="http://schemas.microsoft.com/office/drawing/2014/main" val="1299155798"/>
                    </a:ext>
                  </a:extLst>
                </a:gridCol>
                <a:gridCol w="548946">
                  <a:extLst>
                    <a:ext uri="{9D8B030D-6E8A-4147-A177-3AD203B41FA5}">
                      <a16:colId xmlns:a16="http://schemas.microsoft.com/office/drawing/2014/main" val="2833211860"/>
                    </a:ext>
                  </a:extLst>
                </a:gridCol>
                <a:gridCol w="548946">
                  <a:extLst>
                    <a:ext uri="{9D8B030D-6E8A-4147-A177-3AD203B41FA5}">
                      <a16:colId xmlns:a16="http://schemas.microsoft.com/office/drawing/2014/main" val="3809755525"/>
                    </a:ext>
                  </a:extLst>
                </a:gridCol>
                <a:gridCol w="548946">
                  <a:extLst>
                    <a:ext uri="{9D8B030D-6E8A-4147-A177-3AD203B41FA5}">
                      <a16:colId xmlns:a16="http://schemas.microsoft.com/office/drawing/2014/main" val="1210547671"/>
                    </a:ext>
                  </a:extLst>
                </a:gridCol>
                <a:gridCol w="471751">
                  <a:extLst>
                    <a:ext uri="{9D8B030D-6E8A-4147-A177-3AD203B41FA5}">
                      <a16:colId xmlns:a16="http://schemas.microsoft.com/office/drawing/2014/main" val="3501662934"/>
                    </a:ext>
                  </a:extLst>
                </a:gridCol>
                <a:gridCol w="471751">
                  <a:extLst>
                    <a:ext uri="{9D8B030D-6E8A-4147-A177-3AD203B41FA5}">
                      <a16:colId xmlns:a16="http://schemas.microsoft.com/office/drawing/2014/main" val="3039888045"/>
                    </a:ext>
                  </a:extLst>
                </a:gridCol>
                <a:gridCol w="471751">
                  <a:extLst>
                    <a:ext uri="{9D8B030D-6E8A-4147-A177-3AD203B41FA5}">
                      <a16:colId xmlns:a16="http://schemas.microsoft.com/office/drawing/2014/main" val="3758321035"/>
                    </a:ext>
                  </a:extLst>
                </a:gridCol>
                <a:gridCol w="471751">
                  <a:extLst>
                    <a:ext uri="{9D8B030D-6E8A-4147-A177-3AD203B41FA5}">
                      <a16:colId xmlns:a16="http://schemas.microsoft.com/office/drawing/2014/main" val="545888601"/>
                    </a:ext>
                  </a:extLst>
                </a:gridCol>
                <a:gridCol w="471751">
                  <a:extLst>
                    <a:ext uri="{9D8B030D-6E8A-4147-A177-3AD203B41FA5}">
                      <a16:colId xmlns:a16="http://schemas.microsoft.com/office/drawing/2014/main" val="600893578"/>
                    </a:ext>
                  </a:extLst>
                </a:gridCol>
                <a:gridCol w="471751">
                  <a:extLst>
                    <a:ext uri="{9D8B030D-6E8A-4147-A177-3AD203B41FA5}">
                      <a16:colId xmlns:a16="http://schemas.microsoft.com/office/drawing/2014/main" val="3895361804"/>
                    </a:ext>
                  </a:extLst>
                </a:gridCol>
                <a:gridCol w="471751">
                  <a:extLst>
                    <a:ext uri="{9D8B030D-6E8A-4147-A177-3AD203B41FA5}">
                      <a16:colId xmlns:a16="http://schemas.microsoft.com/office/drawing/2014/main" val="1742676290"/>
                    </a:ext>
                  </a:extLst>
                </a:gridCol>
                <a:gridCol w="471751">
                  <a:extLst>
                    <a:ext uri="{9D8B030D-6E8A-4147-A177-3AD203B41FA5}">
                      <a16:colId xmlns:a16="http://schemas.microsoft.com/office/drawing/2014/main" val="3930303487"/>
                    </a:ext>
                  </a:extLst>
                </a:gridCol>
                <a:gridCol w="471751">
                  <a:extLst>
                    <a:ext uri="{9D8B030D-6E8A-4147-A177-3AD203B41FA5}">
                      <a16:colId xmlns:a16="http://schemas.microsoft.com/office/drawing/2014/main" val="249315401"/>
                    </a:ext>
                  </a:extLst>
                </a:gridCol>
                <a:gridCol w="471751">
                  <a:extLst>
                    <a:ext uri="{9D8B030D-6E8A-4147-A177-3AD203B41FA5}">
                      <a16:colId xmlns:a16="http://schemas.microsoft.com/office/drawing/2014/main" val="2350861506"/>
                    </a:ext>
                  </a:extLst>
                </a:gridCol>
                <a:gridCol w="471751">
                  <a:extLst>
                    <a:ext uri="{9D8B030D-6E8A-4147-A177-3AD203B41FA5}">
                      <a16:colId xmlns:a16="http://schemas.microsoft.com/office/drawing/2014/main" val="2934221736"/>
                    </a:ext>
                  </a:extLst>
                </a:gridCol>
                <a:gridCol w="471751">
                  <a:extLst>
                    <a:ext uri="{9D8B030D-6E8A-4147-A177-3AD203B41FA5}">
                      <a16:colId xmlns:a16="http://schemas.microsoft.com/office/drawing/2014/main" val="949557007"/>
                    </a:ext>
                  </a:extLst>
                </a:gridCol>
                <a:gridCol w="471751">
                  <a:extLst>
                    <a:ext uri="{9D8B030D-6E8A-4147-A177-3AD203B41FA5}">
                      <a16:colId xmlns:a16="http://schemas.microsoft.com/office/drawing/2014/main" val="3934525883"/>
                    </a:ext>
                  </a:extLst>
                </a:gridCol>
                <a:gridCol w="471751">
                  <a:extLst>
                    <a:ext uri="{9D8B030D-6E8A-4147-A177-3AD203B41FA5}">
                      <a16:colId xmlns:a16="http://schemas.microsoft.com/office/drawing/2014/main" val="3162354099"/>
                    </a:ext>
                  </a:extLst>
                </a:gridCol>
                <a:gridCol w="471751">
                  <a:extLst>
                    <a:ext uri="{9D8B030D-6E8A-4147-A177-3AD203B41FA5}">
                      <a16:colId xmlns:a16="http://schemas.microsoft.com/office/drawing/2014/main" val="3892937221"/>
                    </a:ext>
                  </a:extLst>
                </a:gridCol>
                <a:gridCol w="471751">
                  <a:extLst>
                    <a:ext uri="{9D8B030D-6E8A-4147-A177-3AD203B41FA5}">
                      <a16:colId xmlns:a16="http://schemas.microsoft.com/office/drawing/2014/main" val="1480260328"/>
                    </a:ext>
                  </a:extLst>
                </a:gridCol>
                <a:gridCol w="651874">
                  <a:extLst>
                    <a:ext uri="{9D8B030D-6E8A-4147-A177-3AD203B41FA5}">
                      <a16:colId xmlns:a16="http://schemas.microsoft.com/office/drawing/2014/main" val="4280656273"/>
                    </a:ext>
                  </a:extLst>
                </a:gridCol>
                <a:gridCol w="228727">
                  <a:extLst>
                    <a:ext uri="{9D8B030D-6E8A-4147-A177-3AD203B41FA5}">
                      <a16:colId xmlns:a16="http://schemas.microsoft.com/office/drawing/2014/main" val="1394458488"/>
                    </a:ext>
                  </a:extLst>
                </a:gridCol>
              </a:tblGrid>
              <a:tr h="231333">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dirty="0">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640186280"/>
                  </a:ext>
                </a:extLst>
              </a:tr>
              <a:tr h="242349">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rowSpan="2">
                  <a:txBody>
                    <a:bodyPr/>
                    <a:lstStyle/>
                    <a:p>
                      <a:pPr algn="ctr" fontAlgn="ctr"/>
                      <a:r>
                        <a:rPr lang="en-IN" sz="1000" b="1" i="0" u="none" strike="noStrike" dirty="0" err="1">
                          <a:solidFill>
                            <a:srgbClr val="000000"/>
                          </a:solidFill>
                          <a:effectLst/>
                          <a:latin typeface="Calibri" panose="020F0502020204030204" pitchFamily="34" charset="0"/>
                        </a:rPr>
                        <a:t>Sl</a:t>
                      </a:r>
                      <a:r>
                        <a:rPr lang="en-IN" sz="1000" b="1" i="0" u="none" strike="noStrike" dirty="0">
                          <a:solidFill>
                            <a:srgbClr val="000000"/>
                          </a:solidFill>
                          <a:effectLst/>
                          <a:latin typeface="Calibri" panose="020F0502020204030204" pitchFamily="34" charset="0"/>
                        </a:rPr>
                        <a:t> No.</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rowSpan="2" gridSpan="5">
                  <a:txBody>
                    <a:bodyPr/>
                    <a:lstStyle/>
                    <a:p>
                      <a:pPr algn="ctr" fontAlgn="ctr"/>
                      <a:r>
                        <a:rPr lang="en-IN" sz="1000" b="1" i="0" u="none" strike="noStrike">
                          <a:solidFill>
                            <a:srgbClr val="000000"/>
                          </a:solidFill>
                          <a:effectLst/>
                          <a:latin typeface="Calibri" panose="020F0502020204030204" pitchFamily="34" charset="0"/>
                        </a:rPr>
                        <a:t>Deliverables</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rowSpan="2" hMerge="1">
                  <a:txBody>
                    <a:bodyPr/>
                    <a:lstStyle/>
                    <a:p>
                      <a:endParaRPr lang="en-IN"/>
                    </a:p>
                  </a:txBody>
                  <a:tcPr/>
                </a:tc>
                <a:tc rowSpan="2" hMerge="1">
                  <a:txBody>
                    <a:bodyPr/>
                    <a:lstStyle/>
                    <a:p>
                      <a:endParaRPr lang="en-IN"/>
                    </a:p>
                  </a:txBody>
                  <a:tcPr/>
                </a:tc>
                <a:tc rowSpan="2" hMerge="1">
                  <a:txBody>
                    <a:bodyPr/>
                    <a:lstStyle/>
                    <a:p>
                      <a:endParaRPr lang="en-IN"/>
                    </a:p>
                  </a:txBody>
                  <a:tcPr/>
                </a:tc>
                <a:tc rowSpan="2" hMerge="1">
                  <a:txBody>
                    <a:bodyPr/>
                    <a:lstStyle/>
                    <a:p>
                      <a:endParaRPr lang="en-IN"/>
                    </a:p>
                  </a:txBody>
                  <a:tcPr/>
                </a:tc>
                <a:tc gridSpan="16">
                  <a:txBody>
                    <a:bodyPr/>
                    <a:lstStyle/>
                    <a:p>
                      <a:pPr algn="ctr" fontAlgn="ctr"/>
                      <a:r>
                        <a:rPr lang="en-IN" sz="1000" b="1" i="0" u="none" strike="noStrike">
                          <a:solidFill>
                            <a:srgbClr val="000000"/>
                          </a:solidFill>
                          <a:effectLst/>
                          <a:latin typeface="Calibri" panose="020F0502020204030204" pitchFamily="34" charset="0"/>
                        </a:rPr>
                        <a:t>Weeks</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algn="ctr" fontAlgn="ctr"/>
                      <a:r>
                        <a:rPr lang="en-IN" sz="1000" b="1" i="0" u="none" strike="noStrike">
                          <a:solidFill>
                            <a:srgbClr val="000000"/>
                          </a:solidFill>
                          <a:effectLst/>
                          <a:latin typeface="Calibri" panose="020F0502020204030204" pitchFamily="34" charset="0"/>
                        </a:rPr>
                        <a:t>Status</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733037191"/>
                  </a:ext>
                </a:extLst>
              </a:tr>
              <a:tr h="231333">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vMerge="1">
                  <a:txBody>
                    <a:bodyPr/>
                    <a:lstStyle/>
                    <a:p>
                      <a:endParaRPr lang="en-IN"/>
                    </a:p>
                  </a:txBody>
                  <a:tcPr/>
                </a:tc>
                <a:tc gridSpan="5"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hMerge="1" vMerge="1">
                  <a:txBody>
                    <a:bodyPr/>
                    <a:lstStyle/>
                    <a:p>
                      <a:endParaRPr lang="en-IN"/>
                    </a:p>
                  </a:txBody>
                  <a:tcPr/>
                </a:tc>
                <a:tc>
                  <a:txBody>
                    <a:bodyPr/>
                    <a:lstStyle/>
                    <a:p>
                      <a:pPr algn="ctr" fontAlgn="ctr"/>
                      <a:r>
                        <a:rPr lang="en-IN" sz="900" b="1" i="0" u="none" strike="noStrike">
                          <a:solidFill>
                            <a:srgbClr val="000000"/>
                          </a:solidFill>
                          <a:effectLst/>
                          <a:latin typeface="Calibri" panose="020F0502020204030204" pitchFamily="34" charset="0"/>
                        </a:rPr>
                        <a:t>1</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IN" sz="900" b="1" i="0" u="none" strike="noStrike">
                          <a:solidFill>
                            <a:srgbClr val="000000"/>
                          </a:solidFill>
                          <a:effectLst/>
                          <a:latin typeface="Calibri" panose="020F0502020204030204" pitchFamily="34" charset="0"/>
                        </a:rPr>
                        <a:t>2</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IN" sz="900" b="1" i="0" u="none" strike="noStrike">
                          <a:solidFill>
                            <a:srgbClr val="000000"/>
                          </a:solidFill>
                          <a:effectLst/>
                          <a:latin typeface="Calibri" panose="020F0502020204030204" pitchFamily="34" charset="0"/>
                        </a:rPr>
                        <a:t>3</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IN" sz="900" b="1" i="0" u="none" strike="noStrike">
                          <a:solidFill>
                            <a:srgbClr val="000000"/>
                          </a:solidFill>
                          <a:effectLst/>
                          <a:latin typeface="Calibri" panose="020F0502020204030204" pitchFamily="34" charset="0"/>
                        </a:rPr>
                        <a:t>4</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IN" sz="900" b="1" i="0" u="none" strike="noStrike">
                          <a:solidFill>
                            <a:srgbClr val="000000"/>
                          </a:solidFill>
                          <a:effectLst/>
                          <a:latin typeface="Calibri" panose="020F0502020204030204" pitchFamily="34" charset="0"/>
                        </a:rPr>
                        <a:t>5</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IN" sz="900" b="1" i="0" u="none" strike="noStrike">
                          <a:solidFill>
                            <a:srgbClr val="000000"/>
                          </a:solidFill>
                          <a:effectLst/>
                          <a:latin typeface="Calibri" panose="020F0502020204030204" pitchFamily="34" charset="0"/>
                        </a:rPr>
                        <a:t>6</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IN" sz="900" b="1" i="0" u="none" strike="noStrike">
                          <a:solidFill>
                            <a:srgbClr val="000000"/>
                          </a:solidFill>
                          <a:effectLst/>
                          <a:latin typeface="Calibri" panose="020F0502020204030204" pitchFamily="34" charset="0"/>
                        </a:rPr>
                        <a:t>7</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IN" sz="900" b="1" i="0" u="none" strike="noStrike">
                          <a:solidFill>
                            <a:srgbClr val="000000"/>
                          </a:solidFill>
                          <a:effectLst/>
                          <a:latin typeface="Calibri" panose="020F0502020204030204" pitchFamily="34" charset="0"/>
                        </a:rPr>
                        <a:t>8</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IN" sz="900" b="1" i="0" u="none" strike="noStrike">
                          <a:solidFill>
                            <a:srgbClr val="000000"/>
                          </a:solidFill>
                          <a:effectLst/>
                          <a:latin typeface="Calibri" panose="020F0502020204030204" pitchFamily="34" charset="0"/>
                        </a:rPr>
                        <a:t>9</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IN" sz="900" b="1" i="0" u="none" strike="noStrike">
                          <a:solidFill>
                            <a:srgbClr val="000000"/>
                          </a:solidFill>
                          <a:effectLst/>
                          <a:latin typeface="Calibri" panose="020F0502020204030204" pitchFamily="34" charset="0"/>
                        </a:rPr>
                        <a:t>10</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IN" sz="900" b="1" i="0" u="none" strike="noStrike">
                          <a:solidFill>
                            <a:srgbClr val="000000"/>
                          </a:solidFill>
                          <a:effectLst/>
                          <a:latin typeface="Calibri" panose="020F0502020204030204" pitchFamily="34" charset="0"/>
                        </a:rPr>
                        <a:t>11</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IN" sz="900" b="1" i="0" u="none" strike="noStrike">
                          <a:solidFill>
                            <a:srgbClr val="000000"/>
                          </a:solidFill>
                          <a:effectLst/>
                          <a:latin typeface="Calibri" panose="020F0502020204030204" pitchFamily="34" charset="0"/>
                        </a:rPr>
                        <a:t>12</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IN" sz="900" b="1" i="0" u="none" strike="noStrike">
                          <a:solidFill>
                            <a:srgbClr val="000000"/>
                          </a:solidFill>
                          <a:effectLst/>
                          <a:latin typeface="Calibri" panose="020F0502020204030204" pitchFamily="34" charset="0"/>
                        </a:rPr>
                        <a:t>13</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IN" sz="900" b="1" i="0" u="none" strike="noStrike">
                          <a:solidFill>
                            <a:srgbClr val="000000"/>
                          </a:solidFill>
                          <a:effectLst/>
                          <a:latin typeface="Calibri" panose="020F0502020204030204" pitchFamily="34" charset="0"/>
                        </a:rPr>
                        <a:t>14</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IN" sz="900" b="1" i="0" u="none" strike="noStrike">
                          <a:solidFill>
                            <a:srgbClr val="000000"/>
                          </a:solidFill>
                          <a:effectLst/>
                          <a:latin typeface="Calibri" panose="020F0502020204030204" pitchFamily="34" charset="0"/>
                        </a:rPr>
                        <a:t>15</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IN" sz="900" b="1" i="0" u="none" strike="noStrike">
                          <a:solidFill>
                            <a:srgbClr val="000000"/>
                          </a:solidFill>
                          <a:effectLst/>
                          <a:latin typeface="Calibri" panose="020F0502020204030204" pitchFamily="34" charset="0"/>
                        </a:rPr>
                        <a:t>16</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vMerge="1">
                  <a:txBody>
                    <a:bodyPr/>
                    <a:lstStyle/>
                    <a:p>
                      <a:endParaRPr lang="en-IN"/>
                    </a:p>
                  </a:txBody>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506911295"/>
                  </a:ext>
                </a:extLst>
              </a:tr>
              <a:tr h="220319">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IN" sz="900" b="1" i="0" u="none" strike="noStrike">
                          <a:solidFill>
                            <a:srgbClr val="000000"/>
                          </a:solidFill>
                          <a:effectLst/>
                          <a:latin typeface="Calibri" panose="020F0502020204030204" pitchFamily="34" charset="0"/>
                        </a:rPr>
                        <a:t>1</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5">
                  <a:txBody>
                    <a:bodyPr/>
                    <a:lstStyle/>
                    <a:p>
                      <a:pPr algn="ctr" fontAlgn="ctr"/>
                      <a:r>
                        <a:rPr lang="en-IN" sz="900" b="1" i="0" u="none" strike="noStrike">
                          <a:solidFill>
                            <a:srgbClr val="000000"/>
                          </a:solidFill>
                          <a:effectLst/>
                          <a:latin typeface="Calibri" panose="020F0502020204030204" pitchFamily="34" charset="0"/>
                        </a:rPr>
                        <a:t>Proposal Approval</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Completed</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226053709"/>
                  </a:ext>
                </a:extLst>
              </a:tr>
              <a:tr h="220319">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IN" sz="900" b="1" i="0" u="none" strike="noStrike">
                          <a:solidFill>
                            <a:srgbClr val="000000"/>
                          </a:solidFill>
                          <a:effectLst/>
                          <a:latin typeface="Calibri" panose="020F0502020204030204" pitchFamily="34" charset="0"/>
                        </a:rPr>
                        <a:t>2</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5">
                  <a:txBody>
                    <a:bodyPr/>
                    <a:lstStyle/>
                    <a:p>
                      <a:pPr algn="ctr" fontAlgn="ctr"/>
                      <a:r>
                        <a:rPr lang="en-IN" sz="900" b="1" i="0" u="none" strike="noStrike">
                          <a:solidFill>
                            <a:srgbClr val="000000"/>
                          </a:solidFill>
                          <a:effectLst/>
                          <a:latin typeface="Calibri" panose="020F0502020204030204" pitchFamily="34" charset="0"/>
                        </a:rPr>
                        <a:t>Literature Review</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Completed</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893129946"/>
                  </a:ext>
                </a:extLst>
              </a:tr>
              <a:tr h="220319">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IN" sz="900" b="1" i="0" u="none" strike="noStrike">
                          <a:solidFill>
                            <a:srgbClr val="000000"/>
                          </a:solidFill>
                          <a:effectLst/>
                          <a:latin typeface="Calibri" panose="020F0502020204030204" pitchFamily="34" charset="0"/>
                        </a:rPr>
                        <a:t>3</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5">
                  <a:txBody>
                    <a:bodyPr/>
                    <a:lstStyle/>
                    <a:p>
                      <a:pPr algn="ctr" fontAlgn="ctr"/>
                      <a:r>
                        <a:rPr lang="en-IN" sz="900" b="1" i="0" u="none" strike="noStrike" dirty="0">
                          <a:solidFill>
                            <a:srgbClr val="000000"/>
                          </a:solidFill>
                          <a:effectLst/>
                          <a:latin typeface="Calibri" panose="020F0502020204030204" pitchFamily="34" charset="0"/>
                        </a:rPr>
                        <a:t>Dataset Finalization</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Ongoing</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978563712"/>
                  </a:ext>
                </a:extLst>
              </a:tr>
              <a:tr h="220319">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IN" sz="900" b="1" i="0" u="none" strike="noStrike">
                          <a:solidFill>
                            <a:srgbClr val="000000"/>
                          </a:solidFill>
                          <a:effectLst/>
                          <a:latin typeface="Calibri" panose="020F0502020204030204" pitchFamily="34" charset="0"/>
                        </a:rPr>
                        <a:t>4</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5">
                  <a:txBody>
                    <a:bodyPr/>
                    <a:lstStyle/>
                    <a:p>
                      <a:pPr algn="ctr" fontAlgn="ctr"/>
                      <a:r>
                        <a:rPr lang="en-IN" sz="900" b="1" i="0" u="none" strike="noStrike" dirty="0">
                          <a:solidFill>
                            <a:srgbClr val="000000"/>
                          </a:solidFill>
                          <a:effectLst/>
                          <a:latin typeface="Calibri" panose="020F0502020204030204" pitchFamily="34" charset="0"/>
                        </a:rPr>
                        <a:t>Data Wrangling</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EAAAA"/>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EAAAA"/>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Ongoing</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379529864"/>
                  </a:ext>
                </a:extLst>
              </a:tr>
              <a:tr h="220319">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IN" sz="900" b="1" i="0" u="none" strike="noStrike">
                          <a:solidFill>
                            <a:srgbClr val="000000"/>
                          </a:solidFill>
                          <a:effectLst/>
                          <a:latin typeface="Calibri" panose="020F0502020204030204" pitchFamily="34" charset="0"/>
                        </a:rPr>
                        <a:t>5</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5">
                  <a:txBody>
                    <a:bodyPr/>
                    <a:lstStyle/>
                    <a:p>
                      <a:pPr algn="ctr" fontAlgn="ctr"/>
                      <a:r>
                        <a:rPr lang="en-IN" sz="900" b="1" i="0" u="none" strike="noStrike" dirty="0">
                          <a:solidFill>
                            <a:srgbClr val="000000"/>
                          </a:solidFill>
                          <a:effectLst/>
                          <a:latin typeface="Calibri" panose="020F0502020204030204" pitchFamily="34" charset="0"/>
                        </a:rPr>
                        <a:t>Data Statistics Reporting</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57171"/>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Pending</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108930737"/>
                  </a:ext>
                </a:extLst>
              </a:tr>
              <a:tr h="220319">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IN" sz="900" b="1" i="0" u="none" strike="noStrike">
                          <a:solidFill>
                            <a:srgbClr val="000000"/>
                          </a:solidFill>
                          <a:effectLst/>
                          <a:latin typeface="Calibri" panose="020F0502020204030204" pitchFamily="34" charset="0"/>
                        </a:rPr>
                        <a:t>6</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5">
                  <a:txBody>
                    <a:bodyPr/>
                    <a:lstStyle/>
                    <a:p>
                      <a:pPr algn="ctr" fontAlgn="ctr"/>
                      <a:r>
                        <a:rPr lang="en-IN" sz="900" b="1" i="0" u="none" strike="noStrike" dirty="0">
                          <a:solidFill>
                            <a:srgbClr val="000000"/>
                          </a:solidFill>
                          <a:effectLst/>
                          <a:latin typeface="Calibri" panose="020F0502020204030204" pitchFamily="34" charset="0"/>
                        </a:rPr>
                        <a:t>VAE Model Implementations</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Pending</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412888849"/>
                  </a:ext>
                </a:extLst>
              </a:tr>
              <a:tr h="220319">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IN" sz="900" b="1" i="0" u="none" strike="noStrike">
                          <a:solidFill>
                            <a:srgbClr val="000000"/>
                          </a:solidFill>
                          <a:effectLst/>
                          <a:latin typeface="Calibri" panose="020F0502020204030204" pitchFamily="34" charset="0"/>
                        </a:rPr>
                        <a:t>7</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5">
                  <a:txBody>
                    <a:bodyPr/>
                    <a:lstStyle/>
                    <a:p>
                      <a:pPr algn="ctr" fontAlgn="ctr"/>
                      <a:r>
                        <a:rPr lang="en-US" sz="900" b="1" i="0" u="none" strike="noStrike" dirty="0">
                          <a:solidFill>
                            <a:srgbClr val="000000"/>
                          </a:solidFill>
                          <a:effectLst/>
                          <a:latin typeface="Calibri" panose="020F0502020204030204" pitchFamily="34" charset="0"/>
                        </a:rPr>
                        <a:t>Implementation of Anomaly Scoring Function</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Pending</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652944076"/>
                  </a:ext>
                </a:extLst>
              </a:tr>
              <a:tr h="220319">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IN" sz="900" b="1" i="0" u="none" strike="noStrike">
                          <a:solidFill>
                            <a:srgbClr val="000000"/>
                          </a:solidFill>
                          <a:effectLst/>
                          <a:latin typeface="Calibri" panose="020F0502020204030204" pitchFamily="34" charset="0"/>
                        </a:rPr>
                        <a:t>8</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5">
                  <a:txBody>
                    <a:bodyPr/>
                    <a:lstStyle/>
                    <a:p>
                      <a:pPr algn="ctr" fontAlgn="ctr"/>
                      <a:r>
                        <a:rPr lang="en-IN" sz="900" b="1" i="0" u="none" strike="noStrike">
                          <a:solidFill>
                            <a:srgbClr val="000000"/>
                          </a:solidFill>
                          <a:effectLst/>
                          <a:latin typeface="Calibri" panose="020F0502020204030204" pitchFamily="34" charset="0"/>
                        </a:rPr>
                        <a:t>Model Evalution</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05496"/>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05496"/>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05496"/>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05496"/>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Pending</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275335786"/>
                  </a:ext>
                </a:extLst>
              </a:tr>
              <a:tr h="220319">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IN" sz="900" b="1" i="0" u="none" strike="noStrike">
                          <a:solidFill>
                            <a:srgbClr val="000000"/>
                          </a:solidFill>
                          <a:effectLst/>
                          <a:latin typeface="Calibri" panose="020F0502020204030204" pitchFamily="34" charset="0"/>
                        </a:rPr>
                        <a:t>9</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5">
                  <a:txBody>
                    <a:bodyPr/>
                    <a:lstStyle/>
                    <a:p>
                      <a:pPr algn="ctr" fontAlgn="ctr"/>
                      <a:r>
                        <a:rPr lang="en-US" sz="900" b="1" i="0" u="none" strike="noStrike" dirty="0">
                          <a:solidFill>
                            <a:srgbClr val="000000"/>
                          </a:solidFill>
                          <a:effectLst/>
                          <a:latin typeface="Calibri" panose="020F0502020204030204" pitchFamily="34" charset="0"/>
                        </a:rPr>
                        <a:t>VAE Anomaly Detection Performance Report</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Pending</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715930075"/>
                  </a:ext>
                </a:extLst>
              </a:tr>
              <a:tr h="220319">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IN" sz="900" b="1" i="0" u="none" strike="noStrike">
                          <a:solidFill>
                            <a:srgbClr val="000000"/>
                          </a:solidFill>
                          <a:effectLst/>
                          <a:latin typeface="Calibri" panose="020F0502020204030204" pitchFamily="34" charset="0"/>
                        </a:rPr>
                        <a:t>10</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5">
                  <a:txBody>
                    <a:bodyPr/>
                    <a:lstStyle/>
                    <a:p>
                      <a:pPr algn="ctr" fontAlgn="ctr"/>
                      <a:r>
                        <a:rPr lang="en-IN" sz="900" b="1" i="0" u="none" strike="noStrike" dirty="0">
                          <a:solidFill>
                            <a:srgbClr val="000000"/>
                          </a:solidFill>
                          <a:effectLst/>
                          <a:latin typeface="Calibri" panose="020F0502020204030204" pitchFamily="34" charset="0"/>
                        </a:rPr>
                        <a:t>Implementation of GAN Model</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B9CA"/>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B9CA"/>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CB9CA"/>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Pending</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156683024"/>
                  </a:ext>
                </a:extLst>
              </a:tr>
              <a:tr h="220319">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IN" sz="900" b="1" i="0" u="none" strike="noStrike">
                          <a:solidFill>
                            <a:srgbClr val="000000"/>
                          </a:solidFill>
                          <a:effectLst/>
                          <a:latin typeface="Calibri" panose="020F0502020204030204" pitchFamily="34" charset="0"/>
                        </a:rPr>
                        <a:t>11</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5">
                  <a:txBody>
                    <a:bodyPr/>
                    <a:lstStyle/>
                    <a:p>
                      <a:pPr algn="ctr" fontAlgn="ctr"/>
                      <a:r>
                        <a:rPr lang="en-IN" sz="900" b="1" i="0" u="none" strike="noStrike">
                          <a:solidFill>
                            <a:srgbClr val="000000"/>
                          </a:solidFill>
                          <a:effectLst/>
                          <a:latin typeface="Calibri" panose="020F0502020204030204" pitchFamily="34" charset="0"/>
                        </a:rPr>
                        <a:t>Model Evalution</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97B0"/>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Pending</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964007212"/>
                  </a:ext>
                </a:extLst>
              </a:tr>
              <a:tr h="220319">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IN" sz="900" b="1" i="0" u="none" strike="noStrike">
                          <a:solidFill>
                            <a:srgbClr val="000000"/>
                          </a:solidFill>
                          <a:effectLst/>
                          <a:latin typeface="Calibri" panose="020F0502020204030204" pitchFamily="34" charset="0"/>
                        </a:rPr>
                        <a:t>12</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5">
                  <a:txBody>
                    <a:bodyPr/>
                    <a:lstStyle/>
                    <a:p>
                      <a:pPr algn="ctr" fontAlgn="ctr"/>
                      <a:r>
                        <a:rPr lang="en-IN" sz="900" b="1" i="0" u="none" strike="noStrike">
                          <a:solidFill>
                            <a:srgbClr val="000000"/>
                          </a:solidFill>
                          <a:effectLst/>
                          <a:latin typeface="Calibri" panose="020F0502020204030204" pitchFamily="34" charset="0"/>
                        </a:rPr>
                        <a:t>GAN Performance Report</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3F4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3F4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Pending</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107243233"/>
                  </a:ext>
                </a:extLst>
              </a:tr>
              <a:tr h="220319">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IN" sz="900" b="1" i="0" u="none" strike="noStrike">
                          <a:solidFill>
                            <a:srgbClr val="000000"/>
                          </a:solidFill>
                          <a:effectLst/>
                          <a:latin typeface="Calibri" panose="020F0502020204030204" pitchFamily="34" charset="0"/>
                        </a:rPr>
                        <a:t>13</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5">
                  <a:txBody>
                    <a:bodyPr/>
                    <a:lstStyle/>
                    <a:p>
                      <a:pPr algn="ctr" fontAlgn="ctr"/>
                      <a:r>
                        <a:rPr lang="en-IN" sz="900" b="1" i="0" u="none" strike="noStrike">
                          <a:solidFill>
                            <a:srgbClr val="000000"/>
                          </a:solidFill>
                          <a:effectLst/>
                          <a:latin typeface="Calibri" panose="020F0502020204030204" pitchFamily="34" charset="0"/>
                        </a:rPr>
                        <a:t>Synthetic Data Generation</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22B35"/>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22B35"/>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Pending</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850062042"/>
                  </a:ext>
                </a:extLst>
              </a:tr>
              <a:tr h="220319">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IN" sz="900" b="1" i="0" u="none" strike="noStrike">
                          <a:solidFill>
                            <a:srgbClr val="000000"/>
                          </a:solidFill>
                          <a:effectLst/>
                          <a:latin typeface="Calibri" panose="020F0502020204030204" pitchFamily="34" charset="0"/>
                        </a:rPr>
                        <a:t>14</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5">
                  <a:txBody>
                    <a:bodyPr/>
                    <a:lstStyle/>
                    <a:p>
                      <a:pPr algn="ctr" fontAlgn="ctr"/>
                      <a:r>
                        <a:rPr lang="en-IN" sz="900" b="1" i="0" u="none" strike="noStrike">
                          <a:solidFill>
                            <a:srgbClr val="000000"/>
                          </a:solidFill>
                          <a:effectLst/>
                          <a:latin typeface="Calibri" panose="020F0502020204030204" pitchFamily="34" charset="0"/>
                        </a:rPr>
                        <a:t>ML Model Performance Report</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5911"/>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5911"/>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Pending</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142319047"/>
                  </a:ext>
                </a:extLst>
              </a:tr>
              <a:tr h="220319">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IN" sz="900" b="1" i="0" u="none" strike="noStrike">
                          <a:solidFill>
                            <a:srgbClr val="000000"/>
                          </a:solidFill>
                          <a:effectLst/>
                          <a:latin typeface="Calibri" panose="020F0502020204030204" pitchFamily="34" charset="0"/>
                        </a:rPr>
                        <a:t>15</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5">
                  <a:txBody>
                    <a:bodyPr/>
                    <a:lstStyle/>
                    <a:p>
                      <a:pPr algn="ctr" fontAlgn="ctr"/>
                      <a:r>
                        <a:rPr lang="en-IN" sz="900" b="1" i="0" u="none" strike="noStrike">
                          <a:solidFill>
                            <a:srgbClr val="000000"/>
                          </a:solidFill>
                          <a:effectLst/>
                          <a:latin typeface="Calibri" panose="020F0502020204030204" pitchFamily="34" charset="0"/>
                        </a:rPr>
                        <a:t>Comprehensice Evaluation Report</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3C0C"/>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3C0C"/>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Pending</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903508860"/>
                  </a:ext>
                </a:extLst>
              </a:tr>
              <a:tr h="220319">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IN" sz="900" b="1" i="0" u="none" strike="noStrike">
                          <a:solidFill>
                            <a:srgbClr val="000000"/>
                          </a:solidFill>
                          <a:effectLst/>
                          <a:latin typeface="Calibri" panose="020F0502020204030204" pitchFamily="34" charset="0"/>
                        </a:rPr>
                        <a:t>16</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5">
                  <a:txBody>
                    <a:bodyPr/>
                    <a:lstStyle/>
                    <a:p>
                      <a:pPr algn="ctr" fontAlgn="ctr"/>
                      <a:r>
                        <a:rPr lang="en-IN" sz="900" b="1" i="0" u="none" strike="noStrike">
                          <a:solidFill>
                            <a:srgbClr val="000000"/>
                          </a:solidFill>
                          <a:effectLst/>
                          <a:latin typeface="Calibri" panose="020F0502020204030204" pitchFamily="34" charset="0"/>
                        </a:rPr>
                        <a:t>Dissertation Finalization</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r>
                        <a:rPr lang="en-IN" sz="900" b="0" i="0" u="none" strike="noStrike">
                          <a:solidFill>
                            <a:srgbClr val="000000"/>
                          </a:solidFill>
                          <a:effectLst/>
                          <a:latin typeface="Calibri" panose="020F0502020204030204" pitchFamily="34" charset="0"/>
                        </a:rPr>
                        <a:t>Pending</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2771409026"/>
                  </a:ext>
                </a:extLst>
              </a:tr>
              <a:tr h="231333">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r>
                        <a:rPr lang="en-IN" sz="900" b="1" i="0" u="none" strike="noStrike">
                          <a:solidFill>
                            <a:srgbClr val="000000"/>
                          </a:solidFill>
                          <a:effectLst/>
                          <a:latin typeface="Calibri" panose="020F0502020204030204" pitchFamily="34" charset="0"/>
                        </a:rPr>
                        <a:t>17</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4C6E7"/>
                    </a:solidFill>
                  </a:tcPr>
                </a:tc>
                <a:tc gridSpan="5">
                  <a:txBody>
                    <a:bodyPr/>
                    <a:lstStyle/>
                    <a:p>
                      <a:pPr algn="ctr" fontAlgn="ctr"/>
                      <a:r>
                        <a:rPr lang="en-IN" sz="900" b="1" i="0" u="none" strike="noStrike">
                          <a:solidFill>
                            <a:srgbClr val="000000"/>
                          </a:solidFill>
                          <a:effectLst/>
                          <a:latin typeface="Calibri" panose="020F0502020204030204" pitchFamily="34" charset="0"/>
                        </a:rPr>
                        <a:t>Submission</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1F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fontAlgn="ctr"/>
                      <a:r>
                        <a:rPr lang="en-IN" sz="900" b="0" i="0" u="none" strike="noStrike">
                          <a:solidFill>
                            <a:srgbClr val="000000"/>
                          </a:solidFill>
                          <a:effectLst/>
                          <a:latin typeface="Calibri" panose="020F0502020204030204" pitchFamily="34" charset="0"/>
                        </a:rPr>
                        <a:t>Pending</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E4D6"/>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856901263"/>
                  </a:ext>
                </a:extLst>
              </a:tr>
              <a:tr h="231333">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dirty="0">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dirty="0">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a:solidFill>
                            <a:srgbClr val="000000"/>
                          </a:solidFill>
                          <a:effectLst/>
                          <a:latin typeface="Calibri" panose="020F0502020204030204" pitchFamily="34" charset="0"/>
                        </a:rPr>
                        <a:t> </a:t>
                      </a:r>
                    </a:p>
                  </a:txBody>
                  <a:tcPr marL="7598" marR="7598" marT="7598"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N" sz="900" b="0" i="0" u="none" strike="noStrike" dirty="0">
                          <a:solidFill>
                            <a:srgbClr val="000000"/>
                          </a:solidFill>
                          <a:effectLst/>
                          <a:latin typeface="Calibri" panose="020F0502020204030204" pitchFamily="34" charset="0"/>
                        </a:rPr>
                        <a:t> </a:t>
                      </a:r>
                    </a:p>
                  </a:txBody>
                  <a:tcPr marL="7598" marR="7598" marT="7598"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55125629"/>
                  </a:ext>
                </a:extLst>
              </a:tr>
            </a:tbl>
          </a:graphicData>
        </a:graphic>
      </p:graphicFrame>
      <p:sp>
        <p:nvSpPr>
          <p:cNvPr id="10" name="TextBox 9">
            <a:extLst>
              <a:ext uri="{FF2B5EF4-FFF2-40B4-BE49-F238E27FC236}">
                <a16:creationId xmlns:a16="http://schemas.microsoft.com/office/drawing/2014/main" id="{558BC72B-F71C-77D8-44E5-B64BC42A4AB1}"/>
              </a:ext>
            </a:extLst>
          </p:cNvPr>
          <p:cNvSpPr txBox="1"/>
          <p:nvPr/>
        </p:nvSpPr>
        <p:spPr>
          <a:xfrm>
            <a:off x="7777691" y="5719009"/>
            <a:ext cx="3574521" cy="369332"/>
          </a:xfrm>
          <a:prstGeom prst="rect">
            <a:avLst/>
          </a:prstGeom>
          <a:noFill/>
        </p:spPr>
        <p:txBody>
          <a:bodyPr wrap="square" rtlCol="0">
            <a:spAutoFit/>
          </a:bodyPr>
          <a:lstStyle/>
          <a:p>
            <a:pPr algn="r"/>
            <a:r>
              <a:rPr lang="en-IN" sz="900" dirty="0"/>
              <a:t>*The dissertation planner is subject to change depending on the project timeline and new discoveries.</a:t>
            </a:r>
          </a:p>
        </p:txBody>
      </p:sp>
    </p:spTree>
    <p:extLst>
      <p:ext uri="{BB962C8B-B14F-4D97-AF65-F5344CB8AC3E}">
        <p14:creationId xmlns:p14="http://schemas.microsoft.com/office/powerpoint/2010/main" val="954299783"/>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C01FD-09F5-E607-5268-BA33650CFA7E}"/>
              </a:ext>
            </a:extLst>
          </p:cNvPr>
          <p:cNvSpPr>
            <a:spLocks noGrp="1"/>
          </p:cNvSpPr>
          <p:nvPr>
            <p:ph type="title"/>
          </p:nvPr>
        </p:nvSpPr>
        <p:spPr/>
        <p:txBody>
          <a:bodyPr anchor="ctr"/>
          <a:lstStyle/>
          <a:p>
            <a:pPr algn="ctr"/>
            <a:r>
              <a:rPr lang="en-IN" dirty="0">
                <a:effectLst>
                  <a:outerShdw blurRad="38100" dist="38100" dir="2700000" algn="tl">
                    <a:srgbClr val="000000">
                      <a:alpha val="43137"/>
                    </a:srgbClr>
                  </a:outerShdw>
                </a:effectLst>
              </a:rPr>
              <a:t>Thank You</a:t>
            </a:r>
          </a:p>
        </p:txBody>
      </p:sp>
      <p:sp>
        <p:nvSpPr>
          <p:cNvPr id="5" name="Footer Placeholder 4">
            <a:extLst>
              <a:ext uri="{FF2B5EF4-FFF2-40B4-BE49-F238E27FC236}">
                <a16:creationId xmlns:a16="http://schemas.microsoft.com/office/drawing/2014/main" id="{56162BA2-A80A-B0D1-7831-FA14CEFD147D}"/>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37E07AFA-1FD9-7853-8FAE-43D46F5AA428}"/>
              </a:ext>
            </a:extLst>
          </p:cNvPr>
          <p:cNvSpPr>
            <a:spLocks noGrp="1"/>
          </p:cNvSpPr>
          <p:nvPr>
            <p:ph type="sldNum" sz="quarter" idx="12"/>
          </p:nvPr>
        </p:nvSpPr>
        <p:spPr/>
        <p:txBody>
          <a:bodyPr/>
          <a:lstStyle/>
          <a:p>
            <a:fld id="{0541023B-0DCA-4467-9EB4-7DB5EBA0C709}" type="slidenum">
              <a:rPr lang="en-IN" smtClean="0"/>
              <a:t>16</a:t>
            </a:fld>
            <a:endParaRPr lang="en-IN"/>
          </a:p>
        </p:txBody>
      </p:sp>
    </p:spTree>
    <p:extLst>
      <p:ext uri="{BB962C8B-B14F-4D97-AF65-F5344CB8AC3E}">
        <p14:creationId xmlns:p14="http://schemas.microsoft.com/office/powerpoint/2010/main" val="76013214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20142-FC9A-8F47-250F-4DD790F4F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E1C009-7963-2995-5DD8-F210FA45B098}"/>
              </a:ext>
            </a:extLst>
          </p:cNvPr>
          <p:cNvSpPr>
            <a:spLocks noGrp="1"/>
          </p:cNvSpPr>
          <p:nvPr>
            <p:ph type="title"/>
          </p:nvPr>
        </p:nvSpPr>
        <p:spPr/>
        <p:txBody>
          <a:bodyPr anchor="ctr"/>
          <a:lstStyle/>
          <a:p>
            <a:pPr algn="ctr"/>
            <a:r>
              <a:rPr lang="en-IN" dirty="0">
                <a:effectLst>
                  <a:outerShdw blurRad="38100" dist="38100" dir="2700000" algn="tl">
                    <a:srgbClr val="000000">
                      <a:alpha val="43137"/>
                    </a:srgbClr>
                  </a:outerShdw>
                </a:effectLst>
              </a:rPr>
              <a:t>QA</a:t>
            </a:r>
          </a:p>
        </p:txBody>
      </p:sp>
      <p:sp>
        <p:nvSpPr>
          <p:cNvPr id="5" name="Footer Placeholder 4">
            <a:extLst>
              <a:ext uri="{FF2B5EF4-FFF2-40B4-BE49-F238E27FC236}">
                <a16:creationId xmlns:a16="http://schemas.microsoft.com/office/drawing/2014/main" id="{9CD623DB-2F0C-8E36-E6C8-56CDF1F7C1B9}"/>
              </a:ext>
            </a:extLst>
          </p:cNvPr>
          <p:cNvSpPr>
            <a:spLocks noGrp="1"/>
          </p:cNvSpPr>
          <p:nvPr>
            <p:ph type="ftr" sz="quarter" idx="11"/>
          </p:nvPr>
        </p:nvSpPr>
        <p:spPr/>
        <p:txBody>
          <a:bodyPr/>
          <a:lstStyle/>
          <a:p>
            <a:r>
              <a:rPr lang="en-IN"/>
              <a:t>Dissertation S2-24 AIMLCZG628T</a:t>
            </a:r>
          </a:p>
        </p:txBody>
      </p:sp>
      <p:sp>
        <p:nvSpPr>
          <p:cNvPr id="6" name="Slide Number Placeholder 5">
            <a:extLst>
              <a:ext uri="{FF2B5EF4-FFF2-40B4-BE49-F238E27FC236}">
                <a16:creationId xmlns:a16="http://schemas.microsoft.com/office/drawing/2014/main" id="{912E9096-4A0A-697E-4209-085B28709140}"/>
              </a:ext>
            </a:extLst>
          </p:cNvPr>
          <p:cNvSpPr>
            <a:spLocks noGrp="1"/>
          </p:cNvSpPr>
          <p:nvPr>
            <p:ph type="sldNum" sz="quarter" idx="12"/>
          </p:nvPr>
        </p:nvSpPr>
        <p:spPr/>
        <p:txBody>
          <a:bodyPr/>
          <a:lstStyle/>
          <a:p>
            <a:fld id="{0541023B-0DCA-4467-9EB4-7DB5EBA0C709}" type="slidenum">
              <a:rPr lang="en-IN" smtClean="0"/>
              <a:t>17</a:t>
            </a:fld>
            <a:endParaRPr lang="en-IN"/>
          </a:p>
        </p:txBody>
      </p:sp>
    </p:spTree>
    <p:extLst>
      <p:ext uri="{BB962C8B-B14F-4D97-AF65-F5344CB8AC3E}">
        <p14:creationId xmlns:p14="http://schemas.microsoft.com/office/powerpoint/2010/main" val="543863596"/>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2645</TotalTime>
  <Words>2509</Words>
  <Application>Microsoft Office PowerPoint</Application>
  <PresentationFormat>Widescreen</PresentationFormat>
  <Paragraphs>634</Paragraphs>
  <Slides>17</Slides>
  <Notes>5</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17</vt:i4>
      </vt:variant>
    </vt:vector>
  </HeadingPairs>
  <TitlesOfParts>
    <vt:vector size="25" baseType="lpstr">
      <vt:lpstr>Arial</vt:lpstr>
      <vt:lpstr>Calibri</vt:lpstr>
      <vt:lpstr>Calibri Light</vt:lpstr>
      <vt:lpstr>Cambria Math</vt:lpstr>
      <vt:lpstr>Wingdings</vt:lpstr>
      <vt:lpstr>Custom Design</vt:lpstr>
      <vt:lpstr>1_Custom Design</vt:lpstr>
      <vt:lpstr>2_Custom Design</vt:lpstr>
      <vt:lpstr>Enhancing Human-Machine Collaboration in Industrial Workflows using Generative AI Models</vt:lpstr>
      <vt:lpstr>Rounaq Choudhuri</vt:lpstr>
      <vt:lpstr>Dissertation Overview </vt:lpstr>
      <vt:lpstr>Overview</vt:lpstr>
      <vt:lpstr>Motivation &amp; Benefits</vt:lpstr>
      <vt:lpstr>Scope of Work</vt:lpstr>
      <vt:lpstr>Datasets</vt:lpstr>
      <vt:lpstr>Concepts At Work</vt:lpstr>
      <vt:lpstr>Feature Scaling</vt:lpstr>
      <vt:lpstr>Performance Metrices</vt:lpstr>
      <vt:lpstr>Performance Metrices (contd.)</vt:lpstr>
      <vt:lpstr>Learning Paradigms</vt:lpstr>
      <vt:lpstr>Solution Plan</vt:lpstr>
      <vt:lpstr>Dissertation Workflow</vt:lpstr>
      <vt:lpstr>Planner</vt:lpstr>
      <vt:lpstr>Thank You</vt:lpstr>
      <vt:lpstr>QA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Rounaq Choudhuri</dc:creator>
  <cp:lastModifiedBy>Rounaq Choudhuri</cp:lastModifiedBy>
  <cp:revision>29</cp:revision>
  <dcterms:created xsi:type="dcterms:W3CDTF">2025-06-07T08:54:58Z</dcterms:created>
  <dcterms:modified xsi:type="dcterms:W3CDTF">2025-06-09T05:00:36Z</dcterms:modified>
</cp:coreProperties>
</file>