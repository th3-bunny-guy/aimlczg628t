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D6"/>
    <a:srgbClr val="1EF2B0"/>
    <a:srgbClr val="BF3DF9"/>
    <a:srgbClr val="007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532" autoAdjust="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DE8B-BAAB-F4AB-AAC7-64D32B4C7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04CC1-0956-B97A-68FF-481698B4D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A53E4-8941-2E5B-6072-B5E0A790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80C3D-DA97-B2F3-5F1D-F5AC55F4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7E879-F65B-EBF4-CDA0-795F16A7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84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C96A-357D-E05C-6005-F6216121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A62A4-39AB-0EDD-DE54-FE63202B9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DDD85-44EA-375B-5820-764F2013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CB5D7-9596-3ABB-D0CB-B23832C8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E5DC5-529D-A565-2F2A-85E7E9C3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3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FC40-752E-20B2-166A-F43FA13F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9E103-937D-0D43-D958-326FEE0BF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5F15E-7B1A-C0B0-3491-13B4E250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7B8D3-5BCF-4F23-BC7F-6911003E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77F00-C45D-8204-A67B-D14ACBB2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338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0EDF-7104-C54B-3A92-337C610F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37C4-9537-0E6F-70BB-AE4D9E2F6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CD5EC-034C-5322-E9A2-AD8B5E85A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61306-A502-4F90-64BF-488B40EB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E9B86-3D08-AB6B-95BB-06FD75A1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9812C-1C18-6A58-7F20-AEE4B9CE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7558-EF57-3842-B1E8-B22D97F9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8AF7C-75CF-BC79-A965-28074AC93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34F55-E15A-1E0C-7238-43E0CB9F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66F98-42F8-4B84-78ED-18F9CE1CD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D8566-234B-6FF0-C95D-9108CBD12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C6A47-C4B0-F4D3-B37A-7419BB85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026B83-0CB7-33B8-563A-AA93FFBB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8166E-8FE1-8CE7-7D6E-537C8B71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3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4802-0B16-79C3-DA4C-3BACA1EF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263E6-57C1-5CA2-6B1B-342D9B06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0AA1E-05E7-016C-2455-43B5004A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5D265-E3FF-6959-3108-F468B1E2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06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A4C25-66A0-0119-50C5-CACD4E28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BF2F1-E44F-E674-F794-ED7A0482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7DBB4-B0C5-62FA-D368-A103EE4F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0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33AE-1FA5-26A7-2EBF-F86D9DE5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94C2-D446-3C58-E202-4A3943D69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48F2B-AEDC-AB70-6038-8CDA8B3CD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DE490-41E1-01F8-0E26-3ED4C4E6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77D47-97CB-A5BB-348D-8134E4E7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86D60-0C45-DE90-C69C-521BE803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05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03191-C193-3B91-A5AF-5A49BE76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18BA0-049E-C7AE-7011-E4F899705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730A3-7394-3AF8-D360-0250B21C9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D63B1-C6CA-FF29-8467-B224A733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ADC77-B500-52E2-C634-EC4949D1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55186-E177-88A6-0675-EF2D8195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42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D958-774C-8D9D-B29E-82316EA4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CB187-8385-F068-9B38-AA87A3909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3F043-2AFE-163C-0455-03EA745E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AC676-3B55-1252-7FFD-5467C3A4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E9BA4-B602-CA63-49EA-ED2A4628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99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7AAC8-0662-7141-E9DA-17FE770F1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D9BD7-296F-5B44-DAA2-A725E9B1F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085EE-C3D8-7750-5A66-BB5D31F9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F4A7-A55E-07FA-47E1-9C61DB86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99BA6-D929-1E6B-5976-E974919D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45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97895-9DF1-1E3A-CAD2-C87BF765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FDB63-2E68-37C9-1391-9FD1809C8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BB39E-9D09-7383-9DB6-C31D4B117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4EF84-2E69-4059-AB91-7063239C299C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65B8B-5708-AE5D-474B-A38B7C793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52803-5342-9B36-E222-C171DF7A4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97358-9E04-47B3-BEB8-D25051013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5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Server">
            <a:extLst>
              <a:ext uri="{FF2B5EF4-FFF2-40B4-BE49-F238E27FC236}">
                <a16:creationId xmlns:a16="http://schemas.microsoft.com/office/drawing/2014/main" id="{B19C5DC8-6E5D-686D-63DF-759253C2B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185" y="205849"/>
            <a:ext cx="714148" cy="714148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B6B178-2EA5-BCDE-4C3B-34E7AB1BB7CE}"/>
              </a:ext>
            </a:extLst>
          </p:cNvPr>
          <p:cNvSpPr txBox="1"/>
          <p:nvPr/>
        </p:nvSpPr>
        <p:spPr>
          <a:xfrm>
            <a:off x="-100126" y="819538"/>
            <a:ext cx="1602769" cy="26161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IN" sz="1100" b="1" dirty="0"/>
              <a:t>Data Source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6D42B5-6EC9-D577-CDDF-F47979E52FCC}"/>
              </a:ext>
            </a:extLst>
          </p:cNvPr>
          <p:cNvSpPr/>
          <p:nvPr/>
        </p:nvSpPr>
        <p:spPr>
          <a:xfrm>
            <a:off x="3914777" y="1633088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No Anomaly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F6B0D4-C2F5-CFE1-AE0F-191676A09340}"/>
              </a:ext>
            </a:extLst>
          </p:cNvPr>
          <p:cNvSpPr/>
          <p:nvPr/>
        </p:nvSpPr>
        <p:spPr>
          <a:xfrm>
            <a:off x="5085292" y="1633088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Training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EE82C0-958E-83A7-FB91-FC5C9DDB9593}"/>
              </a:ext>
            </a:extLst>
          </p:cNvPr>
          <p:cNvSpPr/>
          <p:nvPr/>
        </p:nvSpPr>
        <p:spPr>
          <a:xfrm>
            <a:off x="6255807" y="1633088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Testing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4EB54D-A63A-A50B-3F4F-3E19F83252D0}"/>
              </a:ext>
            </a:extLst>
          </p:cNvPr>
          <p:cNvSpPr/>
          <p:nvPr/>
        </p:nvSpPr>
        <p:spPr>
          <a:xfrm>
            <a:off x="7426322" y="1633089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Validation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C66378-9082-8652-AFA9-89604A5198EC}"/>
              </a:ext>
            </a:extLst>
          </p:cNvPr>
          <p:cNvSpPr/>
          <p:nvPr/>
        </p:nvSpPr>
        <p:spPr>
          <a:xfrm>
            <a:off x="3842812" y="1535028"/>
            <a:ext cx="4817532" cy="5859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1BC93-7A55-4EBD-DDE4-2B4B84FB91DE}"/>
              </a:ext>
            </a:extLst>
          </p:cNvPr>
          <p:cNvSpPr txBox="1"/>
          <p:nvPr/>
        </p:nvSpPr>
        <p:spPr>
          <a:xfrm>
            <a:off x="3835078" y="1316187"/>
            <a:ext cx="1295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Dataset Splitting Component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A57C8A-B882-3426-7EFD-13DE0D57CE98}"/>
              </a:ext>
            </a:extLst>
          </p:cNvPr>
          <p:cNvSpPr/>
          <p:nvPr/>
        </p:nvSpPr>
        <p:spPr>
          <a:xfrm>
            <a:off x="657308" y="2812913"/>
            <a:ext cx="2576434" cy="1549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D08DB-6B3A-D13E-1E86-700179E64E4D}"/>
              </a:ext>
            </a:extLst>
          </p:cNvPr>
          <p:cNvSpPr txBox="1"/>
          <p:nvPr/>
        </p:nvSpPr>
        <p:spPr>
          <a:xfrm>
            <a:off x="657308" y="4380005"/>
            <a:ext cx="2367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Statistical Modeling </a:t>
            </a:r>
            <a:br>
              <a:rPr lang="en-IN" sz="700" b="1" dirty="0"/>
            </a:br>
            <a:r>
              <a:rPr lang="en-IN" sz="700" b="1" dirty="0"/>
              <a:t>Component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6512B9-57DD-F9F3-79B5-A0C44293E06C}"/>
              </a:ext>
            </a:extLst>
          </p:cNvPr>
          <p:cNvSpPr/>
          <p:nvPr/>
        </p:nvSpPr>
        <p:spPr>
          <a:xfrm>
            <a:off x="771415" y="2973379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Z-Score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95A9A5-17FE-D775-E003-BFBC0A13284B}"/>
              </a:ext>
            </a:extLst>
          </p:cNvPr>
          <p:cNvSpPr/>
          <p:nvPr/>
        </p:nvSpPr>
        <p:spPr>
          <a:xfrm>
            <a:off x="771415" y="3411862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IQR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252302-5DA0-B5A8-F228-68E0A7F64A91}"/>
              </a:ext>
            </a:extLst>
          </p:cNvPr>
          <p:cNvSpPr/>
          <p:nvPr/>
        </p:nvSpPr>
        <p:spPr>
          <a:xfrm>
            <a:off x="771415" y="3858809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k-Nearest Neighbors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A91694-7B01-1C74-C0D4-923D4EF3BFDA}"/>
              </a:ext>
            </a:extLst>
          </p:cNvPr>
          <p:cNvSpPr/>
          <p:nvPr/>
        </p:nvSpPr>
        <p:spPr>
          <a:xfrm>
            <a:off x="1968807" y="3856373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Local Outlier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Factor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6CFFB8-EF48-3A10-14A6-D17AADB6F2D0}"/>
              </a:ext>
            </a:extLst>
          </p:cNvPr>
          <p:cNvSpPr/>
          <p:nvPr/>
        </p:nvSpPr>
        <p:spPr>
          <a:xfrm>
            <a:off x="1968807" y="3414876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Percentile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8F49E9-1C81-4D89-731C-49851723E5C6}"/>
              </a:ext>
            </a:extLst>
          </p:cNvPr>
          <p:cNvSpPr/>
          <p:nvPr/>
        </p:nvSpPr>
        <p:spPr>
          <a:xfrm>
            <a:off x="1968807" y="2973379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Multivariate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Gaussian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6F05A6-B0F7-CE9A-8158-0D31B24948CC}"/>
              </a:ext>
            </a:extLst>
          </p:cNvPr>
          <p:cNvSpPr/>
          <p:nvPr/>
        </p:nvSpPr>
        <p:spPr>
          <a:xfrm>
            <a:off x="4813376" y="2920336"/>
            <a:ext cx="1374168" cy="15119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826F9-5C85-7E53-355D-F0E540CF049C}"/>
              </a:ext>
            </a:extLst>
          </p:cNvPr>
          <p:cNvSpPr txBox="1"/>
          <p:nvPr/>
        </p:nvSpPr>
        <p:spPr>
          <a:xfrm>
            <a:off x="3327913" y="4494080"/>
            <a:ext cx="29546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Unsupervised </a:t>
            </a:r>
            <a:br>
              <a:rPr lang="en-IN" sz="700" b="1" dirty="0"/>
            </a:br>
            <a:r>
              <a:rPr lang="en-IN" sz="700" b="1" dirty="0"/>
              <a:t>Modeling </a:t>
            </a:r>
            <a:br>
              <a:rPr lang="en-IN" sz="700" b="1" dirty="0"/>
            </a:br>
            <a:r>
              <a:rPr lang="en-IN" sz="700" b="1" dirty="0"/>
              <a:t>Component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478E69-1C42-1530-F352-879DC909D25D}"/>
              </a:ext>
            </a:extLst>
          </p:cNvPr>
          <p:cNvSpPr/>
          <p:nvPr/>
        </p:nvSpPr>
        <p:spPr>
          <a:xfrm>
            <a:off x="4927483" y="3043091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K-Means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F533BD-E54E-23AE-21B0-386DBFE97A89}"/>
              </a:ext>
            </a:extLst>
          </p:cNvPr>
          <p:cNvSpPr/>
          <p:nvPr/>
        </p:nvSpPr>
        <p:spPr>
          <a:xfrm>
            <a:off x="4927483" y="3485806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Isolation Forest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665F95-A0D7-A271-DDF7-DA9416B0F39B}"/>
              </a:ext>
            </a:extLst>
          </p:cNvPr>
          <p:cNvSpPr/>
          <p:nvPr/>
        </p:nvSpPr>
        <p:spPr>
          <a:xfrm>
            <a:off x="4927483" y="3928521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One-Class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SVM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79C40B-4CC5-6B48-EE95-CC722AF52A1F}"/>
              </a:ext>
            </a:extLst>
          </p:cNvPr>
          <p:cNvSpPr/>
          <p:nvPr/>
        </p:nvSpPr>
        <p:spPr>
          <a:xfrm>
            <a:off x="3462752" y="3489638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Autoencoder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B3B19CC-B46A-8920-6589-81AFE951FA6A}"/>
              </a:ext>
            </a:extLst>
          </p:cNvPr>
          <p:cNvSpPr/>
          <p:nvPr/>
        </p:nvSpPr>
        <p:spPr>
          <a:xfrm>
            <a:off x="3462752" y="3932353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Variational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Autoencoder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69E8A7-157D-3F6E-F027-3D71D541D5BA}"/>
              </a:ext>
            </a:extLst>
          </p:cNvPr>
          <p:cNvSpPr/>
          <p:nvPr/>
        </p:nvSpPr>
        <p:spPr>
          <a:xfrm>
            <a:off x="3348644" y="3357552"/>
            <a:ext cx="1374168" cy="1074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26508-675A-ADC8-2F6A-87C49CB48334}"/>
              </a:ext>
            </a:extLst>
          </p:cNvPr>
          <p:cNvSpPr/>
          <p:nvPr/>
        </p:nvSpPr>
        <p:spPr>
          <a:xfrm>
            <a:off x="3289300" y="2802603"/>
            <a:ext cx="2954658" cy="1693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8FFE4E-C511-44EF-1838-D1FDA35BF900}"/>
              </a:ext>
            </a:extLst>
          </p:cNvPr>
          <p:cNvSpPr/>
          <p:nvPr/>
        </p:nvSpPr>
        <p:spPr>
          <a:xfrm>
            <a:off x="8503920" y="2802603"/>
            <a:ext cx="3307080" cy="21408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6387F6-5BB8-F310-80B4-366AD7983306}"/>
              </a:ext>
            </a:extLst>
          </p:cNvPr>
          <p:cNvSpPr txBox="1"/>
          <p:nvPr/>
        </p:nvSpPr>
        <p:spPr>
          <a:xfrm>
            <a:off x="8503920" y="4935447"/>
            <a:ext cx="2431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Supervised Modeling </a:t>
            </a:r>
            <a:br>
              <a:rPr lang="en-IN" sz="700" b="1" dirty="0"/>
            </a:br>
            <a:r>
              <a:rPr lang="en-IN" sz="700" b="1" dirty="0"/>
              <a:t>Component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EAA4349-619D-6040-BFF4-847654C3B33C}"/>
              </a:ext>
            </a:extLst>
          </p:cNvPr>
          <p:cNvSpPr/>
          <p:nvPr/>
        </p:nvSpPr>
        <p:spPr>
          <a:xfrm>
            <a:off x="8744189" y="3023358"/>
            <a:ext cx="147900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Logistic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Regression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FDCFA1C-CE28-A45F-2B38-C4724A5FA4CB}"/>
              </a:ext>
            </a:extLst>
          </p:cNvPr>
          <p:cNvSpPr/>
          <p:nvPr/>
        </p:nvSpPr>
        <p:spPr>
          <a:xfrm>
            <a:off x="8744188" y="3911409"/>
            <a:ext cx="1473525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Random Forest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Classifier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A9F2D94-008D-9799-A18F-5ACF24ACA67E}"/>
              </a:ext>
            </a:extLst>
          </p:cNvPr>
          <p:cNvSpPr/>
          <p:nvPr/>
        </p:nvSpPr>
        <p:spPr>
          <a:xfrm>
            <a:off x="8744189" y="4355907"/>
            <a:ext cx="147352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XGBoost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Classifier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D3363C4-9635-919B-EBF4-6D110650CD4C}"/>
              </a:ext>
            </a:extLst>
          </p:cNvPr>
          <p:cNvSpPr/>
          <p:nvPr/>
        </p:nvSpPr>
        <p:spPr>
          <a:xfrm>
            <a:off x="8749667" y="3468899"/>
            <a:ext cx="1473526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Support Vector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Machine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C69B6C-04F5-227C-1C52-7A2A56B500B6}"/>
              </a:ext>
            </a:extLst>
          </p:cNvPr>
          <p:cNvSpPr/>
          <p:nvPr/>
        </p:nvSpPr>
        <p:spPr>
          <a:xfrm>
            <a:off x="6305500" y="2802603"/>
            <a:ext cx="1827383" cy="15531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842492B-313F-F0E5-502E-61EC20B7E009}"/>
              </a:ext>
            </a:extLst>
          </p:cNvPr>
          <p:cNvSpPr/>
          <p:nvPr/>
        </p:nvSpPr>
        <p:spPr>
          <a:xfrm>
            <a:off x="6419608" y="2966507"/>
            <a:ext cx="1594742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Synthetic Minority Oversampling Technique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D4B576D-FA14-FC96-8CC4-5822ED31C1B6}"/>
              </a:ext>
            </a:extLst>
          </p:cNvPr>
          <p:cNvSpPr/>
          <p:nvPr/>
        </p:nvSpPr>
        <p:spPr>
          <a:xfrm>
            <a:off x="6419608" y="3409222"/>
            <a:ext cx="1594742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Adaptive Synthetic Sampling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C163CED-1F6C-E496-D737-5E65160E1B8F}"/>
              </a:ext>
            </a:extLst>
          </p:cNvPr>
          <p:cNvSpPr/>
          <p:nvPr/>
        </p:nvSpPr>
        <p:spPr>
          <a:xfrm>
            <a:off x="6419608" y="3851937"/>
            <a:ext cx="1594742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Generative Adversarial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Networks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D99AEF-3D09-20AA-FE3B-42E684A91F43}"/>
              </a:ext>
            </a:extLst>
          </p:cNvPr>
          <p:cNvSpPr txBox="1"/>
          <p:nvPr/>
        </p:nvSpPr>
        <p:spPr>
          <a:xfrm>
            <a:off x="6341915" y="4353051"/>
            <a:ext cx="181759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Synthetic Data </a:t>
            </a:r>
            <a:br>
              <a:rPr lang="en-IN" sz="700" b="1" dirty="0"/>
            </a:br>
            <a:r>
              <a:rPr lang="en-IN" sz="700" b="1" dirty="0"/>
              <a:t>Generation </a:t>
            </a:r>
            <a:br>
              <a:rPr lang="en-IN" sz="700" b="1" dirty="0"/>
            </a:br>
            <a:r>
              <a:rPr lang="en-IN" sz="700" b="1" dirty="0"/>
              <a:t>Component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8E24E39-9028-392F-BE21-825D14D4C4E1}"/>
              </a:ext>
            </a:extLst>
          </p:cNvPr>
          <p:cNvSpPr/>
          <p:nvPr/>
        </p:nvSpPr>
        <p:spPr>
          <a:xfrm>
            <a:off x="8630081" y="2911869"/>
            <a:ext cx="1701222" cy="19395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9CEC967-5DAB-7749-348C-CC2539F9FF13}"/>
              </a:ext>
            </a:extLst>
          </p:cNvPr>
          <p:cNvSpPr/>
          <p:nvPr/>
        </p:nvSpPr>
        <p:spPr>
          <a:xfrm>
            <a:off x="10553421" y="3583195"/>
            <a:ext cx="1147234" cy="5969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Supervised Model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Grid-Search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7D741A6-0BDD-0ACA-3C6B-35357B980ADA}"/>
              </a:ext>
            </a:extLst>
          </p:cNvPr>
          <p:cNvSpPr/>
          <p:nvPr/>
        </p:nvSpPr>
        <p:spPr>
          <a:xfrm>
            <a:off x="3275765" y="5715002"/>
            <a:ext cx="5856364" cy="3979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Model Evaluation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32C96A0-5BB3-1D22-7E3D-F7C02BEA552E}"/>
              </a:ext>
            </a:extLst>
          </p:cNvPr>
          <p:cNvCxnSpPr>
            <a:cxnSpLocks/>
            <a:endCxn id="208" idx="1"/>
          </p:cNvCxnSpPr>
          <p:nvPr/>
        </p:nvCxnSpPr>
        <p:spPr>
          <a:xfrm>
            <a:off x="1090137" y="584222"/>
            <a:ext cx="27185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DE029C3-150F-DF9A-3C25-F4E4F8323237}"/>
              </a:ext>
            </a:extLst>
          </p:cNvPr>
          <p:cNvCxnSpPr>
            <a:cxnSpLocks/>
            <a:stCxn id="207" idx="3"/>
            <a:endCxn id="12" idx="0"/>
          </p:cNvCxnSpPr>
          <p:nvPr/>
        </p:nvCxnSpPr>
        <p:spPr>
          <a:xfrm flipH="1">
            <a:off x="6251578" y="587929"/>
            <a:ext cx="2284146" cy="947099"/>
          </a:xfrm>
          <a:prstGeom prst="bentConnector4">
            <a:avLst>
              <a:gd name="adj1" fmla="val -12445"/>
              <a:gd name="adj2" fmla="val 6050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941CE2F-0B7E-5BA3-7551-A1AF83315A62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rot="5400000">
            <a:off x="2826016" y="1150534"/>
            <a:ext cx="781889" cy="2542869"/>
          </a:xfrm>
          <a:prstGeom prst="bentConnector3">
            <a:avLst>
              <a:gd name="adj1" fmla="val 64619"/>
            </a:avLst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E2FD5374-A50B-32A4-B7DF-6577F4C53D07}"/>
              </a:ext>
            </a:extLst>
          </p:cNvPr>
          <p:cNvCxnSpPr>
            <a:cxnSpLocks/>
            <a:stCxn id="14" idx="2"/>
            <a:endCxn id="55" idx="1"/>
          </p:cNvCxnSpPr>
          <p:nvPr/>
        </p:nvCxnSpPr>
        <p:spPr>
          <a:xfrm rot="16200000" flipH="1">
            <a:off x="1834970" y="4473175"/>
            <a:ext cx="1551350" cy="1330240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4DD37EA9-1C13-213A-7641-A8FF03AECD16}"/>
              </a:ext>
            </a:extLst>
          </p:cNvPr>
          <p:cNvCxnSpPr>
            <a:cxnSpLocks/>
            <a:stCxn id="8" idx="2"/>
            <a:endCxn id="29" idx="0"/>
          </p:cNvCxnSpPr>
          <p:nvPr/>
        </p:nvCxnSpPr>
        <p:spPr>
          <a:xfrm rot="5400000">
            <a:off x="3598797" y="2467955"/>
            <a:ext cx="1326528" cy="452666"/>
          </a:xfrm>
          <a:prstGeom prst="bentConnector3">
            <a:avLst>
              <a:gd name="adj1" fmla="val 38511"/>
            </a:avLst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32E28489-2257-4F43-27DA-0177B8091A61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 rot="5400000">
            <a:off x="5135029" y="2396456"/>
            <a:ext cx="889312" cy="158449"/>
          </a:xfrm>
          <a:prstGeom prst="bentConnector3">
            <a:avLst>
              <a:gd name="adj1" fmla="val 49464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146E9F5-8618-4C07-5F3C-577903EEABDF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5995125" y="2086035"/>
            <a:ext cx="889311" cy="779289"/>
          </a:xfrm>
          <a:prstGeom prst="bentConnector3">
            <a:avLst>
              <a:gd name="adj1" fmla="val 57962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052FDB2C-8D93-6B18-FDCD-F09737D5BDFD}"/>
              </a:ext>
            </a:extLst>
          </p:cNvPr>
          <p:cNvCxnSpPr>
            <a:cxnSpLocks/>
            <a:stCxn id="9" idx="2"/>
            <a:endCxn id="48" idx="0"/>
          </p:cNvCxnSpPr>
          <p:nvPr/>
        </p:nvCxnSpPr>
        <p:spPr>
          <a:xfrm rot="16200000" flipH="1">
            <a:off x="6053261" y="1636671"/>
            <a:ext cx="771579" cy="1560283"/>
          </a:xfrm>
          <a:prstGeom prst="bentConnector3">
            <a:avLst>
              <a:gd name="adj1" fmla="val 57098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C476698E-B589-E107-13D4-8BDAEAC000D5}"/>
              </a:ext>
            </a:extLst>
          </p:cNvPr>
          <p:cNvCxnSpPr>
            <a:cxnSpLocks/>
            <a:stCxn id="51" idx="2"/>
            <a:endCxn id="40" idx="1"/>
          </p:cNvCxnSpPr>
          <p:nvPr/>
        </p:nvCxnSpPr>
        <p:spPr>
          <a:xfrm rot="5400000" flipH="1" flipV="1">
            <a:off x="7672019" y="3417972"/>
            <a:ext cx="376860" cy="1286941"/>
          </a:xfrm>
          <a:prstGeom prst="bentConnector4">
            <a:avLst>
              <a:gd name="adj1" fmla="val -179956"/>
              <a:gd name="adj2" fmla="val 84532"/>
            </a:avLst>
          </a:prstGeom>
          <a:ln w="12700">
            <a:solidFill>
              <a:srgbClr val="0075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306BAA1-B1A4-ABFE-0961-3D9A11FAD10D}"/>
              </a:ext>
            </a:extLst>
          </p:cNvPr>
          <p:cNvCxnSpPr>
            <a:cxnSpLocks/>
            <a:stCxn id="54" idx="2"/>
            <a:endCxn id="53" idx="3"/>
          </p:cNvCxnSpPr>
          <p:nvPr/>
        </p:nvCxnSpPr>
        <p:spPr>
          <a:xfrm rot="5400000" flipH="1">
            <a:off x="10579945" y="3633007"/>
            <a:ext cx="298452" cy="795735"/>
          </a:xfrm>
          <a:prstGeom prst="bentConnector4">
            <a:avLst>
              <a:gd name="adj1" fmla="val -186383"/>
              <a:gd name="adj2" fmla="val 82212"/>
            </a:avLst>
          </a:prstGeom>
          <a:ln w="12700">
            <a:solidFill>
              <a:srgbClr val="00D1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97DA2BC3-02DD-048A-2616-49DC2DEC079D}"/>
              </a:ext>
            </a:extLst>
          </p:cNvPr>
          <p:cNvCxnSpPr>
            <a:cxnSpLocks/>
            <a:stCxn id="53" idx="2"/>
            <a:endCxn id="55" idx="3"/>
          </p:cNvCxnSpPr>
          <p:nvPr/>
        </p:nvCxnSpPr>
        <p:spPr>
          <a:xfrm rot="5400000">
            <a:off x="8775140" y="5208417"/>
            <a:ext cx="1062543" cy="348563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86786113-FEBD-154A-2B79-3A7B1B792BB4}"/>
              </a:ext>
            </a:extLst>
          </p:cNvPr>
          <p:cNvCxnSpPr>
            <a:cxnSpLocks/>
            <a:stCxn id="9" idx="2"/>
            <a:endCxn id="53" idx="0"/>
          </p:cNvCxnSpPr>
          <p:nvPr/>
        </p:nvCxnSpPr>
        <p:spPr>
          <a:xfrm rot="16200000" flipH="1">
            <a:off x="7129378" y="560554"/>
            <a:ext cx="880845" cy="3821783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8BC650A2-5D73-1CB6-2410-FA0FA93EC33E}"/>
              </a:ext>
            </a:extLst>
          </p:cNvPr>
          <p:cNvCxnSpPr>
            <a:cxnSpLocks/>
            <a:stCxn id="10" idx="2"/>
            <a:endCxn id="53" idx="0"/>
          </p:cNvCxnSpPr>
          <p:nvPr/>
        </p:nvCxnSpPr>
        <p:spPr>
          <a:xfrm rot="16200000" flipH="1">
            <a:off x="7714636" y="1145812"/>
            <a:ext cx="880845" cy="2651268"/>
          </a:xfrm>
          <a:prstGeom prst="bentConnector3">
            <a:avLst>
              <a:gd name="adj1" fmla="val 5857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4F8D6180-9D5C-11C2-29ED-63E147A7586B}"/>
              </a:ext>
            </a:extLst>
          </p:cNvPr>
          <p:cNvCxnSpPr>
            <a:cxnSpLocks/>
            <a:stCxn id="11" idx="2"/>
            <a:endCxn id="54" idx="0"/>
          </p:cNvCxnSpPr>
          <p:nvPr/>
        </p:nvCxnSpPr>
        <p:spPr>
          <a:xfrm rot="16200000" flipH="1">
            <a:off x="8787403" y="1243560"/>
            <a:ext cx="1552170" cy="3127099"/>
          </a:xfrm>
          <a:prstGeom prst="bentConnector3">
            <a:avLst>
              <a:gd name="adj1" fmla="val 1514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0FD93CE6-EAF7-6DAA-3C60-EA54AB2A6D1C}"/>
              </a:ext>
            </a:extLst>
          </p:cNvPr>
          <p:cNvCxnSpPr>
            <a:cxnSpLocks/>
            <a:stCxn id="30" idx="2"/>
            <a:endCxn id="55" idx="0"/>
          </p:cNvCxnSpPr>
          <p:nvPr/>
        </p:nvCxnSpPr>
        <p:spPr>
          <a:xfrm rot="16200000" flipH="1">
            <a:off x="4875683" y="4386737"/>
            <a:ext cx="1219211" cy="1437318"/>
          </a:xfrm>
          <a:prstGeom prst="bent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39077799-A5D9-31C6-1B98-67725F197766}"/>
              </a:ext>
            </a:extLst>
          </p:cNvPr>
          <p:cNvSpPr txBox="1"/>
          <p:nvPr/>
        </p:nvSpPr>
        <p:spPr>
          <a:xfrm>
            <a:off x="1297372" y="401798"/>
            <a:ext cx="19363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i="1" dirty="0"/>
              <a:t>Fetching data from data source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C7472DD-2FF2-8822-DDC9-7E8B4A1245A5}"/>
              </a:ext>
            </a:extLst>
          </p:cNvPr>
          <p:cNvSpPr txBox="1"/>
          <p:nvPr/>
        </p:nvSpPr>
        <p:spPr>
          <a:xfrm>
            <a:off x="4866990" y="2121181"/>
            <a:ext cx="842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700" i="1" dirty="0"/>
              <a:t>Data for model</a:t>
            </a:r>
            <a:br>
              <a:rPr lang="en-IN" sz="700" i="1" dirty="0"/>
            </a:br>
            <a:r>
              <a:rPr lang="en-IN" sz="700" i="1" dirty="0"/>
              <a:t>training</a:t>
            </a: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DAE3973C-0B62-C403-E830-4A8003411829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rot="5400000">
            <a:off x="3411273" y="565276"/>
            <a:ext cx="781889" cy="3713384"/>
          </a:xfrm>
          <a:prstGeom prst="bentConnector3">
            <a:avLst>
              <a:gd name="adj1" fmla="val 55847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C4961C52-EFE7-20BC-F1FD-FBC309AE2876}"/>
              </a:ext>
            </a:extLst>
          </p:cNvPr>
          <p:cNvSpPr txBox="1"/>
          <p:nvPr/>
        </p:nvSpPr>
        <p:spPr>
          <a:xfrm>
            <a:off x="3408542" y="2114191"/>
            <a:ext cx="1147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700" i="1" dirty="0"/>
              <a:t>Normal Data for </a:t>
            </a:r>
            <a:br>
              <a:rPr lang="en-IN" sz="700" i="1" dirty="0"/>
            </a:br>
            <a:r>
              <a:rPr lang="en-IN" sz="700" i="1" dirty="0"/>
              <a:t>model training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E6B8ECC-BEAD-1B06-B734-29446A625FF0}"/>
              </a:ext>
            </a:extLst>
          </p:cNvPr>
          <p:cNvSpPr txBox="1"/>
          <p:nvPr/>
        </p:nvSpPr>
        <p:spPr>
          <a:xfrm>
            <a:off x="6046855" y="2121098"/>
            <a:ext cx="842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700" i="1" dirty="0"/>
              <a:t>Data for model</a:t>
            </a:r>
            <a:br>
              <a:rPr lang="en-IN" sz="700" i="1" dirty="0"/>
            </a:br>
            <a:r>
              <a:rPr lang="en-IN" sz="700" i="1" dirty="0"/>
              <a:t>evaluation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B266F5C-AA66-9D3C-A95F-3179C22F9BF7}"/>
              </a:ext>
            </a:extLst>
          </p:cNvPr>
          <p:cNvSpPr txBox="1"/>
          <p:nvPr/>
        </p:nvSpPr>
        <p:spPr>
          <a:xfrm>
            <a:off x="8954443" y="2074931"/>
            <a:ext cx="17265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700" i="1" dirty="0"/>
              <a:t>Data for model evaluation &amp; grid-search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7459F2A-DDCF-AF8C-DBCD-BE012AFE7CCB}"/>
              </a:ext>
            </a:extLst>
          </p:cNvPr>
          <p:cNvSpPr txBox="1"/>
          <p:nvPr/>
        </p:nvSpPr>
        <p:spPr>
          <a:xfrm>
            <a:off x="8786394" y="677784"/>
            <a:ext cx="8428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Processed Data for splitting</a:t>
            </a:r>
            <a:br>
              <a:rPr lang="en-IN" sz="700" i="1" dirty="0"/>
            </a:br>
            <a:r>
              <a:rPr lang="en-IN" sz="700" i="1" dirty="0"/>
              <a:t>component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8DD16FD-D34D-7689-67DB-A9F2647C9B92}"/>
              </a:ext>
            </a:extLst>
          </p:cNvPr>
          <p:cNvSpPr txBox="1"/>
          <p:nvPr/>
        </p:nvSpPr>
        <p:spPr>
          <a:xfrm>
            <a:off x="1899805" y="4406181"/>
            <a:ext cx="84284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Model</a:t>
            </a:r>
            <a:br>
              <a:rPr lang="en-IN" sz="700" i="1" dirty="0"/>
            </a:br>
            <a:r>
              <a:rPr lang="en-IN" sz="700" i="1" dirty="0"/>
              <a:t>Evaluation</a:t>
            </a:r>
          </a:p>
          <a:p>
            <a:r>
              <a:rPr lang="en-IN" sz="700" i="1" dirty="0"/>
              <a:t>Data</a:t>
            </a:r>
          </a:p>
          <a:p>
            <a:r>
              <a:rPr lang="en-IN" sz="700" i="1" dirty="0"/>
              <a:t>sent to evaluation</a:t>
            </a:r>
          </a:p>
          <a:p>
            <a:r>
              <a:rPr lang="en-IN" sz="700" i="1" dirty="0"/>
              <a:t>component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69CC5E3-D609-4C11-73F7-2382065EA416}"/>
              </a:ext>
            </a:extLst>
          </p:cNvPr>
          <p:cNvSpPr txBox="1"/>
          <p:nvPr/>
        </p:nvSpPr>
        <p:spPr>
          <a:xfrm>
            <a:off x="4720909" y="4492504"/>
            <a:ext cx="84284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Model</a:t>
            </a:r>
            <a:br>
              <a:rPr lang="en-IN" sz="700" i="1" dirty="0"/>
            </a:br>
            <a:r>
              <a:rPr lang="en-IN" sz="700" i="1" dirty="0"/>
              <a:t>Evaluation</a:t>
            </a:r>
          </a:p>
          <a:p>
            <a:r>
              <a:rPr lang="en-IN" sz="700" i="1" dirty="0"/>
              <a:t>Data</a:t>
            </a:r>
          </a:p>
          <a:p>
            <a:r>
              <a:rPr lang="en-IN" sz="700" i="1" dirty="0"/>
              <a:t>sent to evaluation</a:t>
            </a:r>
          </a:p>
          <a:p>
            <a:r>
              <a:rPr lang="en-IN" sz="700" i="1" dirty="0"/>
              <a:t>component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901BE42-77BF-EE6E-A779-F159D2B15EE6}"/>
              </a:ext>
            </a:extLst>
          </p:cNvPr>
          <p:cNvSpPr txBox="1"/>
          <p:nvPr/>
        </p:nvSpPr>
        <p:spPr>
          <a:xfrm>
            <a:off x="9426775" y="4936889"/>
            <a:ext cx="84284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Model</a:t>
            </a:r>
            <a:br>
              <a:rPr lang="en-IN" sz="700" i="1" dirty="0"/>
            </a:br>
            <a:r>
              <a:rPr lang="en-IN" sz="700" i="1" dirty="0"/>
              <a:t>Evaluation</a:t>
            </a:r>
          </a:p>
          <a:p>
            <a:r>
              <a:rPr lang="en-IN" sz="700" i="1" dirty="0"/>
              <a:t>Data</a:t>
            </a:r>
          </a:p>
          <a:p>
            <a:r>
              <a:rPr lang="en-IN" sz="700" i="1" dirty="0"/>
              <a:t>sent to evaluation</a:t>
            </a:r>
          </a:p>
          <a:p>
            <a:r>
              <a:rPr lang="en-IN" sz="700" i="1" dirty="0"/>
              <a:t>component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BCE9BB-8DDE-EB21-F636-81C430A66871}"/>
              </a:ext>
            </a:extLst>
          </p:cNvPr>
          <p:cNvSpPr txBox="1"/>
          <p:nvPr/>
        </p:nvSpPr>
        <p:spPr>
          <a:xfrm>
            <a:off x="7380668" y="4643731"/>
            <a:ext cx="842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Synthetic data is</a:t>
            </a:r>
          </a:p>
          <a:p>
            <a:r>
              <a:rPr lang="en-IN" sz="700" i="1" dirty="0"/>
              <a:t>augmented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90F0B3-4AEC-A848-055A-AC6956E6C034}"/>
              </a:ext>
            </a:extLst>
          </p:cNvPr>
          <p:cNvSpPr txBox="1"/>
          <p:nvPr/>
        </p:nvSpPr>
        <p:spPr>
          <a:xfrm>
            <a:off x="10462738" y="4325288"/>
            <a:ext cx="8428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Best model is used for evaluation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9F5C7224-1B73-8C24-C572-794709942B0C}"/>
              </a:ext>
            </a:extLst>
          </p:cNvPr>
          <p:cNvSpPr/>
          <p:nvPr/>
        </p:nvSpPr>
        <p:spPr>
          <a:xfrm>
            <a:off x="3946945" y="389305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Data Preprocessing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FDFE9C4D-85F3-E2DF-3128-7FF374B56E65}"/>
              </a:ext>
            </a:extLst>
          </p:cNvPr>
          <p:cNvSpPr/>
          <p:nvPr/>
        </p:nvSpPr>
        <p:spPr>
          <a:xfrm>
            <a:off x="5667717" y="388961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Feature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Engineering</a:t>
            </a: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17CFF2BA-3689-AA45-DAC8-471929142E2E}"/>
              </a:ext>
            </a:extLst>
          </p:cNvPr>
          <p:cNvSpPr/>
          <p:nvPr/>
        </p:nvSpPr>
        <p:spPr>
          <a:xfrm>
            <a:off x="7388490" y="388961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Feature Scaling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C3D74E7-E29F-5381-2329-F2F5B6D9EC45}"/>
              </a:ext>
            </a:extLst>
          </p:cNvPr>
          <p:cNvSpPr/>
          <p:nvPr/>
        </p:nvSpPr>
        <p:spPr>
          <a:xfrm>
            <a:off x="3808674" y="291245"/>
            <a:ext cx="4883838" cy="5859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980EB4-01E6-66BC-6B15-867AE227B758}"/>
              </a:ext>
            </a:extLst>
          </p:cNvPr>
          <p:cNvSpPr txBox="1"/>
          <p:nvPr/>
        </p:nvSpPr>
        <p:spPr>
          <a:xfrm>
            <a:off x="3827491" y="80355"/>
            <a:ext cx="1295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Data Processing Component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C7A148F5-F761-2D98-8B8D-4B76414DD843}"/>
              </a:ext>
            </a:extLst>
          </p:cNvPr>
          <p:cNvCxnSpPr>
            <a:cxnSpLocks/>
            <a:stCxn id="205" idx="3"/>
            <a:endCxn id="206" idx="1"/>
          </p:cNvCxnSpPr>
          <p:nvPr/>
        </p:nvCxnSpPr>
        <p:spPr>
          <a:xfrm flipV="1">
            <a:off x="5094179" y="587929"/>
            <a:ext cx="573538" cy="3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404F8181-320C-8141-7A2B-DB14AE5B8C2A}"/>
              </a:ext>
            </a:extLst>
          </p:cNvPr>
          <p:cNvCxnSpPr>
            <a:cxnSpLocks/>
            <a:stCxn id="206" idx="3"/>
            <a:endCxn id="207" idx="1"/>
          </p:cNvCxnSpPr>
          <p:nvPr/>
        </p:nvCxnSpPr>
        <p:spPr>
          <a:xfrm>
            <a:off x="6814951" y="587929"/>
            <a:ext cx="57353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40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003355-0565-E5DE-5FB8-0C11F1E57AA8}"/>
              </a:ext>
            </a:extLst>
          </p:cNvPr>
          <p:cNvSpPr/>
          <p:nvPr/>
        </p:nvSpPr>
        <p:spPr>
          <a:xfrm>
            <a:off x="10191963" y="737595"/>
            <a:ext cx="1161837" cy="4944013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83C1D-2090-A254-50FD-02BA3A66A0F6}"/>
              </a:ext>
            </a:extLst>
          </p:cNvPr>
          <p:cNvSpPr/>
          <p:nvPr/>
        </p:nvSpPr>
        <p:spPr>
          <a:xfrm>
            <a:off x="5241318" y="1243172"/>
            <a:ext cx="4529406" cy="486995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0E14E-97DE-79F3-CF18-C7BEEBD11A95}"/>
              </a:ext>
            </a:extLst>
          </p:cNvPr>
          <p:cNvSpPr/>
          <p:nvPr/>
        </p:nvSpPr>
        <p:spPr>
          <a:xfrm>
            <a:off x="521092" y="2938083"/>
            <a:ext cx="4032928" cy="256594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591FEB-F185-EAF4-0C39-DF88B4ED6C84}"/>
              </a:ext>
            </a:extLst>
          </p:cNvPr>
          <p:cNvSpPr txBox="1"/>
          <p:nvPr/>
        </p:nvSpPr>
        <p:spPr>
          <a:xfrm>
            <a:off x="526536" y="5249054"/>
            <a:ext cx="3929653" cy="26161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IN" sz="1100" b="1" dirty="0"/>
              <a:t>Data Preprocessing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CCA55-1D74-5EE0-29EF-40A5E71F9C55}"/>
              </a:ext>
            </a:extLst>
          </p:cNvPr>
          <p:cNvSpPr txBox="1"/>
          <p:nvPr/>
        </p:nvSpPr>
        <p:spPr>
          <a:xfrm>
            <a:off x="5241318" y="5852991"/>
            <a:ext cx="4361381" cy="26161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IN" sz="1100" b="1" dirty="0"/>
              <a:t>Modelling Pipeline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27BDD-914E-E7FA-3F70-1A77AF010DFF}"/>
              </a:ext>
            </a:extLst>
          </p:cNvPr>
          <p:cNvSpPr txBox="1"/>
          <p:nvPr/>
        </p:nvSpPr>
        <p:spPr>
          <a:xfrm>
            <a:off x="10191963" y="5698355"/>
            <a:ext cx="1602769" cy="26161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IN" sz="1100" b="1" dirty="0"/>
              <a:t>Presentation Layer*</a:t>
            </a:r>
          </a:p>
        </p:txBody>
      </p:sp>
      <p:pic>
        <p:nvPicPr>
          <p:cNvPr id="16" name="Graphic 15" descr="Server">
            <a:extLst>
              <a:ext uri="{FF2B5EF4-FFF2-40B4-BE49-F238E27FC236}">
                <a16:creationId xmlns:a16="http://schemas.microsoft.com/office/drawing/2014/main" id="{D6CCCAED-7FD6-FDFA-3384-A5069D703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3096" y="1434405"/>
            <a:ext cx="914400" cy="914400"/>
          </a:xfrm>
          <a:prstGeom prst="rect">
            <a:avLst/>
          </a:prstGeom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E59C6B-88AF-F112-590A-E630BD7BEFC3}"/>
              </a:ext>
            </a:extLst>
          </p:cNvPr>
          <p:cNvSpPr txBox="1"/>
          <p:nvPr/>
        </p:nvSpPr>
        <p:spPr>
          <a:xfrm>
            <a:off x="1508911" y="2254529"/>
            <a:ext cx="1602769" cy="26161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IN" sz="1100" b="1" dirty="0"/>
              <a:t>Data Source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28D9CE4-2DCC-3D90-EC81-D6DC3EA717BB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5400000">
            <a:off x="1507688" y="2391179"/>
            <a:ext cx="677648" cy="92756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C1AC02C-2920-2A2B-F272-96866ADAA8BD}"/>
              </a:ext>
            </a:extLst>
          </p:cNvPr>
          <p:cNvCxnSpPr>
            <a:cxnSpLocks/>
            <a:stCxn id="30" idx="0"/>
          </p:cNvCxnSpPr>
          <p:nvPr/>
        </p:nvCxnSpPr>
        <p:spPr>
          <a:xfrm rot="5400000" flipH="1" flipV="1">
            <a:off x="5853218" y="-1417734"/>
            <a:ext cx="2157146" cy="7079000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71A1819-7EDD-6B03-D174-B1D605BBBD93}"/>
              </a:ext>
            </a:extLst>
          </p:cNvPr>
          <p:cNvCxnSpPr>
            <a:cxnSpLocks/>
            <a:stCxn id="30" idx="3"/>
            <a:endCxn id="38" idx="1"/>
          </p:cNvCxnSpPr>
          <p:nvPr/>
        </p:nvCxnSpPr>
        <p:spPr>
          <a:xfrm flipV="1">
            <a:off x="4363305" y="1740764"/>
            <a:ext cx="1143643" cy="1728178"/>
          </a:xfrm>
          <a:prstGeom prst="bentConnector3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0352778-12FB-5A56-DC93-A8CDD0DEF63F}"/>
              </a:ext>
            </a:extLst>
          </p:cNvPr>
          <p:cNvCxnSpPr>
            <a:cxnSpLocks/>
            <a:stCxn id="30" idx="3"/>
            <a:endCxn id="39" idx="1"/>
          </p:cNvCxnSpPr>
          <p:nvPr/>
        </p:nvCxnSpPr>
        <p:spPr>
          <a:xfrm flipV="1">
            <a:off x="4363305" y="2482386"/>
            <a:ext cx="1143643" cy="98655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7578777-A944-C61C-8962-AD93A9C8C08B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>
            <a:off x="4363305" y="3468942"/>
            <a:ext cx="1143643" cy="295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F491660-8DDB-84E1-5D42-284AC57089B7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>
            <a:off x="4363305" y="3468942"/>
            <a:ext cx="1143645" cy="129813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CD405A-BA58-9367-B827-1E120343D30F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7185918" y="3469748"/>
            <a:ext cx="663538" cy="215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DC5573-9B48-6B53-314F-2FE2AC0B03BF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7185918" y="4767078"/>
            <a:ext cx="66353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09760EB-FA3F-9E6B-ABA1-59C515BB4206}"/>
              </a:ext>
            </a:extLst>
          </p:cNvPr>
          <p:cNvCxnSpPr>
            <a:cxnSpLocks/>
            <a:stCxn id="38" idx="3"/>
            <a:endCxn id="34" idx="0"/>
          </p:cNvCxnSpPr>
          <p:nvPr/>
        </p:nvCxnSpPr>
        <p:spPr>
          <a:xfrm>
            <a:off x="9528426" y="1740764"/>
            <a:ext cx="942865" cy="262429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FE2F0C6-7D79-13B5-EB2D-DB7513A17500}"/>
              </a:ext>
            </a:extLst>
          </p:cNvPr>
          <p:cNvCxnSpPr>
            <a:cxnSpLocks/>
            <a:stCxn id="39" idx="3"/>
            <a:endCxn id="34" idx="0"/>
          </p:cNvCxnSpPr>
          <p:nvPr/>
        </p:nvCxnSpPr>
        <p:spPr>
          <a:xfrm>
            <a:off x="9528426" y="2482386"/>
            <a:ext cx="942865" cy="188266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52E4C91-870A-5601-BFC6-10AADAC212F3}"/>
              </a:ext>
            </a:extLst>
          </p:cNvPr>
          <p:cNvCxnSpPr>
            <a:cxnSpLocks/>
            <a:stCxn id="33" idx="3"/>
            <a:endCxn id="34" idx="0"/>
          </p:cNvCxnSpPr>
          <p:nvPr/>
        </p:nvCxnSpPr>
        <p:spPr>
          <a:xfrm>
            <a:off x="9528426" y="3469748"/>
            <a:ext cx="942865" cy="89530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048E898-CA4A-FD4C-209F-1FCDAE8D2FE8}"/>
              </a:ext>
            </a:extLst>
          </p:cNvPr>
          <p:cNvCxnSpPr>
            <a:cxnSpLocks/>
            <a:stCxn id="36" idx="3"/>
            <a:endCxn id="34" idx="0"/>
          </p:cNvCxnSpPr>
          <p:nvPr/>
        </p:nvCxnSpPr>
        <p:spPr>
          <a:xfrm flipV="1">
            <a:off x="9528426" y="4365054"/>
            <a:ext cx="942865" cy="40202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1134902-74C8-4096-ED5A-727789DE3B60}"/>
              </a:ext>
            </a:extLst>
          </p:cNvPr>
          <p:cNvSpPr/>
          <p:nvPr/>
        </p:nvSpPr>
        <p:spPr>
          <a:xfrm>
            <a:off x="2421277" y="3200339"/>
            <a:ext cx="1942028" cy="537206"/>
          </a:xfrm>
          <a:prstGeom prst="roundRect">
            <a:avLst/>
          </a:prstGeom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Feature Scaling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734489-EEEA-8F06-7FB6-879130B2B61D}"/>
              </a:ext>
            </a:extLst>
          </p:cNvPr>
          <p:cNvSpPr/>
          <p:nvPr/>
        </p:nvSpPr>
        <p:spPr>
          <a:xfrm>
            <a:off x="780944" y="3193787"/>
            <a:ext cx="1203568" cy="537206"/>
          </a:xfrm>
          <a:prstGeom prst="roundRect">
            <a:avLst/>
          </a:prstGeom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Wrangling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98ECDD9-BF7C-F423-68C0-9045E812A227}"/>
              </a:ext>
            </a:extLst>
          </p:cNvPr>
          <p:cNvSpPr/>
          <p:nvPr/>
        </p:nvSpPr>
        <p:spPr>
          <a:xfrm>
            <a:off x="5506948" y="2896094"/>
            <a:ext cx="1678970" cy="1151608"/>
          </a:xfrm>
          <a:prstGeom prst="roundRect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VAE Model Training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4C45AE5-E045-E7D1-10EA-6C5C32ADDDA4}"/>
              </a:ext>
            </a:extLst>
          </p:cNvPr>
          <p:cNvSpPr/>
          <p:nvPr/>
        </p:nvSpPr>
        <p:spPr>
          <a:xfrm>
            <a:off x="7849456" y="2891794"/>
            <a:ext cx="1678970" cy="1155907"/>
          </a:xfrm>
          <a:prstGeom prst="roundRect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Anomaly Score</a:t>
            </a:r>
          </a:p>
          <a:p>
            <a:pPr algn="ctr"/>
            <a:r>
              <a:rPr lang="en-IN" sz="1600" b="1" dirty="0"/>
              <a:t>Function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9EFB4AE-03FE-483D-22D8-853C32F8C457}"/>
              </a:ext>
            </a:extLst>
          </p:cNvPr>
          <p:cNvSpPr/>
          <p:nvPr/>
        </p:nvSpPr>
        <p:spPr>
          <a:xfrm rot="16200000">
            <a:off x="9633913" y="4063463"/>
            <a:ext cx="2277938" cy="603182"/>
          </a:xfrm>
          <a:prstGeom prst="roundRect">
            <a:avLst/>
          </a:prstGeom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Model Evaluation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A407B3-028F-8908-AF72-A7FADDF3E618}"/>
              </a:ext>
            </a:extLst>
          </p:cNvPr>
          <p:cNvSpPr/>
          <p:nvPr/>
        </p:nvSpPr>
        <p:spPr>
          <a:xfrm>
            <a:off x="5506950" y="4130080"/>
            <a:ext cx="1678968" cy="1273995"/>
          </a:xfrm>
          <a:prstGeom prst="roundRect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GAN Model</a:t>
            </a:r>
            <a:br>
              <a:rPr lang="en-IN" sz="1600" b="1" dirty="0"/>
            </a:br>
            <a:r>
              <a:rPr lang="en-IN" sz="1600" b="1" dirty="0"/>
              <a:t>Training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4E0E086-D45D-E351-1583-8FC4281C30BE}"/>
              </a:ext>
            </a:extLst>
          </p:cNvPr>
          <p:cNvSpPr/>
          <p:nvPr/>
        </p:nvSpPr>
        <p:spPr>
          <a:xfrm>
            <a:off x="7849455" y="4130080"/>
            <a:ext cx="1678971" cy="1273995"/>
          </a:xfrm>
          <a:prstGeom prst="roundRect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Synthetic</a:t>
            </a:r>
            <a:br>
              <a:rPr lang="en-IN" sz="1600" b="1" dirty="0"/>
            </a:br>
            <a:r>
              <a:rPr lang="en-IN" sz="1600" b="1" dirty="0"/>
              <a:t>Data</a:t>
            </a:r>
            <a:br>
              <a:rPr lang="en-IN" sz="1600" b="1" dirty="0"/>
            </a:br>
            <a:r>
              <a:rPr lang="en-IN" sz="1600" b="1" dirty="0"/>
              <a:t>Generation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BAC77F3-D013-6285-518B-C81894B64304}"/>
              </a:ext>
            </a:extLst>
          </p:cNvPr>
          <p:cNvSpPr/>
          <p:nvPr/>
        </p:nvSpPr>
        <p:spPr>
          <a:xfrm rot="16200000">
            <a:off x="9633913" y="1706457"/>
            <a:ext cx="2277938" cy="603182"/>
          </a:xfrm>
          <a:prstGeom prst="roundRect">
            <a:avLst/>
          </a:prstGeom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Statistical Reports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4B6563F-8A56-6CF3-07E5-B413B2A4BAFE}"/>
              </a:ext>
            </a:extLst>
          </p:cNvPr>
          <p:cNvSpPr/>
          <p:nvPr/>
        </p:nvSpPr>
        <p:spPr>
          <a:xfrm>
            <a:off x="5506948" y="1412850"/>
            <a:ext cx="4021478" cy="655828"/>
          </a:xfrm>
          <a:prstGeom prst="roundRect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Supervised Model Training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F5C9391-0B25-7CEA-2B88-0FD2AE69A92C}"/>
              </a:ext>
            </a:extLst>
          </p:cNvPr>
          <p:cNvSpPr/>
          <p:nvPr/>
        </p:nvSpPr>
        <p:spPr>
          <a:xfrm>
            <a:off x="5506948" y="2154472"/>
            <a:ext cx="4021478" cy="655828"/>
          </a:xfrm>
          <a:prstGeom prst="roundRect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Unsupervised Model Training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7D328EF4-E54A-7E89-6E5C-BE3EAC5F3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2958" y="5032128"/>
            <a:ext cx="997156" cy="463131"/>
          </a:xfrm>
          <a:prstGeom prst="rect">
            <a:avLst/>
          </a:prstGeom>
          <a:effectLst/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3754EA6-5A64-7FFB-55F1-FFAD6A102F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9706" y="5032128"/>
            <a:ext cx="997156" cy="463131"/>
          </a:xfrm>
          <a:prstGeom prst="rect">
            <a:avLst/>
          </a:prstGeom>
          <a:effectLst/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7C530A7C-D05A-3127-A122-66A7306131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6835" y="5846094"/>
            <a:ext cx="997157" cy="259095"/>
          </a:xfrm>
          <a:prstGeom prst="rect">
            <a:avLst/>
          </a:prstGeom>
          <a:effectLst/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608CADD-9D2A-B3FF-68BF-2B26D4179C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947" y="5711254"/>
            <a:ext cx="997156" cy="463131"/>
          </a:xfrm>
          <a:prstGeom prst="rect">
            <a:avLst/>
          </a:prstGeom>
          <a:effectLst/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7060D21-415F-52BC-A4F6-5A922B6EB090}"/>
              </a:ext>
            </a:extLst>
          </p:cNvPr>
          <p:cNvCxnSpPr>
            <a:cxnSpLocks/>
            <a:stCxn id="36" idx="2"/>
            <a:endCxn id="31" idx="1"/>
          </p:cNvCxnSpPr>
          <p:nvPr/>
        </p:nvCxnSpPr>
        <p:spPr>
          <a:xfrm rot="5400000" flipH="1">
            <a:off x="3764100" y="479235"/>
            <a:ext cx="1941685" cy="7907997"/>
          </a:xfrm>
          <a:prstGeom prst="bentConnector4">
            <a:avLst>
              <a:gd name="adj1" fmla="val -11773"/>
              <a:gd name="adj2" fmla="val 105619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15F2D12-2050-40F1-3EDD-90DF8FDDD98F}"/>
              </a:ext>
            </a:extLst>
          </p:cNvPr>
          <p:cNvSpPr/>
          <p:nvPr/>
        </p:nvSpPr>
        <p:spPr>
          <a:xfrm>
            <a:off x="2421277" y="3784063"/>
            <a:ext cx="1942028" cy="537206"/>
          </a:xfrm>
          <a:prstGeom prst="roundRect">
            <a:avLst/>
          </a:prstGeom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Feature Engineering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5EF7EFD-3D73-B8E8-DE83-9762B0D4ADCF}"/>
              </a:ext>
            </a:extLst>
          </p:cNvPr>
          <p:cNvSpPr/>
          <p:nvPr/>
        </p:nvSpPr>
        <p:spPr>
          <a:xfrm>
            <a:off x="2421277" y="4367787"/>
            <a:ext cx="1942028" cy="537206"/>
          </a:xfrm>
          <a:prstGeom prst="roundRect">
            <a:avLst/>
          </a:prstGeom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Data Preprocessing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57AE800-453C-5027-53D2-67DFF2FE1BB7}"/>
              </a:ext>
            </a:extLst>
          </p:cNvPr>
          <p:cNvSpPr/>
          <p:nvPr/>
        </p:nvSpPr>
        <p:spPr>
          <a:xfrm>
            <a:off x="2263840" y="3090427"/>
            <a:ext cx="2192349" cy="1941701"/>
          </a:xfrm>
          <a:prstGeom prst="roundRect">
            <a:avLst/>
          </a:prstGeom>
          <a:noFill/>
          <a:ln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9846BC3-6C56-ECBF-976E-2AE26F670953}"/>
              </a:ext>
            </a:extLst>
          </p:cNvPr>
          <p:cNvCxnSpPr>
            <a:cxnSpLocks/>
            <a:stCxn id="31" idx="2"/>
            <a:endCxn id="47" idx="1"/>
          </p:cNvCxnSpPr>
          <p:nvPr/>
        </p:nvCxnSpPr>
        <p:spPr>
          <a:xfrm rot="16200000" flipH="1">
            <a:off x="1658142" y="3455579"/>
            <a:ext cx="330285" cy="881112"/>
          </a:xfrm>
          <a:prstGeom prst="bentConnector2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8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33D1-F8FA-5773-0739-251885B6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AB3EA5-3597-6783-6EB7-F0A6BB529CD1}"/>
              </a:ext>
            </a:extLst>
          </p:cNvPr>
          <p:cNvSpPr/>
          <p:nvPr/>
        </p:nvSpPr>
        <p:spPr>
          <a:xfrm>
            <a:off x="2103078" y="643071"/>
            <a:ext cx="1147234" cy="3979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Data Upload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25AD15-3DED-B064-FCF3-5E554173AAD8}"/>
              </a:ext>
            </a:extLst>
          </p:cNvPr>
          <p:cNvSpPr/>
          <p:nvPr/>
        </p:nvSpPr>
        <p:spPr>
          <a:xfrm>
            <a:off x="2409826" y="1602447"/>
            <a:ext cx="1147234" cy="5213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</a:rPr>
              <a:t>Processing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477345-C8BF-4BA3-3F6D-61BF6CF33FBA}"/>
              </a:ext>
            </a:extLst>
          </p:cNvPr>
          <p:cNvSpPr/>
          <p:nvPr/>
        </p:nvSpPr>
        <p:spPr>
          <a:xfrm>
            <a:off x="7591616" y="941386"/>
            <a:ext cx="1518699" cy="214765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5545FF-8E65-8CE0-275C-6DD006852E69}"/>
              </a:ext>
            </a:extLst>
          </p:cNvPr>
          <p:cNvSpPr/>
          <p:nvPr/>
        </p:nvSpPr>
        <p:spPr>
          <a:xfrm>
            <a:off x="2879534" y="2424584"/>
            <a:ext cx="1147234" cy="5213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Exploratory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Data Analysis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0A76A4-A480-A826-4CF5-88C7C80A034D}"/>
              </a:ext>
            </a:extLst>
          </p:cNvPr>
          <p:cNvSpPr/>
          <p:nvPr/>
        </p:nvSpPr>
        <p:spPr>
          <a:xfrm>
            <a:off x="9569462" y="1136696"/>
            <a:ext cx="2277938" cy="618508"/>
          </a:xfrm>
          <a:prstGeom prst="roundRect">
            <a:avLst/>
          </a:prstGeom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Anomaly Detection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5A0575-293E-12F4-0842-015B0A07EF33}"/>
              </a:ext>
            </a:extLst>
          </p:cNvPr>
          <p:cNvSpPr/>
          <p:nvPr/>
        </p:nvSpPr>
        <p:spPr>
          <a:xfrm>
            <a:off x="9569462" y="2467249"/>
            <a:ext cx="2277938" cy="618508"/>
          </a:xfrm>
          <a:prstGeom prst="roundRect">
            <a:avLst/>
          </a:prstGeom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Model Performance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98B89E-280C-5464-5BFF-099723A8B654}"/>
              </a:ext>
            </a:extLst>
          </p:cNvPr>
          <p:cNvSpPr/>
          <p:nvPr/>
        </p:nvSpPr>
        <p:spPr>
          <a:xfrm>
            <a:off x="7129059" y="4923992"/>
            <a:ext cx="2277938" cy="618508"/>
          </a:xfrm>
          <a:prstGeom prst="roundRect">
            <a:avLst/>
          </a:prstGeom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Statistical Reports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8EEA4C-F574-2E20-C1C0-44A3C04C4FB6}"/>
              </a:ext>
            </a:extLst>
          </p:cNvPr>
          <p:cNvSpPr/>
          <p:nvPr/>
        </p:nvSpPr>
        <p:spPr>
          <a:xfrm>
            <a:off x="1940118" y="4923992"/>
            <a:ext cx="3233884" cy="618508"/>
          </a:xfrm>
          <a:prstGeom prst="roundRect">
            <a:avLst/>
          </a:prstGeom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Graphical Reports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C8AA1-B2B6-F93B-5F16-C1FE7B5E392B}"/>
              </a:ext>
            </a:extLst>
          </p:cNvPr>
          <p:cNvSpPr txBox="1"/>
          <p:nvPr/>
        </p:nvSpPr>
        <p:spPr>
          <a:xfrm>
            <a:off x="9240159" y="6457262"/>
            <a:ext cx="1602769" cy="26161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r"/>
            <a:r>
              <a:rPr lang="en-IN" sz="1100" b="1" dirty="0"/>
              <a:t>Presentation Layer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9AA271F-4B02-1065-2714-45E4F36C3FC3}"/>
              </a:ext>
            </a:extLst>
          </p:cNvPr>
          <p:cNvSpPr/>
          <p:nvPr/>
        </p:nvSpPr>
        <p:spPr>
          <a:xfrm>
            <a:off x="4026768" y="3770011"/>
            <a:ext cx="1147234" cy="5213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Statistical Modeling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AA1033-D7EA-D0A7-3460-4FDDA692965B}"/>
              </a:ext>
            </a:extLst>
          </p:cNvPr>
          <p:cNvSpPr/>
          <p:nvPr/>
        </p:nvSpPr>
        <p:spPr>
          <a:xfrm>
            <a:off x="7789031" y="1220737"/>
            <a:ext cx="1147235" cy="5213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Unsupervised Modeling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A071A4-15F5-5AF2-91A0-2692ABCB17B9}"/>
              </a:ext>
            </a:extLst>
          </p:cNvPr>
          <p:cNvSpPr/>
          <p:nvPr/>
        </p:nvSpPr>
        <p:spPr>
          <a:xfrm>
            <a:off x="7789031" y="2305899"/>
            <a:ext cx="1147235" cy="5213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Supervised Modeling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1DA9E5-8802-D541-C1A4-B9A6DC68B87A}"/>
              </a:ext>
            </a:extLst>
          </p:cNvPr>
          <p:cNvSpPr/>
          <p:nvPr/>
        </p:nvSpPr>
        <p:spPr>
          <a:xfrm>
            <a:off x="4951615" y="712416"/>
            <a:ext cx="1147234" cy="5213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Synthetic Data Generation</a:t>
            </a:r>
            <a:br>
              <a:rPr lang="en-IN" sz="1000" dirty="0">
                <a:solidFill>
                  <a:schemeClr val="tx1"/>
                </a:solidFill>
              </a:rPr>
            </a:br>
            <a:r>
              <a:rPr lang="en-IN" sz="1000" dirty="0">
                <a:solidFill>
                  <a:schemeClr val="tx1"/>
                </a:solidFill>
              </a:rPr>
              <a:t>Module</a:t>
            </a:r>
          </a:p>
        </p:txBody>
      </p:sp>
      <p:pic>
        <p:nvPicPr>
          <p:cNvPr id="20" name="Graphic 19" descr="Server">
            <a:extLst>
              <a:ext uri="{FF2B5EF4-FFF2-40B4-BE49-F238E27FC236}">
                <a16:creationId xmlns:a16="http://schemas.microsoft.com/office/drawing/2014/main" id="{9419D096-7B45-ED06-7603-4EA47ABD0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185" y="205849"/>
            <a:ext cx="714148" cy="7141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99780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259</Words>
  <Application>Microsoft Office PowerPoint</Application>
  <PresentationFormat>Widescreen</PresentationFormat>
  <Paragraphs>85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Rounaq Choudhuri</dc:creator>
  <cp:lastModifiedBy>Rounaq Choudhuri</cp:lastModifiedBy>
  <cp:revision>3</cp:revision>
  <dcterms:created xsi:type="dcterms:W3CDTF">2025-08-17T00:56:57Z</dcterms:created>
  <dcterms:modified xsi:type="dcterms:W3CDTF">2025-08-17T03:22:33Z</dcterms:modified>
</cp:coreProperties>
</file>