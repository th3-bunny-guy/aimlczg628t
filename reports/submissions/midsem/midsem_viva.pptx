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5" r:id="rId3"/>
  </p:sldMasterIdLst>
  <p:notesMasterIdLst>
    <p:notesMasterId r:id="rId44"/>
  </p:notesMasterIdLst>
  <p:sldIdLst>
    <p:sldId id="256" r:id="rId4"/>
    <p:sldId id="260" r:id="rId5"/>
    <p:sldId id="292" r:id="rId6"/>
    <p:sldId id="295" r:id="rId7"/>
    <p:sldId id="296" r:id="rId8"/>
    <p:sldId id="280" r:id="rId9"/>
    <p:sldId id="294" r:id="rId10"/>
    <p:sldId id="287" r:id="rId11"/>
    <p:sldId id="288" r:id="rId12"/>
    <p:sldId id="290" r:id="rId13"/>
    <p:sldId id="289" r:id="rId14"/>
    <p:sldId id="298" r:id="rId15"/>
    <p:sldId id="281" r:id="rId16"/>
    <p:sldId id="309" r:id="rId17"/>
    <p:sldId id="299" r:id="rId18"/>
    <p:sldId id="304" r:id="rId19"/>
    <p:sldId id="300" r:id="rId20"/>
    <p:sldId id="305" r:id="rId21"/>
    <p:sldId id="306" r:id="rId22"/>
    <p:sldId id="307" r:id="rId23"/>
    <p:sldId id="308" r:id="rId24"/>
    <p:sldId id="301" r:id="rId25"/>
    <p:sldId id="310" r:id="rId26"/>
    <p:sldId id="311" r:id="rId27"/>
    <p:sldId id="312" r:id="rId28"/>
    <p:sldId id="313" r:id="rId29"/>
    <p:sldId id="314" r:id="rId30"/>
    <p:sldId id="303" r:id="rId31"/>
    <p:sldId id="318" r:id="rId32"/>
    <p:sldId id="324" r:id="rId33"/>
    <p:sldId id="326" r:id="rId34"/>
    <p:sldId id="325" r:id="rId35"/>
    <p:sldId id="327" r:id="rId36"/>
    <p:sldId id="293" r:id="rId37"/>
    <p:sldId id="283" r:id="rId38"/>
    <p:sldId id="316" r:id="rId39"/>
    <p:sldId id="284" r:id="rId40"/>
    <p:sldId id="266" r:id="rId41"/>
    <p:sldId id="269" r:id="rId42"/>
    <p:sldId id="29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25CAE86-79AD-455B-8112-4A64647B4723}">
          <p14:sldIdLst>
            <p14:sldId id="256"/>
            <p14:sldId id="260"/>
          </p14:sldIdLst>
        </p14:section>
        <p14:section name="Overview" id="{90209B3C-F508-4ADB-8D91-DF8CBD20A0E7}">
          <p14:sldIdLst>
            <p14:sldId id="292"/>
            <p14:sldId id="295"/>
            <p14:sldId id="296"/>
            <p14:sldId id="280"/>
          </p14:sldIdLst>
        </p14:section>
        <p14:section name="Concepts At Work" id="{D74AF727-DA29-4469-A4BB-3F83A1A08792}">
          <p14:sldIdLst>
            <p14:sldId id="294"/>
            <p14:sldId id="287"/>
            <p14:sldId id="288"/>
            <p14:sldId id="290"/>
            <p14:sldId id="289"/>
          </p14:sldIdLst>
        </p14:section>
        <p14:section name="Dataset" id="{A2FB7520-2F8B-46FD-BEE2-01178FC709F2}">
          <p14:sldIdLst>
            <p14:sldId id="298"/>
            <p14:sldId id="281"/>
            <p14:sldId id="309"/>
            <p14:sldId id="299"/>
            <p14:sldId id="304"/>
            <p14:sldId id="300"/>
            <p14:sldId id="305"/>
            <p14:sldId id="306"/>
            <p14:sldId id="307"/>
            <p14:sldId id="308"/>
            <p14:sldId id="301"/>
            <p14:sldId id="310"/>
            <p14:sldId id="311"/>
            <p14:sldId id="312"/>
            <p14:sldId id="313"/>
            <p14:sldId id="314"/>
          </p14:sldIdLst>
        </p14:section>
        <p14:section name="Modelling" id="{5C9BBD13-8733-4D73-B806-6E649FC3EBE5}">
          <p14:sldIdLst>
            <p14:sldId id="303"/>
            <p14:sldId id="318"/>
            <p14:sldId id="324"/>
            <p14:sldId id="326"/>
            <p14:sldId id="325"/>
            <p14:sldId id="327"/>
          </p14:sldIdLst>
        </p14:section>
        <p14:section name="Solution Plan" id="{129AE998-37EE-428C-9D0A-D092F5D8AC9E}">
          <p14:sldIdLst>
            <p14:sldId id="293"/>
            <p14:sldId id="283"/>
            <p14:sldId id="316"/>
            <p14:sldId id="284"/>
          </p14:sldIdLst>
        </p14:section>
        <p14:section name="Thank you" id="{B3AF78DD-930A-4A32-BA96-026C92DFEAA3}">
          <p14:sldIdLst>
            <p14:sldId id="266"/>
            <p14:sldId id="269"/>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6532" autoAdjust="0"/>
  </p:normalViewPr>
  <p:slideViewPr>
    <p:cSldViewPr snapToGrid="0">
      <p:cViewPr>
        <p:scale>
          <a:sx n="100" d="100"/>
          <a:sy n="100" d="100"/>
        </p:scale>
        <p:origin x="954" y="43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2EFB5C-47A3-487E-AB60-33CE9B4EAF46}" type="datetimeFigureOut">
              <a:rPr lang="en-IN" smtClean="0"/>
              <a:t>20-07-2025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A1C4D0-EE6E-44D9-87D5-41BFE31C9C6A}" type="slidenum">
              <a:rPr lang="en-IN" smtClean="0"/>
              <a:t>‹#›</a:t>
            </a:fld>
            <a:endParaRPr lang="en-IN"/>
          </a:p>
        </p:txBody>
      </p:sp>
    </p:spTree>
    <p:extLst>
      <p:ext uri="{BB962C8B-B14F-4D97-AF65-F5344CB8AC3E}">
        <p14:creationId xmlns:p14="http://schemas.microsoft.com/office/powerpoint/2010/main" val="110170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EA1C4D0-EE6E-44D9-87D5-41BFE31C9C6A}" type="slidenum">
              <a:rPr lang="en-IN" smtClean="0"/>
              <a:t>6</a:t>
            </a:fld>
            <a:endParaRPr lang="en-IN"/>
          </a:p>
        </p:txBody>
      </p:sp>
    </p:spTree>
    <p:extLst>
      <p:ext uri="{BB962C8B-B14F-4D97-AF65-F5344CB8AC3E}">
        <p14:creationId xmlns:p14="http://schemas.microsoft.com/office/powerpoint/2010/main" val="1900824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Z-Score Scaling also know as standard scaling</a:t>
            </a:r>
          </a:p>
        </p:txBody>
      </p:sp>
      <p:sp>
        <p:nvSpPr>
          <p:cNvPr id="4" name="Slide Number Placeholder 3"/>
          <p:cNvSpPr>
            <a:spLocks noGrp="1"/>
          </p:cNvSpPr>
          <p:nvPr>
            <p:ph type="sldNum" sz="quarter" idx="5"/>
          </p:nvPr>
        </p:nvSpPr>
        <p:spPr/>
        <p:txBody>
          <a:bodyPr/>
          <a:lstStyle/>
          <a:p>
            <a:fld id="{CEA1C4D0-EE6E-44D9-87D5-41BFE31C9C6A}" type="slidenum">
              <a:rPr lang="en-IN" smtClean="0"/>
              <a:t>8</a:t>
            </a:fld>
            <a:endParaRPr lang="en-IN"/>
          </a:p>
        </p:txBody>
      </p:sp>
    </p:spTree>
    <p:extLst>
      <p:ext uri="{BB962C8B-B14F-4D97-AF65-F5344CB8AC3E}">
        <p14:creationId xmlns:p14="http://schemas.microsoft.com/office/powerpoint/2010/main" val="381957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anomaly detection, TP </a:t>
            </a:r>
            <a:r>
              <a:rPr lang="en-US" sz="1200" dirty="0"/>
              <a:t>represents correctly predicted anomalies, while TN refers to non-anomalies accurately identified as non-anomalies. FP occurs when a non-anomaly is mistakenly predicted as an anomaly, and FN occurs when an anomaly is wrongly predicted as a non-anomaly</a:t>
            </a:r>
            <a:r>
              <a:rPr lang="en-US" dirty="0"/>
              <a:t>.</a:t>
            </a:r>
          </a:p>
          <a:p>
            <a:endParaRPr lang="en-US" dirty="0"/>
          </a:p>
          <a:p>
            <a:r>
              <a:rPr lang="en-US" dirty="0"/>
              <a:t>Here, β is a constant that allows the metric to apply preferential weight to either Precision or Recall, depending on whether false negatives or false positives have more severe consequences. In this thesis, this metric will be used for the specific case β =1,whichassigns equal importance to both precision and recall.</a:t>
            </a:r>
            <a:endParaRPr lang="en-IN" dirty="0"/>
          </a:p>
        </p:txBody>
      </p:sp>
      <p:sp>
        <p:nvSpPr>
          <p:cNvPr id="4" name="Slide Number Placeholder 3"/>
          <p:cNvSpPr>
            <a:spLocks noGrp="1"/>
          </p:cNvSpPr>
          <p:nvPr>
            <p:ph type="sldNum" sz="quarter" idx="5"/>
          </p:nvPr>
        </p:nvSpPr>
        <p:spPr/>
        <p:txBody>
          <a:bodyPr/>
          <a:lstStyle/>
          <a:p>
            <a:fld id="{CEA1C4D0-EE6E-44D9-87D5-41BFE31C9C6A}" type="slidenum">
              <a:rPr lang="en-IN" smtClean="0"/>
              <a:t>9</a:t>
            </a:fld>
            <a:endParaRPr lang="en-IN"/>
          </a:p>
        </p:txBody>
      </p:sp>
    </p:spTree>
    <p:extLst>
      <p:ext uri="{BB962C8B-B14F-4D97-AF65-F5344CB8AC3E}">
        <p14:creationId xmlns:p14="http://schemas.microsoft.com/office/powerpoint/2010/main" val="2342702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E4DF9-BD93-B534-2E16-EE4483589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828B45-DACD-5632-E80C-FB3113468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72585-5F5E-FD13-2144-1360B0424D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a:t>
            </a:r>
            <a:r>
              <a:rPr lang="en-US" sz="1200" b="1" dirty="0"/>
              <a:t>ROC</a:t>
            </a:r>
            <a:r>
              <a:rPr lang="en-US" sz="1200" dirty="0"/>
              <a:t> curve is obtained by varying the classification threshold and plotting the TPR against the FPR. A perfect classifier would have a curve that passes through the top-left corner of the graph, indicating a TPR of 1 and an FPR of 0. A random classifier, on the other hand, would have a diagonal line from the bottom-left corner to the top-right corner, representing a random guess.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b="1" dirty="0"/>
              <a:t>PR</a:t>
            </a:r>
            <a:r>
              <a:rPr lang="en-US" dirty="0"/>
              <a:t> curve that is closer to the upper-left corner of the plot indicates better precision and recall across thresholds.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Area Under the Curve (AUC)</a:t>
            </a:r>
            <a:r>
              <a:rPr lang="en-US" sz="1200" dirty="0"/>
              <a:t>, known as the AUC, is a single scalar value that summarizes the overall performance of the classification model across all possible thresholds. The AUC ranges from 0 to 1, where a value of 1 represents a perfect classifier, and a value of 0.5 corresponds to a random classifier.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AUC has several desirable properties that make it a popular choice for evaluating classification models: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Invariance to class distribution:</a:t>
            </a:r>
            <a:r>
              <a:rPr lang="en-US" sz="1200" dirty="0"/>
              <a:t> The AUC is not affected by the proportion of positive and negative instances in the dataset, making it suitable for imbalanced datasets.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Invariance to classification threshold:</a:t>
            </a:r>
            <a:r>
              <a:rPr lang="en-US" sz="1200" dirty="0"/>
              <a:t> The AUC considers the classifier’s performance across all possible thresholds, comprehensively evaluating the model’s performance.</a:t>
            </a:r>
          </a:p>
          <a:p>
            <a:endParaRPr lang="en-IN" sz="1200" b="1" dirty="0"/>
          </a:p>
          <a:p>
            <a:r>
              <a:rPr lang="en-IN" sz="1200" b="1" dirty="0"/>
              <a:t>When to Use Each ::</a:t>
            </a:r>
            <a:endParaRPr lang="en-IN" sz="1200" dirty="0"/>
          </a:p>
          <a:p>
            <a:pPr marL="171450" indent="-171450">
              <a:buFont typeface="Arial" panose="020B0604020202020204" pitchFamily="34" charset="0"/>
              <a:buChar char="•"/>
            </a:pPr>
            <a:r>
              <a:rPr lang="en-US" sz="1200" b="1" dirty="0"/>
              <a:t>ROC-AUC</a:t>
            </a:r>
            <a:r>
              <a:rPr lang="en-US" sz="1200" dirty="0"/>
              <a:t> is suitable when the dataset is relatively balanced, and false positives and false negatives are of similar importance. It provides a comprehensive view of the model's overall discrimination ability across all thresholds.</a:t>
            </a:r>
          </a:p>
          <a:p>
            <a:pPr marL="171450" indent="-171450">
              <a:buFont typeface="Arial" panose="020B0604020202020204" pitchFamily="34" charset="0"/>
              <a:buChar char="•"/>
            </a:pPr>
            <a:r>
              <a:rPr lang="en-US" sz="1200" b="1" dirty="0"/>
              <a:t>PR-AUC</a:t>
            </a:r>
            <a:r>
              <a:rPr lang="en-US" sz="1200" dirty="0"/>
              <a:t> is more appropriate and informative when the dataset is heavily imbalanced, and the accurate identification of the minority (anomaly) class is paramount, especially when the costs associated with false negatives are high. It offers a more focused evaluation on the model's ability to correctly predict positive cases at various levels of recall. </a:t>
            </a:r>
          </a:p>
          <a:p>
            <a:pPr marL="171450" indent="-171450">
              <a:buFont typeface="Arial" panose="020B0604020202020204" pitchFamily="34" charset="0"/>
              <a:buChar char="•"/>
            </a:pPr>
            <a:endParaRPr lang="en-US" sz="1200" dirty="0"/>
          </a:p>
          <a:p>
            <a:pPr marL="0" indent="0">
              <a:buFont typeface="Arial" panose="020B0604020202020204" pitchFamily="34" charset="0"/>
              <a:buNone/>
            </a:pPr>
            <a:endParaRPr lang="en-US" sz="1200" dirty="0"/>
          </a:p>
          <a:p>
            <a:pPr marL="171450" indent="-171450">
              <a:buFont typeface="Arial" panose="020B0604020202020204" pitchFamily="34" charset="0"/>
              <a:buChar char="•"/>
            </a:pPr>
            <a:endParaRPr lang="en-US" sz="1200" dirty="0"/>
          </a:p>
          <a:p>
            <a:pPr marL="0" indent="0">
              <a:buFont typeface="Arial" panose="020B0604020202020204" pitchFamily="34" charset="0"/>
              <a:buNone/>
            </a:pPr>
            <a:endParaRPr lang="en-IN" sz="1200" dirty="0"/>
          </a:p>
        </p:txBody>
      </p:sp>
      <p:sp>
        <p:nvSpPr>
          <p:cNvPr id="4" name="Slide Number Placeholder 3">
            <a:extLst>
              <a:ext uri="{FF2B5EF4-FFF2-40B4-BE49-F238E27FC236}">
                <a16:creationId xmlns:a16="http://schemas.microsoft.com/office/drawing/2014/main" id="{BE96435F-A14C-EB91-AFED-602761427FE5}"/>
              </a:ext>
            </a:extLst>
          </p:cNvPr>
          <p:cNvSpPr>
            <a:spLocks noGrp="1"/>
          </p:cNvSpPr>
          <p:nvPr>
            <p:ph type="sldNum" sz="quarter" idx="5"/>
          </p:nvPr>
        </p:nvSpPr>
        <p:spPr/>
        <p:txBody>
          <a:bodyPr/>
          <a:lstStyle/>
          <a:p>
            <a:fld id="{CEA1C4D0-EE6E-44D9-87D5-41BFE31C9C6A}" type="slidenum">
              <a:rPr lang="en-IN" smtClean="0"/>
              <a:t>10</a:t>
            </a:fld>
            <a:endParaRPr lang="en-IN"/>
          </a:p>
        </p:txBody>
      </p:sp>
    </p:spTree>
    <p:extLst>
      <p:ext uri="{BB962C8B-B14F-4D97-AF65-F5344CB8AC3E}">
        <p14:creationId xmlns:p14="http://schemas.microsoft.com/office/powerpoint/2010/main" val="1412676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Skoltech</a:t>
            </a:r>
            <a:r>
              <a:rPr lang="en-US" dirty="0"/>
              <a:t> Anomaly Benchmark (SKAB) dataset is designed to evaluate the anomaly detection</a:t>
            </a:r>
          </a:p>
          <a:p>
            <a:r>
              <a:rPr lang="en-US" dirty="0"/>
              <a:t>score. The SKAB dataset contains 35 data files in “.csv” format. Each file represents one</a:t>
            </a:r>
          </a:p>
          <a:p>
            <a:r>
              <a:rPr lang="en-US" dirty="0"/>
              <a:t>experiment and contains one anomaly (the exception is the anomaly-free file, which does not</a:t>
            </a:r>
          </a:p>
          <a:p>
            <a:r>
              <a:rPr lang="en-US" dirty="0"/>
              <a:t>contain any anomalies). The set of data represents a multidimensional time series collected</a:t>
            </a:r>
          </a:p>
          <a:p>
            <a:r>
              <a:rPr lang="en-US" dirty="0"/>
              <a:t>from sensors installed on the test bench. This experiment was recorded 13 different types of</a:t>
            </a:r>
          </a:p>
          <a:p>
            <a:r>
              <a:rPr lang="en-IN" dirty="0"/>
              <a:t>anomalies across 3 days.</a:t>
            </a:r>
          </a:p>
          <a:p>
            <a:endParaRPr lang="en-IN" dirty="0"/>
          </a:p>
          <a:p>
            <a:r>
              <a:rPr lang="en-US" sz="1200" b="0" i="0" u="none" strike="noStrike" kern="1200" baseline="0" dirty="0">
                <a:solidFill>
                  <a:schemeClr val="tx1"/>
                </a:solidFill>
                <a:latin typeface="+mn-lt"/>
                <a:ea typeface="+mn-ea"/>
                <a:cs typeface="+mn-cs"/>
              </a:rPr>
              <a:t>Since the scope of this work is limited to anomaly detection, the changepoint column will</a:t>
            </a:r>
          </a:p>
          <a:p>
            <a:r>
              <a:rPr lang="en-US" sz="1200" b="0" i="0" u="none" strike="noStrike" kern="1200" baseline="0" dirty="0">
                <a:solidFill>
                  <a:schemeClr val="tx1"/>
                </a:solidFill>
                <a:latin typeface="+mn-lt"/>
                <a:ea typeface="+mn-ea"/>
                <a:cs typeface="+mn-cs"/>
              </a:rPr>
              <a:t>be dropped. All the 35 data files will be merged into a single “.csv” file for the ease of</a:t>
            </a:r>
          </a:p>
          <a:p>
            <a:r>
              <a:rPr lang="en-US" sz="1200" b="0" i="0" u="none" strike="noStrike" kern="1200" baseline="0" dirty="0">
                <a:solidFill>
                  <a:schemeClr val="tx1"/>
                </a:solidFill>
                <a:latin typeface="+mn-lt"/>
                <a:ea typeface="+mn-ea"/>
                <a:cs typeface="+mn-cs"/>
              </a:rPr>
              <a:t>processing and performing downstream tasks like Exploratory Data Analysis (EDA), Model</a:t>
            </a:r>
          </a:p>
          <a:p>
            <a:r>
              <a:rPr lang="en-IN" sz="1200" b="0" i="0" u="none" strike="noStrike" kern="1200" baseline="0" dirty="0">
                <a:solidFill>
                  <a:schemeClr val="tx1"/>
                </a:solidFill>
                <a:latin typeface="+mn-lt"/>
                <a:ea typeface="+mn-ea"/>
                <a:cs typeface="+mn-cs"/>
              </a:rPr>
              <a:t>Training and Evaluation, etc.</a:t>
            </a:r>
            <a:endParaRPr lang="en-IN" dirty="0"/>
          </a:p>
        </p:txBody>
      </p:sp>
      <p:sp>
        <p:nvSpPr>
          <p:cNvPr id="4" name="Slide Number Placeholder 3"/>
          <p:cNvSpPr>
            <a:spLocks noGrp="1"/>
          </p:cNvSpPr>
          <p:nvPr>
            <p:ph type="sldNum" sz="quarter" idx="5"/>
          </p:nvPr>
        </p:nvSpPr>
        <p:spPr/>
        <p:txBody>
          <a:bodyPr/>
          <a:lstStyle/>
          <a:p>
            <a:fld id="{CEA1C4D0-EE6E-44D9-87D5-41BFE31C9C6A}" type="slidenum">
              <a:rPr lang="en-IN" smtClean="0"/>
              <a:t>13</a:t>
            </a:fld>
            <a:endParaRPr lang="en-IN"/>
          </a:p>
        </p:txBody>
      </p:sp>
    </p:spTree>
    <p:extLst>
      <p:ext uri="{BB962C8B-B14F-4D97-AF65-F5344CB8AC3E}">
        <p14:creationId xmlns:p14="http://schemas.microsoft.com/office/powerpoint/2010/main" val="17435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DEFD3-68C3-20A2-4D64-C9E7D6150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C33612-B4CE-943A-FFB0-A8C6E741F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F03A1F-E99C-09FA-5D5B-5873D97B854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0800F6-F5CD-142A-C2C8-B26EAAF58C14}"/>
              </a:ext>
            </a:extLst>
          </p:cNvPr>
          <p:cNvSpPr>
            <a:spLocks noGrp="1"/>
          </p:cNvSpPr>
          <p:nvPr>
            <p:ph type="sldNum" sz="quarter" idx="5"/>
          </p:nvPr>
        </p:nvSpPr>
        <p:spPr/>
        <p:txBody>
          <a:bodyPr/>
          <a:lstStyle/>
          <a:p>
            <a:fld id="{CEA1C4D0-EE6E-44D9-87D5-41BFE31C9C6A}" type="slidenum">
              <a:rPr lang="en-IN" smtClean="0"/>
              <a:t>16</a:t>
            </a:fld>
            <a:endParaRPr lang="en-IN"/>
          </a:p>
        </p:txBody>
      </p:sp>
    </p:spTree>
    <p:extLst>
      <p:ext uri="{BB962C8B-B14F-4D97-AF65-F5344CB8AC3E}">
        <p14:creationId xmlns:p14="http://schemas.microsoft.com/office/powerpoint/2010/main" val="1699224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07072-35A4-4714-6379-A7D584D10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E3A0A-704F-9C2E-57AF-CCB4A7E3A5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57061-485F-5C23-1329-20652DB091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31DF978-7961-35A0-C098-FAD561C39A30}"/>
              </a:ext>
            </a:extLst>
          </p:cNvPr>
          <p:cNvSpPr>
            <a:spLocks noGrp="1"/>
          </p:cNvSpPr>
          <p:nvPr>
            <p:ph type="sldNum" sz="quarter" idx="5"/>
          </p:nvPr>
        </p:nvSpPr>
        <p:spPr/>
        <p:txBody>
          <a:bodyPr/>
          <a:lstStyle/>
          <a:p>
            <a:fld id="{CEA1C4D0-EE6E-44D9-87D5-41BFE31C9C6A}" type="slidenum">
              <a:rPr lang="en-IN" smtClean="0"/>
              <a:t>18</a:t>
            </a:fld>
            <a:endParaRPr lang="en-IN"/>
          </a:p>
        </p:txBody>
      </p:sp>
    </p:spTree>
    <p:extLst>
      <p:ext uri="{BB962C8B-B14F-4D97-AF65-F5344CB8AC3E}">
        <p14:creationId xmlns:p14="http://schemas.microsoft.com/office/powerpoint/2010/main" val="3063507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1338A-5319-12B3-103F-3F0B4A809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66EB3-B2F5-47D9-7541-19F47B1D19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94A7D-E3AF-45E8-8A58-A89EEC2FCD2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241B240-5779-942D-33BE-D1599C863963}"/>
              </a:ext>
            </a:extLst>
          </p:cNvPr>
          <p:cNvSpPr>
            <a:spLocks noGrp="1"/>
          </p:cNvSpPr>
          <p:nvPr>
            <p:ph type="sldNum" sz="quarter" idx="5"/>
          </p:nvPr>
        </p:nvSpPr>
        <p:spPr/>
        <p:txBody>
          <a:bodyPr/>
          <a:lstStyle/>
          <a:p>
            <a:fld id="{CEA1C4D0-EE6E-44D9-87D5-41BFE31C9C6A}" type="slidenum">
              <a:rPr lang="en-IN" smtClean="0"/>
              <a:t>19</a:t>
            </a:fld>
            <a:endParaRPr lang="en-IN"/>
          </a:p>
        </p:txBody>
      </p:sp>
    </p:spTree>
    <p:extLst>
      <p:ext uri="{BB962C8B-B14F-4D97-AF65-F5344CB8AC3E}">
        <p14:creationId xmlns:p14="http://schemas.microsoft.com/office/powerpoint/2010/main" val="33018145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5FA0A-AD2D-7142-1AD6-79E861A76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FA1B37-4AD3-9215-20E7-41AB378CB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89CD9-2D73-6A34-1D13-B0C23C7EA0E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0A5C3E-1155-BE99-E133-9C29F08F56C5}"/>
              </a:ext>
            </a:extLst>
          </p:cNvPr>
          <p:cNvSpPr>
            <a:spLocks noGrp="1"/>
          </p:cNvSpPr>
          <p:nvPr>
            <p:ph type="sldNum" sz="quarter" idx="5"/>
          </p:nvPr>
        </p:nvSpPr>
        <p:spPr/>
        <p:txBody>
          <a:bodyPr/>
          <a:lstStyle/>
          <a:p>
            <a:fld id="{CEA1C4D0-EE6E-44D9-87D5-41BFE31C9C6A}" type="slidenum">
              <a:rPr lang="en-IN" smtClean="0"/>
              <a:t>20</a:t>
            </a:fld>
            <a:endParaRPr lang="en-IN"/>
          </a:p>
        </p:txBody>
      </p:sp>
    </p:spTree>
    <p:extLst>
      <p:ext uri="{BB962C8B-B14F-4D97-AF65-F5344CB8AC3E}">
        <p14:creationId xmlns:p14="http://schemas.microsoft.com/office/powerpoint/2010/main" val="2698290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31D7E-F18C-88E8-DB8A-565882E56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A0720-CDD9-CB19-7025-350FE8F7BE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B47BC3-8553-5182-92A0-E6949D9A024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A608DFD-CE6B-8282-4634-E8043FA86992}"/>
              </a:ext>
            </a:extLst>
          </p:cNvPr>
          <p:cNvSpPr>
            <a:spLocks noGrp="1"/>
          </p:cNvSpPr>
          <p:nvPr>
            <p:ph type="sldNum" sz="quarter" idx="5"/>
          </p:nvPr>
        </p:nvSpPr>
        <p:spPr/>
        <p:txBody>
          <a:bodyPr/>
          <a:lstStyle/>
          <a:p>
            <a:fld id="{CEA1C4D0-EE6E-44D9-87D5-41BFE31C9C6A}" type="slidenum">
              <a:rPr lang="en-IN" smtClean="0"/>
              <a:t>21</a:t>
            </a:fld>
            <a:endParaRPr lang="en-IN"/>
          </a:p>
        </p:txBody>
      </p:sp>
    </p:spTree>
    <p:extLst>
      <p:ext uri="{BB962C8B-B14F-4D97-AF65-F5344CB8AC3E}">
        <p14:creationId xmlns:p14="http://schemas.microsoft.com/office/powerpoint/2010/main" val="3062842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35028-699E-40BE-53CC-EF7C2DEFB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E7B3B2-6C4F-DEF7-624E-43FE1F7A7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24EF44-67EE-8C4F-C1CF-F994F399BB39}"/>
              </a:ext>
            </a:extLst>
          </p:cNvPr>
          <p:cNvSpPr>
            <a:spLocks noGrp="1"/>
          </p:cNvSpPr>
          <p:nvPr>
            <p:ph type="body" idx="1"/>
          </p:nvPr>
        </p:nvSpPr>
        <p:spPr/>
        <p:txBody>
          <a:bodyPr/>
          <a:lstStyle/>
          <a:p>
            <a:r>
              <a:rPr lang="en-IN" sz="1200" b="0" i="0" u="none" strike="noStrike" kern="1200" baseline="0" dirty="0">
                <a:solidFill>
                  <a:schemeClr val="tx1"/>
                </a:solidFill>
                <a:latin typeface="+mn-lt"/>
                <a:ea typeface="+mn-ea"/>
                <a:cs typeface="+mn-cs"/>
              </a:rPr>
              <a:t>13.1.1 Electrical Resistance</a:t>
            </a:r>
          </a:p>
          <a:p>
            <a:r>
              <a:rPr lang="en-US" sz="1200" b="0" i="0" u="none" strike="noStrike" kern="1200" baseline="0" dirty="0">
                <a:solidFill>
                  <a:schemeClr val="tx1"/>
                </a:solidFill>
                <a:latin typeface="+mn-lt"/>
                <a:ea typeface="+mn-ea"/>
                <a:cs typeface="+mn-cs"/>
              </a:rPr>
              <a:t>• What : It is a measure of opposition to the flow of electric current in an electrical</a:t>
            </a:r>
          </a:p>
          <a:p>
            <a:r>
              <a:rPr lang="en-US" sz="1200" b="0" i="0" u="none" strike="noStrike" kern="1200" baseline="0" dirty="0">
                <a:solidFill>
                  <a:schemeClr val="tx1"/>
                </a:solidFill>
                <a:latin typeface="+mn-lt"/>
                <a:ea typeface="+mn-ea"/>
                <a:cs typeface="+mn-cs"/>
              </a:rPr>
              <a:t>circuit, typically measured in ohms (Ω).</a:t>
            </a:r>
          </a:p>
          <a:p>
            <a:r>
              <a:rPr lang="en-US" sz="1200" b="0" i="0" u="none" strike="noStrike" kern="1200" baseline="0" dirty="0">
                <a:solidFill>
                  <a:schemeClr val="tx1"/>
                </a:solidFill>
                <a:latin typeface="+mn-lt"/>
                <a:ea typeface="+mn-ea"/>
                <a:cs typeface="+mn-cs"/>
              </a:rPr>
              <a:t>• Why : Deviations in calculated electrical resistance from expected values can indicate</a:t>
            </a:r>
          </a:p>
          <a:p>
            <a:r>
              <a:rPr lang="en-US" sz="1200" b="0" i="0" u="none" strike="noStrike" kern="1200" baseline="0" dirty="0">
                <a:solidFill>
                  <a:schemeClr val="tx1"/>
                </a:solidFill>
                <a:latin typeface="+mn-lt"/>
                <a:ea typeface="+mn-ea"/>
                <a:cs typeface="+mn-cs"/>
              </a:rPr>
              <a:t>anomalies such as motor winding degradation, short circuits, or changes in mechanical</a:t>
            </a:r>
          </a:p>
          <a:p>
            <a:r>
              <a:rPr lang="en-US" sz="1200" b="0" i="0" u="none" strike="noStrike" kern="1200" baseline="0" dirty="0">
                <a:solidFill>
                  <a:schemeClr val="tx1"/>
                </a:solidFill>
                <a:latin typeface="+mn-lt"/>
                <a:ea typeface="+mn-ea"/>
                <a:cs typeface="+mn-cs"/>
              </a:rPr>
              <a:t>load that affect current draw for a given voltage.</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13.1.2 Flow Resistance</a:t>
            </a:r>
          </a:p>
          <a:p>
            <a:r>
              <a:rPr lang="en-US" sz="1200" b="0" i="0" u="none" strike="noStrike" kern="1200" baseline="0" dirty="0">
                <a:solidFill>
                  <a:schemeClr val="tx1"/>
                </a:solidFill>
                <a:latin typeface="+mn-lt"/>
                <a:ea typeface="+mn-ea"/>
                <a:cs typeface="+mn-cs"/>
              </a:rPr>
              <a:t>• What : It is a measure of the opposition to fluid movement through a system, analogous</a:t>
            </a:r>
          </a:p>
          <a:p>
            <a:r>
              <a:rPr lang="en-US" sz="1200" b="0" i="0" u="none" strike="noStrike" kern="1200" baseline="0" dirty="0">
                <a:solidFill>
                  <a:schemeClr val="tx1"/>
                </a:solidFill>
                <a:latin typeface="+mn-lt"/>
                <a:ea typeface="+mn-ea"/>
                <a:cs typeface="+mn-cs"/>
              </a:rPr>
              <a:t>to electrical resistance, it represents the pressure drop required to achieve a</a:t>
            </a:r>
          </a:p>
          <a:p>
            <a:r>
              <a:rPr lang="en-IN" sz="1200" b="0" i="0" u="none" strike="noStrike" kern="1200" baseline="0" dirty="0">
                <a:solidFill>
                  <a:schemeClr val="tx1"/>
                </a:solidFill>
                <a:latin typeface="+mn-lt"/>
                <a:ea typeface="+mn-ea"/>
                <a:cs typeface="+mn-cs"/>
              </a:rPr>
              <a:t>certain flow rate.</a:t>
            </a:r>
          </a:p>
          <a:p>
            <a:r>
              <a:rPr lang="en-US" sz="1200" b="0" i="0" u="none" strike="noStrike" kern="1200" baseline="0" dirty="0">
                <a:solidFill>
                  <a:schemeClr val="tx1"/>
                </a:solidFill>
                <a:latin typeface="+mn-lt"/>
                <a:ea typeface="+mn-ea"/>
                <a:cs typeface="+mn-cs"/>
              </a:rPr>
              <a:t>• Why : Increase in flow resistance for a given flow rate or pressure can indicate blockages,</a:t>
            </a:r>
          </a:p>
          <a:p>
            <a:r>
              <a:rPr lang="en-US" sz="1200" b="0" i="0" u="none" strike="noStrike" kern="1200" baseline="0" dirty="0">
                <a:solidFill>
                  <a:schemeClr val="tx1"/>
                </a:solidFill>
                <a:latin typeface="+mn-lt"/>
                <a:ea typeface="+mn-ea"/>
                <a:cs typeface="+mn-cs"/>
              </a:rPr>
              <a:t>increased friction due to scaling or debris, or issues with the pump itself, thus</a:t>
            </a:r>
          </a:p>
          <a:p>
            <a:r>
              <a:rPr lang="en-US" sz="1200" b="0" i="0" u="none" strike="noStrike" kern="1200" baseline="0" dirty="0">
                <a:solidFill>
                  <a:schemeClr val="tx1"/>
                </a:solidFill>
                <a:latin typeface="+mn-lt"/>
                <a:ea typeface="+mn-ea"/>
                <a:cs typeface="+mn-cs"/>
              </a:rPr>
              <a:t>signaling an anomaly in the system.</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13.1.3 Operational Temperature Ratio</a:t>
            </a:r>
          </a:p>
          <a:p>
            <a:r>
              <a:rPr lang="en-US" sz="1200" b="0" i="0" u="none" strike="noStrike" kern="1200" baseline="0" dirty="0">
                <a:solidFill>
                  <a:schemeClr val="tx1"/>
                </a:solidFill>
                <a:latin typeface="+mn-lt"/>
                <a:ea typeface="+mn-ea"/>
                <a:cs typeface="+mn-cs"/>
              </a:rPr>
              <a:t>• What : It represents the relationship between the temperature of the pump’s engine</a:t>
            </a:r>
          </a:p>
          <a:p>
            <a:r>
              <a:rPr lang="en-US" sz="1200" b="0" i="0" u="none" strike="noStrike" kern="1200" baseline="0" dirty="0">
                <a:solidFill>
                  <a:schemeClr val="tx1"/>
                </a:solidFill>
                <a:latin typeface="+mn-lt"/>
                <a:ea typeface="+mn-ea"/>
                <a:cs typeface="+mn-cs"/>
              </a:rPr>
              <a:t>body and the temperature of the fluid being circulated.</a:t>
            </a:r>
          </a:p>
          <a:p>
            <a:r>
              <a:rPr lang="en-US" sz="1200" b="0" i="0" u="none" strike="noStrike" kern="1200" baseline="0" dirty="0">
                <a:solidFill>
                  <a:schemeClr val="tx1"/>
                </a:solidFill>
                <a:latin typeface="+mn-lt"/>
                <a:ea typeface="+mn-ea"/>
                <a:cs typeface="+mn-cs"/>
              </a:rPr>
              <a:t>• Why : Significant deviations in this metric from a normal range can indicate issues</a:t>
            </a:r>
          </a:p>
          <a:p>
            <a:r>
              <a:rPr lang="en-US" sz="1200" b="0" i="0" u="none" strike="noStrike" kern="1200" baseline="0" dirty="0">
                <a:solidFill>
                  <a:schemeClr val="tx1"/>
                </a:solidFill>
                <a:latin typeface="+mn-lt"/>
                <a:ea typeface="+mn-ea"/>
                <a:cs typeface="+mn-cs"/>
              </a:rPr>
              <a:t>such as inefficient heat transfer, motor overheating, or abnormal fluid heating due to</a:t>
            </a:r>
          </a:p>
          <a:p>
            <a:r>
              <a:rPr lang="en-US" sz="1200" b="0" i="0" u="none" strike="noStrike" kern="1200" baseline="0" dirty="0">
                <a:solidFill>
                  <a:schemeClr val="tx1"/>
                </a:solidFill>
                <a:latin typeface="+mn-lt"/>
                <a:ea typeface="+mn-ea"/>
                <a:cs typeface="+mn-cs"/>
              </a:rPr>
              <a:t>cavitation, thereby signaling an anomaly.</a:t>
            </a:r>
          </a:p>
          <a:p>
            <a:endParaRPr lang="en-IN"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13.1.4 Operational Vibration</a:t>
            </a:r>
          </a:p>
          <a:p>
            <a:r>
              <a:rPr lang="en-US" sz="1200" b="0" i="0" u="none" strike="noStrike" kern="1200" baseline="0" dirty="0">
                <a:solidFill>
                  <a:schemeClr val="tx1"/>
                </a:solidFill>
                <a:latin typeface="+mn-lt"/>
                <a:ea typeface="+mn-ea"/>
                <a:cs typeface="+mn-cs"/>
              </a:rPr>
              <a:t>• What : It represents the combined magnitude of vibration in two perpendicular directions</a:t>
            </a:r>
          </a:p>
          <a:p>
            <a:r>
              <a:rPr lang="en-US" sz="1200" b="0" i="0" u="none" strike="noStrike" kern="1200" baseline="0" dirty="0">
                <a:solidFill>
                  <a:schemeClr val="tx1"/>
                </a:solidFill>
                <a:latin typeface="+mn-lt"/>
                <a:ea typeface="+mn-ea"/>
                <a:cs typeface="+mn-cs"/>
              </a:rPr>
              <a:t>on the pump, typically measured in g2.</a:t>
            </a:r>
          </a:p>
          <a:p>
            <a:r>
              <a:rPr lang="en-US" sz="1200" b="0" i="0" u="none" strike="noStrike" kern="1200" baseline="0" dirty="0">
                <a:solidFill>
                  <a:schemeClr val="tx1"/>
                </a:solidFill>
                <a:latin typeface="+mn-lt"/>
                <a:ea typeface="+mn-ea"/>
                <a:cs typeface="+mn-cs"/>
              </a:rPr>
              <a:t>• Why : Increase in Operational Vibration beyond normal thresholds can directly indicate</a:t>
            </a:r>
          </a:p>
          <a:p>
            <a:r>
              <a:rPr lang="en-US" sz="1200" b="0" i="0" u="none" strike="noStrike" kern="1200" baseline="0" dirty="0">
                <a:solidFill>
                  <a:schemeClr val="tx1"/>
                </a:solidFill>
                <a:latin typeface="+mn-lt"/>
                <a:ea typeface="+mn-ea"/>
                <a:cs typeface="+mn-cs"/>
              </a:rPr>
              <a:t>mechanical issues such as imbalance, misalignment, bearing wear, or cavitation</a:t>
            </a:r>
          </a:p>
          <a:p>
            <a:r>
              <a:rPr lang="en-US" sz="1200" b="0" i="0" u="none" strike="noStrike" kern="1200" baseline="0" dirty="0">
                <a:solidFill>
                  <a:schemeClr val="tx1"/>
                </a:solidFill>
                <a:latin typeface="+mn-lt"/>
                <a:ea typeface="+mn-ea"/>
                <a:cs typeface="+mn-cs"/>
              </a:rPr>
              <a:t>within the pump or motor, thus serving as a strong anomaly indicator.</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13.1.5 Specific Power</a:t>
            </a:r>
          </a:p>
          <a:p>
            <a:r>
              <a:rPr lang="en-US" sz="1200" b="0" i="0" u="none" strike="noStrike" kern="1200" baseline="0" dirty="0">
                <a:solidFill>
                  <a:schemeClr val="tx1"/>
                </a:solidFill>
                <a:latin typeface="+mn-lt"/>
                <a:ea typeface="+mn-ea"/>
                <a:cs typeface="+mn-cs"/>
              </a:rPr>
              <a:t>• What : It is a measure of the electrical power consumed by the pump per unit of fluid</a:t>
            </a:r>
          </a:p>
          <a:p>
            <a:r>
              <a:rPr lang="en-US" sz="1200" b="0" i="0" u="none" strike="noStrike" kern="1200" baseline="0" dirty="0">
                <a:solidFill>
                  <a:schemeClr val="tx1"/>
                </a:solidFill>
                <a:latin typeface="+mn-lt"/>
                <a:ea typeface="+mn-ea"/>
                <a:cs typeface="+mn-cs"/>
              </a:rPr>
              <a:t>flow rate, indicating the energy required to move a certain volume of fluid, typically </a:t>
            </a:r>
            <a:r>
              <a:rPr lang="en-IN" sz="1200" b="0" i="0" u="none" strike="noStrike" kern="1200" baseline="0" dirty="0">
                <a:solidFill>
                  <a:schemeClr val="tx1"/>
                </a:solidFill>
                <a:latin typeface="+mn-lt"/>
                <a:ea typeface="+mn-ea"/>
                <a:cs typeface="+mn-cs"/>
              </a:rPr>
              <a:t>measured in Watt per Liter per Minute (W/(L/min)).</a:t>
            </a:r>
          </a:p>
          <a:p>
            <a:r>
              <a:rPr lang="en-US" sz="1200" b="0" i="0" u="none" strike="noStrike" kern="1200" baseline="0" dirty="0">
                <a:solidFill>
                  <a:schemeClr val="tx1"/>
                </a:solidFill>
                <a:latin typeface="+mn-lt"/>
                <a:ea typeface="+mn-ea"/>
                <a:cs typeface="+mn-cs"/>
              </a:rPr>
              <a:t>• Why : Increase in Specific Power for a given operating point can indicate reduced</a:t>
            </a:r>
          </a:p>
          <a:p>
            <a:r>
              <a:rPr lang="en-US" sz="1200" b="0" i="0" u="none" strike="noStrike" kern="1200" baseline="0" dirty="0">
                <a:solidFill>
                  <a:schemeClr val="tx1"/>
                </a:solidFill>
                <a:latin typeface="+mn-lt"/>
                <a:ea typeface="+mn-ea"/>
                <a:cs typeface="+mn-cs"/>
              </a:rPr>
              <a:t>pump efficiency due to issues like wear, cavitation, or blockages, thereby signaling an</a:t>
            </a:r>
          </a:p>
          <a:p>
            <a:r>
              <a:rPr lang="en-IN" sz="1200" b="0" i="0" u="none" strike="noStrike" kern="1200" baseline="0" dirty="0">
                <a:solidFill>
                  <a:schemeClr val="tx1"/>
                </a:solidFill>
                <a:latin typeface="+mn-lt"/>
                <a:ea typeface="+mn-ea"/>
                <a:cs typeface="+mn-cs"/>
              </a:rPr>
              <a:t>anomaly.</a:t>
            </a:r>
            <a:endParaRPr lang="en-IN" dirty="0"/>
          </a:p>
        </p:txBody>
      </p:sp>
      <p:sp>
        <p:nvSpPr>
          <p:cNvPr id="4" name="Slide Number Placeholder 3">
            <a:extLst>
              <a:ext uri="{FF2B5EF4-FFF2-40B4-BE49-F238E27FC236}">
                <a16:creationId xmlns:a16="http://schemas.microsoft.com/office/drawing/2014/main" id="{7DC5D998-E714-EDF5-3AB7-488A1D0968BF}"/>
              </a:ext>
            </a:extLst>
          </p:cNvPr>
          <p:cNvSpPr>
            <a:spLocks noGrp="1"/>
          </p:cNvSpPr>
          <p:nvPr>
            <p:ph type="sldNum" sz="quarter" idx="5"/>
          </p:nvPr>
        </p:nvSpPr>
        <p:spPr/>
        <p:txBody>
          <a:bodyPr/>
          <a:lstStyle/>
          <a:p>
            <a:fld id="{CEA1C4D0-EE6E-44D9-87D5-41BFE31C9C6A}" type="slidenum">
              <a:rPr lang="en-IN" smtClean="0"/>
              <a:t>23</a:t>
            </a:fld>
            <a:endParaRPr lang="en-IN"/>
          </a:p>
        </p:txBody>
      </p:sp>
    </p:spTree>
    <p:extLst>
      <p:ext uri="{BB962C8B-B14F-4D97-AF65-F5344CB8AC3E}">
        <p14:creationId xmlns:p14="http://schemas.microsoft.com/office/powerpoint/2010/main" val="1839490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C813-E9D3-BE81-BD94-9B1125A4E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A0FFD1-C282-1E43-4161-86F6B3FD6F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51ABCA-8400-1941-EAE1-8BFD7E21A902}"/>
              </a:ext>
            </a:extLst>
          </p:cNvPr>
          <p:cNvSpPr>
            <a:spLocks noGrp="1"/>
          </p:cNvSpPr>
          <p:nvPr>
            <p:ph type="body" idx="1"/>
          </p:nvPr>
        </p:nvSpPr>
        <p:spPr/>
        <p:txBody>
          <a:bodyPr/>
          <a:lstStyle/>
          <a:p>
            <a:r>
              <a:rPr lang="en-IN" sz="1200" b="0" i="0" u="none" strike="noStrike" kern="1200" baseline="0" dirty="0">
                <a:solidFill>
                  <a:schemeClr val="tx1"/>
                </a:solidFill>
                <a:latin typeface="+mn-lt"/>
                <a:ea typeface="+mn-ea"/>
                <a:cs typeface="+mn-cs"/>
              </a:rPr>
              <a:t>13.2.1 Vibrational Balance</a:t>
            </a:r>
          </a:p>
          <a:p>
            <a:r>
              <a:rPr lang="en-US" sz="1200" b="0" i="0" u="none" strike="noStrike" kern="1200" baseline="0" dirty="0">
                <a:solidFill>
                  <a:schemeClr val="tx1"/>
                </a:solidFill>
                <a:latin typeface="+mn-lt"/>
                <a:ea typeface="+mn-ea"/>
                <a:cs typeface="+mn-cs"/>
              </a:rPr>
              <a:t>• What : It measures the disparity in vibration magnitudes between two perpendicular</a:t>
            </a:r>
          </a:p>
          <a:p>
            <a:r>
              <a:rPr lang="en-US" sz="1200" b="0" i="0" u="none" strike="noStrike" kern="1200" baseline="0" dirty="0">
                <a:solidFill>
                  <a:schemeClr val="tx1"/>
                </a:solidFill>
                <a:latin typeface="+mn-lt"/>
                <a:ea typeface="+mn-ea"/>
                <a:cs typeface="+mn-cs"/>
              </a:rPr>
              <a:t>axes (x and y) on the pump, typically measured in g.</a:t>
            </a:r>
          </a:p>
          <a:p>
            <a:r>
              <a:rPr lang="en-US" sz="1200" b="0" i="0" u="none" strike="noStrike" kern="1200" baseline="0" dirty="0">
                <a:solidFill>
                  <a:schemeClr val="tx1"/>
                </a:solidFill>
                <a:latin typeface="+mn-lt"/>
                <a:ea typeface="+mn-ea"/>
                <a:cs typeface="+mn-cs"/>
              </a:rPr>
              <a:t>• Why : Increase in Vibrational Balance can indicate an imbalance in the system’s</a:t>
            </a:r>
          </a:p>
          <a:p>
            <a:r>
              <a:rPr lang="en-US" sz="1200" b="0" i="0" u="none" strike="noStrike" kern="1200" baseline="0" dirty="0">
                <a:solidFill>
                  <a:schemeClr val="tx1"/>
                </a:solidFill>
                <a:latin typeface="+mn-lt"/>
                <a:ea typeface="+mn-ea"/>
                <a:cs typeface="+mn-cs"/>
              </a:rPr>
              <a:t>vibration, potentially pointing to issues like misalignment or uneven bearing wear.</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13.2.2 Temperature Balance</a:t>
            </a:r>
          </a:p>
          <a:p>
            <a:r>
              <a:rPr lang="en-US" sz="1200" b="0" i="0" u="none" strike="noStrike" kern="1200" baseline="0" dirty="0">
                <a:solidFill>
                  <a:schemeClr val="tx1"/>
                </a:solidFill>
                <a:latin typeface="+mn-lt"/>
                <a:ea typeface="+mn-ea"/>
                <a:cs typeface="+mn-cs"/>
              </a:rPr>
              <a:t>• What : It is the difference between the engine body temperature and the fluid temperature,</a:t>
            </a:r>
          </a:p>
          <a:p>
            <a:r>
              <a:rPr lang="en-US" sz="1200" b="0" i="0" u="none" strike="noStrike" kern="1200" baseline="0" dirty="0">
                <a:solidFill>
                  <a:schemeClr val="tx1"/>
                </a:solidFill>
                <a:latin typeface="+mn-lt"/>
                <a:ea typeface="+mn-ea"/>
                <a:cs typeface="+mn-cs"/>
              </a:rPr>
              <a:t>indicating the thermal equilibrium or disparity within the pump system,</a:t>
            </a:r>
          </a:p>
          <a:p>
            <a:r>
              <a:rPr lang="en-IN" sz="1200" b="0" i="0" u="none" strike="noStrike" kern="1200" baseline="0" dirty="0">
                <a:solidFill>
                  <a:schemeClr val="tx1"/>
                </a:solidFill>
                <a:latin typeface="+mn-lt"/>
                <a:ea typeface="+mn-ea"/>
                <a:cs typeface="+mn-cs"/>
              </a:rPr>
              <a:t>typically measured in ◦C.</a:t>
            </a:r>
          </a:p>
          <a:p>
            <a:r>
              <a:rPr lang="en-US" sz="1200" b="0" i="0" u="none" strike="noStrike" kern="1200" baseline="0" dirty="0">
                <a:solidFill>
                  <a:schemeClr val="tx1"/>
                </a:solidFill>
                <a:latin typeface="+mn-lt"/>
                <a:ea typeface="+mn-ea"/>
                <a:cs typeface="+mn-cs"/>
              </a:rPr>
              <a:t>• Why : Change in Temperature Balance from its normal operating range can signal</a:t>
            </a:r>
          </a:p>
          <a:p>
            <a:r>
              <a:rPr lang="en-US" sz="1200" b="0" i="0" u="none" strike="noStrike" kern="1200" baseline="0" dirty="0">
                <a:solidFill>
                  <a:schemeClr val="tx1"/>
                </a:solidFill>
                <a:latin typeface="+mn-lt"/>
                <a:ea typeface="+mn-ea"/>
                <a:cs typeface="+mn-cs"/>
              </a:rPr>
              <a:t>issues like inefficient cooling of the motor, excessive heat generation from the fluid (e.g.,</a:t>
            </a:r>
          </a:p>
          <a:p>
            <a:r>
              <a:rPr lang="en-US" sz="1200" b="0" i="0" u="none" strike="noStrike" kern="1200" baseline="0" dirty="0">
                <a:solidFill>
                  <a:schemeClr val="tx1"/>
                </a:solidFill>
                <a:latin typeface="+mn-lt"/>
                <a:ea typeface="+mn-ea"/>
                <a:cs typeface="+mn-cs"/>
              </a:rPr>
              <a:t>due to cavitation), or an external heat imbalance, thereby indicating an anomaly.</a:t>
            </a:r>
            <a:endParaRPr lang="en-IN" dirty="0"/>
          </a:p>
        </p:txBody>
      </p:sp>
      <p:sp>
        <p:nvSpPr>
          <p:cNvPr id="4" name="Slide Number Placeholder 3">
            <a:extLst>
              <a:ext uri="{FF2B5EF4-FFF2-40B4-BE49-F238E27FC236}">
                <a16:creationId xmlns:a16="http://schemas.microsoft.com/office/drawing/2014/main" id="{6FC2B620-65FA-0C80-C29C-0704FB3CBB9C}"/>
              </a:ext>
            </a:extLst>
          </p:cNvPr>
          <p:cNvSpPr>
            <a:spLocks noGrp="1"/>
          </p:cNvSpPr>
          <p:nvPr>
            <p:ph type="sldNum" sz="quarter" idx="5"/>
          </p:nvPr>
        </p:nvSpPr>
        <p:spPr/>
        <p:txBody>
          <a:bodyPr/>
          <a:lstStyle/>
          <a:p>
            <a:fld id="{CEA1C4D0-EE6E-44D9-87D5-41BFE31C9C6A}" type="slidenum">
              <a:rPr lang="en-IN" smtClean="0"/>
              <a:t>24</a:t>
            </a:fld>
            <a:endParaRPr lang="en-IN"/>
          </a:p>
        </p:txBody>
      </p:sp>
    </p:spTree>
    <p:extLst>
      <p:ext uri="{BB962C8B-B14F-4D97-AF65-F5344CB8AC3E}">
        <p14:creationId xmlns:p14="http://schemas.microsoft.com/office/powerpoint/2010/main" val="3178189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6DAFD-24FE-DC39-4B9D-D62F6DEA1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8C2A8-A106-B616-709A-0746664D7D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51CB4B-1CFF-FA92-17B5-2224DB797CF1}"/>
              </a:ext>
            </a:extLst>
          </p:cNvPr>
          <p:cNvSpPr>
            <a:spLocks noGrp="1"/>
          </p:cNvSpPr>
          <p:nvPr>
            <p:ph type="body" idx="1"/>
          </p:nvPr>
        </p:nvSpPr>
        <p:spPr/>
        <p:txBody>
          <a:bodyPr/>
          <a:lstStyle/>
          <a:p>
            <a:r>
              <a:rPr lang="en-IN" sz="1200" b="0" i="0" u="none" strike="noStrike" kern="1200" baseline="0" dirty="0">
                <a:solidFill>
                  <a:schemeClr val="tx1"/>
                </a:solidFill>
                <a:latin typeface="+mn-lt"/>
                <a:ea typeface="+mn-ea"/>
                <a:cs typeface="+mn-cs"/>
              </a:rPr>
              <a:t>13.3.1 Hydraulic Power</a:t>
            </a:r>
          </a:p>
          <a:p>
            <a:r>
              <a:rPr lang="en-US" sz="1200" b="0" i="0" u="none" strike="noStrike" kern="1200" baseline="0" dirty="0">
                <a:solidFill>
                  <a:schemeClr val="tx1"/>
                </a:solidFill>
                <a:latin typeface="+mn-lt"/>
                <a:ea typeface="+mn-ea"/>
                <a:cs typeface="+mn-cs"/>
              </a:rPr>
              <a:t>• What : It is the measure of useful power transferred by the pump to the fluid, calculated</a:t>
            </a:r>
          </a:p>
          <a:p>
            <a:r>
              <a:rPr lang="en-US" sz="1200" b="0" i="0" u="none" strike="noStrike" kern="1200" baseline="0" dirty="0">
                <a:solidFill>
                  <a:schemeClr val="tx1"/>
                </a:solidFill>
                <a:latin typeface="+mn-lt"/>
                <a:ea typeface="+mn-ea"/>
                <a:cs typeface="+mn-cs"/>
              </a:rPr>
              <a:t>as the product of fluid pressure, flow rate, and a conversion factor, representing</a:t>
            </a:r>
          </a:p>
          <a:p>
            <a:r>
              <a:rPr lang="en-US" sz="1200" b="0" i="0" u="none" strike="noStrike" kern="1200" baseline="0" dirty="0">
                <a:solidFill>
                  <a:schemeClr val="tx1"/>
                </a:solidFill>
                <a:latin typeface="+mn-lt"/>
                <a:ea typeface="+mn-ea"/>
                <a:cs typeface="+mn-cs"/>
              </a:rPr>
              <a:t>the energy imparted to move the fluid, typically measured in kilo-Watt (kW).</a:t>
            </a:r>
          </a:p>
          <a:p>
            <a:r>
              <a:rPr lang="en-US" sz="1200" b="0" i="0" u="none" strike="noStrike" kern="1200" baseline="0" dirty="0">
                <a:solidFill>
                  <a:schemeClr val="tx1"/>
                </a:solidFill>
                <a:latin typeface="+mn-lt"/>
                <a:ea typeface="+mn-ea"/>
                <a:cs typeface="+mn-cs"/>
              </a:rPr>
              <a:t>• Why : Drop in Hydraulic Power relative to the electrical power input indicates a loss</a:t>
            </a:r>
          </a:p>
          <a:p>
            <a:r>
              <a:rPr lang="en-US" sz="1200" b="0" i="0" u="none" strike="noStrike" kern="1200" baseline="0" dirty="0">
                <a:solidFill>
                  <a:schemeClr val="tx1"/>
                </a:solidFill>
                <a:latin typeface="+mn-lt"/>
                <a:ea typeface="+mn-ea"/>
                <a:cs typeface="+mn-cs"/>
              </a:rPr>
              <a:t>of pump efficiency or internal issues, serving as a strong indicator of an anomaly.</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13.3.2 Electrical Power</a:t>
            </a:r>
          </a:p>
          <a:p>
            <a:r>
              <a:rPr lang="en-US" sz="1200" b="0" i="0" u="none" strike="noStrike" kern="1200" baseline="0" dirty="0">
                <a:solidFill>
                  <a:schemeClr val="tx1"/>
                </a:solidFill>
                <a:latin typeface="+mn-lt"/>
                <a:ea typeface="+mn-ea"/>
                <a:cs typeface="+mn-cs"/>
              </a:rPr>
              <a:t>• What : It is the measure of the rate at which electrical energy is transferred to the</a:t>
            </a:r>
          </a:p>
          <a:p>
            <a:r>
              <a:rPr lang="en-US" sz="1200" b="0" i="0" u="none" strike="noStrike" kern="1200" baseline="0" dirty="0">
                <a:solidFill>
                  <a:schemeClr val="tx1"/>
                </a:solidFill>
                <a:latin typeface="+mn-lt"/>
                <a:ea typeface="+mn-ea"/>
                <a:cs typeface="+mn-cs"/>
              </a:rPr>
              <a:t>motor, calculated as the product of Voltage and Current (and power factor for AC</a:t>
            </a:r>
          </a:p>
          <a:p>
            <a:r>
              <a:rPr lang="en-US" sz="1200" b="0" i="0" u="none" strike="noStrike" kern="1200" baseline="0" dirty="0">
                <a:solidFill>
                  <a:schemeClr val="tx1"/>
                </a:solidFill>
                <a:latin typeface="+mn-lt"/>
                <a:ea typeface="+mn-ea"/>
                <a:cs typeface="+mn-cs"/>
              </a:rPr>
              <a:t>systems), typically measured in kilo-Watt (kW).</a:t>
            </a:r>
          </a:p>
          <a:p>
            <a:r>
              <a:rPr lang="en-US" sz="1200" b="0" i="0" u="none" strike="noStrike" kern="1200" baseline="0" dirty="0">
                <a:solidFill>
                  <a:schemeClr val="tx1"/>
                </a:solidFill>
                <a:latin typeface="+mn-lt"/>
                <a:ea typeface="+mn-ea"/>
                <a:cs typeface="+mn-cs"/>
              </a:rPr>
              <a:t>• Why : Unexpected increases or fluctuations in Electrical Power, without corresponding</a:t>
            </a:r>
          </a:p>
          <a:p>
            <a:r>
              <a:rPr lang="en-US" sz="1200" b="0" i="0" u="none" strike="noStrike" kern="1200" baseline="0" dirty="0">
                <a:solidFill>
                  <a:schemeClr val="tx1"/>
                </a:solidFill>
                <a:latin typeface="+mn-lt"/>
                <a:ea typeface="+mn-ea"/>
                <a:cs typeface="+mn-cs"/>
              </a:rPr>
              <a:t>changes in pump output, can indicate issues like motor overloading, winding problems,</a:t>
            </a:r>
          </a:p>
          <a:p>
            <a:r>
              <a:rPr lang="en-US" sz="1200" b="0" i="0" u="none" strike="noStrike" kern="1200" baseline="0" dirty="0">
                <a:solidFill>
                  <a:schemeClr val="tx1"/>
                </a:solidFill>
                <a:latin typeface="+mn-lt"/>
                <a:ea typeface="+mn-ea"/>
                <a:cs typeface="+mn-cs"/>
              </a:rPr>
              <a:t>or increased mechanical resistance in the pump, thus signaling an anomaly.</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13.3.3 Pump Efficiency</a:t>
            </a:r>
          </a:p>
          <a:p>
            <a:r>
              <a:rPr lang="en-US" sz="1200" b="0" i="0" u="none" strike="noStrike" kern="1200" baseline="0" dirty="0">
                <a:solidFill>
                  <a:schemeClr val="tx1"/>
                </a:solidFill>
                <a:latin typeface="+mn-lt"/>
                <a:ea typeface="+mn-ea"/>
                <a:cs typeface="+mn-cs"/>
              </a:rPr>
              <a:t>• What : It is the ratio of the hydraulic power delivered to the fluid to the electrical</a:t>
            </a:r>
          </a:p>
          <a:p>
            <a:r>
              <a:rPr lang="en-US" sz="1200" b="0" i="0" u="none" strike="noStrike" kern="1200" baseline="0" dirty="0">
                <a:solidFill>
                  <a:schemeClr val="tx1"/>
                </a:solidFill>
                <a:latin typeface="+mn-lt"/>
                <a:ea typeface="+mn-ea"/>
                <a:cs typeface="+mn-cs"/>
              </a:rPr>
              <a:t>power consumed by the motor, indicating how effectively the pump converts electrical</a:t>
            </a:r>
          </a:p>
          <a:p>
            <a:r>
              <a:rPr lang="en-US" sz="1200" b="0" i="0" u="none" strike="noStrike" kern="1200" baseline="0" dirty="0">
                <a:solidFill>
                  <a:schemeClr val="tx1"/>
                </a:solidFill>
                <a:latin typeface="+mn-lt"/>
                <a:ea typeface="+mn-ea"/>
                <a:cs typeface="+mn-cs"/>
              </a:rPr>
              <a:t>energy into useful fluid energy.</a:t>
            </a:r>
          </a:p>
          <a:p>
            <a:r>
              <a:rPr lang="en-US" sz="1200" b="0" i="0" u="none" strike="noStrike" kern="1200" baseline="0" dirty="0">
                <a:solidFill>
                  <a:schemeClr val="tx1"/>
                </a:solidFill>
                <a:latin typeface="+mn-lt"/>
                <a:ea typeface="+mn-ea"/>
                <a:cs typeface="+mn-cs"/>
              </a:rPr>
              <a:t>• Why : Decrease in Pump Efficiency for a given operating condition directly signals</a:t>
            </a:r>
          </a:p>
          <a:p>
            <a:r>
              <a:rPr lang="en-US" sz="1200" b="0" i="0" u="none" strike="noStrike" kern="1200" baseline="0" dirty="0">
                <a:solidFill>
                  <a:schemeClr val="tx1"/>
                </a:solidFill>
                <a:latin typeface="+mn-lt"/>
                <a:ea typeface="+mn-ea"/>
                <a:cs typeface="+mn-cs"/>
              </a:rPr>
              <a:t>degradation, internal wear, cavitation, or blockages within the pump, making it a</a:t>
            </a:r>
          </a:p>
          <a:p>
            <a:r>
              <a:rPr lang="en-IN" sz="1200" b="0" i="0" u="none" strike="noStrike" kern="1200" baseline="0" dirty="0">
                <a:solidFill>
                  <a:schemeClr val="tx1"/>
                </a:solidFill>
                <a:latin typeface="+mn-lt"/>
                <a:ea typeface="+mn-ea"/>
                <a:cs typeface="+mn-cs"/>
              </a:rPr>
              <a:t>highly effective anomaly detector.</a:t>
            </a:r>
            <a:endParaRPr lang="en-IN" dirty="0"/>
          </a:p>
        </p:txBody>
      </p:sp>
      <p:sp>
        <p:nvSpPr>
          <p:cNvPr id="4" name="Slide Number Placeholder 3">
            <a:extLst>
              <a:ext uri="{FF2B5EF4-FFF2-40B4-BE49-F238E27FC236}">
                <a16:creationId xmlns:a16="http://schemas.microsoft.com/office/drawing/2014/main" id="{711F36CD-F875-DCBC-31C5-562A38560A56}"/>
              </a:ext>
            </a:extLst>
          </p:cNvPr>
          <p:cNvSpPr>
            <a:spLocks noGrp="1"/>
          </p:cNvSpPr>
          <p:nvPr>
            <p:ph type="sldNum" sz="quarter" idx="5"/>
          </p:nvPr>
        </p:nvSpPr>
        <p:spPr/>
        <p:txBody>
          <a:bodyPr/>
          <a:lstStyle/>
          <a:p>
            <a:fld id="{CEA1C4D0-EE6E-44D9-87D5-41BFE31C9C6A}" type="slidenum">
              <a:rPr lang="en-IN" smtClean="0"/>
              <a:t>25</a:t>
            </a:fld>
            <a:endParaRPr lang="en-IN"/>
          </a:p>
        </p:txBody>
      </p:sp>
    </p:spTree>
    <p:extLst>
      <p:ext uri="{BB962C8B-B14F-4D97-AF65-F5344CB8AC3E}">
        <p14:creationId xmlns:p14="http://schemas.microsoft.com/office/powerpoint/2010/main" val="12467723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C22FC-DBD0-B6D0-6AE2-071313A39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AA34F-18EB-F195-6A43-B6F8659D8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A888D-94EB-03E0-0F6F-947C5A1625AF}"/>
              </a:ext>
            </a:extLst>
          </p:cNvPr>
          <p:cNvSpPr>
            <a:spLocks noGrp="1"/>
          </p:cNvSpPr>
          <p:nvPr>
            <p:ph type="body" idx="1"/>
          </p:nvPr>
        </p:nvSpPr>
        <p:spPr/>
        <p:txBody>
          <a:bodyPr/>
          <a:lstStyle/>
          <a:p>
            <a:r>
              <a:rPr lang="en-IN" sz="1200" b="0" i="0" u="none" strike="noStrike" kern="1200" baseline="0" dirty="0">
                <a:solidFill>
                  <a:schemeClr val="tx1"/>
                </a:solidFill>
                <a:latin typeface="+mn-lt"/>
                <a:ea typeface="+mn-ea"/>
                <a:cs typeface="+mn-cs"/>
              </a:rPr>
              <a:t>13.4.1 Vibration Intensity Ratio</a:t>
            </a:r>
          </a:p>
          <a:p>
            <a:r>
              <a:rPr lang="en-US" sz="1200" b="0" i="0" u="none" strike="noStrike" kern="1200" baseline="0" dirty="0">
                <a:solidFill>
                  <a:schemeClr val="tx1"/>
                </a:solidFill>
                <a:latin typeface="+mn-lt"/>
                <a:ea typeface="+mn-ea"/>
                <a:cs typeface="+mn-cs"/>
              </a:rPr>
              <a:t>• What : It is the ratio of vibration magnitudes from two different accelerometer sensors,</a:t>
            </a:r>
          </a:p>
          <a:p>
            <a:r>
              <a:rPr lang="en-US" sz="1200" b="0" i="0" u="none" strike="noStrike" kern="1200" baseline="0" dirty="0">
                <a:solidFill>
                  <a:schemeClr val="tx1"/>
                </a:solidFill>
                <a:latin typeface="+mn-lt"/>
                <a:ea typeface="+mn-ea"/>
                <a:cs typeface="+mn-cs"/>
              </a:rPr>
              <a:t>indicating the relative vibration levels across different points of the pump.</a:t>
            </a:r>
          </a:p>
          <a:p>
            <a:r>
              <a:rPr lang="en-US" sz="1200" b="0" i="0" u="none" strike="noStrike" kern="1200" baseline="0" dirty="0">
                <a:solidFill>
                  <a:schemeClr val="tx1"/>
                </a:solidFill>
                <a:latin typeface="+mn-lt"/>
                <a:ea typeface="+mn-ea"/>
                <a:cs typeface="+mn-cs"/>
              </a:rPr>
              <a:t>• Why : Deviation of the Vibration Intensity Ratio from its expected value (often near</a:t>
            </a:r>
          </a:p>
          <a:p>
            <a:r>
              <a:rPr lang="en-US" sz="1200" b="0" i="0" u="none" strike="noStrike" kern="1200" baseline="0" dirty="0">
                <a:solidFill>
                  <a:schemeClr val="tx1"/>
                </a:solidFill>
                <a:latin typeface="+mn-lt"/>
                <a:ea typeface="+mn-ea"/>
                <a:cs typeface="+mn-cs"/>
              </a:rPr>
              <a:t>1 for balanced systems) can indicate an imbalance, misalignment, or a localized fault,</a:t>
            </a:r>
          </a:p>
          <a:p>
            <a:r>
              <a:rPr lang="en-IN" sz="1200" b="0" i="0" u="none" strike="noStrike" kern="1200" baseline="0" dirty="0">
                <a:solidFill>
                  <a:schemeClr val="tx1"/>
                </a:solidFill>
                <a:latin typeface="+mn-lt"/>
                <a:ea typeface="+mn-ea"/>
                <a:cs typeface="+mn-cs"/>
              </a:rPr>
              <a:t>thereby </a:t>
            </a:r>
            <a:r>
              <a:rPr lang="en-IN" sz="1200" b="0" i="0" u="none" strike="noStrike" kern="1200" baseline="0" dirty="0" err="1">
                <a:solidFill>
                  <a:schemeClr val="tx1"/>
                </a:solidFill>
                <a:latin typeface="+mn-lt"/>
                <a:ea typeface="+mn-ea"/>
                <a:cs typeface="+mn-cs"/>
              </a:rPr>
              <a:t>signaling</a:t>
            </a:r>
            <a:r>
              <a:rPr lang="en-IN" sz="1200" b="0" i="0" u="none" strike="noStrike" kern="1200" baseline="0" dirty="0">
                <a:solidFill>
                  <a:schemeClr val="tx1"/>
                </a:solidFill>
                <a:latin typeface="+mn-lt"/>
                <a:ea typeface="+mn-ea"/>
                <a:cs typeface="+mn-cs"/>
              </a:rPr>
              <a:t> an anomaly.</a:t>
            </a:r>
          </a:p>
          <a:p>
            <a:endParaRPr lang="en-IN"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13.4.2 Vibration per Unit Flow</a:t>
            </a:r>
          </a:p>
          <a:p>
            <a:r>
              <a:rPr lang="en-US" sz="1200" b="0" i="0" u="none" strike="noStrike" kern="1200" baseline="0" dirty="0">
                <a:solidFill>
                  <a:schemeClr val="tx1"/>
                </a:solidFill>
                <a:latin typeface="+mn-lt"/>
                <a:ea typeface="+mn-ea"/>
                <a:cs typeface="+mn-cs"/>
              </a:rPr>
              <a:t>• What : It is a metric that relates the level of pump vibration to the volume of fluid</a:t>
            </a:r>
          </a:p>
          <a:p>
            <a:r>
              <a:rPr lang="en-US" sz="1200" b="0" i="0" u="none" strike="noStrike" kern="1200" baseline="0" dirty="0">
                <a:solidFill>
                  <a:schemeClr val="tx1"/>
                </a:solidFill>
                <a:latin typeface="+mn-lt"/>
                <a:ea typeface="+mn-ea"/>
                <a:cs typeface="+mn-cs"/>
              </a:rPr>
              <a:t>being moved, showing vibration intensity relative to operational output.</a:t>
            </a:r>
          </a:p>
          <a:p>
            <a:r>
              <a:rPr lang="en-US" sz="1200" b="0" i="0" u="none" strike="noStrike" kern="1200" baseline="0" dirty="0">
                <a:solidFill>
                  <a:schemeClr val="tx1"/>
                </a:solidFill>
                <a:latin typeface="+mn-lt"/>
                <a:ea typeface="+mn-ea"/>
                <a:cs typeface="+mn-cs"/>
              </a:rPr>
              <a:t>• Why : Increase in Vibration per Unit Flow can occur when the flow rate is not</a:t>
            </a:r>
          </a:p>
          <a:p>
            <a:r>
              <a:rPr lang="en-US" sz="1200" b="0" i="0" u="none" strike="noStrike" kern="1200" baseline="0" dirty="0">
                <a:solidFill>
                  <a:schemeClr val="tx1"/>
                </a:solidFill>
                <a:latin typeface="+mn-lt"/>
                <a:ea typeface="+mn-ea"/>
                <a:cs typeface="+mn-cs"/>
              </a:rPr>
              <a:t>proportionally high, it can point to issues like cavitation, internal impeller damage, or</a:t>
            </a:r>
          </a:p>
          <a:p>
            <a:r>
              <a:rPr lang="en-US" sz="1200" b="0" i="0" u="none" strike="noStrike" kern="1200" baseline="0" dirty="0">
                <a:solidFill>
                  <a:schemeClr val="tx1"/>
                </a:solidFill>
                <a:latin typeface="+mn-lt"/>
                <a:ea typeface="+mn-ea"/>
                <a:cs typeface="+mn-cs"/>
              </a:rPr>
              <a:t>bearing problems not directly related to the hydraulic load, thus signaling an anomaly.</a:t>
            </a:r>
          </a:p>
          <a:p>
            <a:endParaRPr lang="en-IN"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13.4.3 Engine Temperature per Unit Power</a:t>
            </a:r>
          </a:p>
          <a:p>
            <a:r>
              <a:rPr lang="en-US" sz="1200" b="0" i="0" u="none" strike="noStrike" kern="1200" baseline="0" dirty="0">
                <a:solidFill>
                  <a:schemeClr val="tx1"/>
                </a:solidFill>
                <a:latin typeface="+mn-lt"/>
                <a:ea typeface="+mn-ea"/>
                <a:cs typeface="+mn-cs"/>
              </a:rPr>
              <a:t>• What : It is a metric indicating the motor’s operating temperature in relation to the</a:t>
            </a:r>
          </a:p>
          <a:p>
            <a:r>
              <a:rPr lang="en-US" sz="1200" b="0" i="0" u="none" strike="noStrike" kern="1200" baseline="0" dirty="0">
                <a:solidFill>
                  <a:schemeClr val="tx1"/>
                </a:solidFill>
                <a:latin typeface="+mn-lt"/>
                <a:ea typeface="+mn-ea"/>
                <a:cs typeface="+mn-cs"/>
              </a:rPr>
              <a:t>electrical power it consumes, typically measured in ◦C / W.</a:t>
            </a:r>
          </a:p>
          <a:p>
            <a:r>
              <a:rPr lang="en-US" sz="1200" b="0" i="0" u="none" strike="noStrike" kern="1200" baseline="0" dirty="0">
                <a:solidFill>
                  <a:schemeClr val="tx1"/>
                </a:solidFill>
                <a:latin typeface="+mn-lt"/>
                <a:ea typeface="+mn-ea"/>
                <a:cs typeface="+mn-cs"/>
              </a:rPr>
              <a:t>• Why : Unusual increase in Engine Temperature Per Unit Electrical Power suggests</a:t>
            </a:r>
          </a:p>
          <a:p>
            <a:r>
              <a:rPr lang="en-US" sz="1200" b="0" i="0" u="none" strike="noStrike" kern="1200" baseline="0" dirty="0">
                <a:solidFill>
                  <a:schemeClr val="tx1"/>
                </a:solidFill>
                <a:latin typeface="+mn-lt"/>
                <a:ea typeface="+mn-ea"/>
                <a:cs typeface="+mn-cs"/>
              </a:rPr>
              <a:t>issues such as motor winding problems, cooling system failure, or increased internal</a:t>
            </a:r>
          </a:p>
          <a:p>
            <a:r>
              <a:rPr lang="en-US" sz="1200" b="0" i="0" u="none" strike="noStrike" kern="1200" baseline="0" dirty="0">
                <a:solidFill>
                  <a:schemeClr val="tx1"/>
                </a:solidFill>
                <a:latin typeface="+mn-lt"/>
                <a:ea typeface="+mn-ea"/>
                <a:cs typeface="+mn-cs"/>
              </a:rPr>
              <a:t>friction, thereby signaling an anomaly.</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13.4.4 Efficiency &amp; Temperature Balance Ratio</a:t>
            </a:r>
          </a:p>
          <a:p>
            <a:r>
              <a:rPr lang="en-US" sz="1200" b="0" i="0" u="none" strike="noStrike" kern="1200" baseline="0" dirty="0">
                <a:solidFill>
                  <a:schemeClr val="tx1"/>
                </a:solidFill>
                <a:latin typeface="+mn-lt"/>
                <a:ea typeface="+mn-ea"/>
                <a:cs typeface="+mn-cs"/>
              </a:rPr>
              <a:t>• What : It is a comparative metric that evaluates the relationship between the pump’s</a:t>
            </a:r>
          </a:p>
          <a:p>
            <a:r>
              <a:rPr lang="en-US" sz="1200" b="0" i="0" u="none" strike="noStrike" kern="1200" baseline="0" dirty="0">
                <a:solidFill>
                  <a:schemeClr val="tx1"/>
                </a:solidFill>
                <a:latin typeface="+mn-lt"/>
                <a:ea typeface="+mn-ea"/>
                <a:cs typeface="+mn-cs"/>
              </a:rPr>
              <a:t>efficiency and the difference between engine and fluid temperatures.</a:t>
            </a:r>
            <a:endParaRPr lang="en-IN"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Why : A disproportionate relationship between a drop in efficiency and the motor/</a:t>
            </a:r>
          </a:p>
          <a:p>
            <a:r>
              <a:rPr lang="en-US" sz="1200" b="0" i="0" u="none" strike="noStrike" kern="1200" baseline="0" dirty="0">
                <a:solidFill>
                  <a:schemeClr val="tx1"/>
                </a:solidFill>
                <a:latin typeface="+mn-lt"/>
                <a:ea typeface="+mn-ea"/>
                <a:cs typeface="+mn-cs"/>
              </a:rPr>
              <a:t>fluid temperature balance can help distinguish between hydraulic problems (e.g.,</a:t>
            </a:r>
          </a:p>
          <a:p>
            <a:r>
              <a:rPr lang="en-US" sz="1200" b="0" i="0" u="none" strike="noStrike" kern="1200" baseline="0" dirty="0">
                <a:solidFill>
                  <a:schemeClr val="tx1"/>
                </a:solidFill>
                <a:latin typeface="+mn-lt"/>
                <a:ea typeface="+mn-ea"/>
                <a:cs typeface="+mn-cs"/>
              </a:rPr>
              <a:t>worn impeller) and electrical/motor-related issues, thus aiding in anomaly detection.</a:t>
            </a:r>
            <a:endParaRPr lang="en-IN" dirty="0"/>
          </a:p>
        </p:txBody>
      </p:sp>
      <p:sp>
        <p:nvSpPr>
          <p:cNvPr id="4" name="Slide Number Placeholder 3">
            <a:extLst>
              <a:ext uri="{FF2B5EF4-FFF2-40B4-BE49-F238E27FC236}">
                <a16:creationId xmlns:a16="http://schemas.microsoft.com/office/drawing/2014/main" id="{C41050B9-2A83-6EF4-F046-4E9928235896}"/>
              </a:ext>
            </a:extLst>
          </p:cNvPr>
          <p:cNvSpPr>
            <a:spLocks noGrp="1"/>
          </p:cNvSpPr>
          <p:nvPr>
            <p:ph type="sldNum" sz="quarter" idx="5"/>
          </p:nvPr>
        </p:nvSpPr>
        <p:spPr/>
        <p:txBody>
          <a:bodyPr/>
          <a:lstStyle/>
          <a:p>
            <a:fld id="{CEA1C4D0-EE6E-44D9-87D5-41BFE31C9C6A}" type="slidenum">
              <a:rPr lang="en-IN" smtClean="0"/>
              <a:t>26</a:t>
            </a:fld>
            <a:endParaRPr lang="en-IN"/>
          </a:p>
        </p:txBody>
      </p:sp>
    </p:spTree>
    <p:extLst>
      <p:ext uri="{BB962C8B-B14F-4D97-AF65-F5344CB8AC3E}">
        <p14:creationId xmlns:p14="http://schemas.microsoft.com/office/powerpoint/2010/main" val="828179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D403D-8EC4-C9F7-7CA8-5E2C2DFD7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AF9AF-A260-0D1F-F6E0-1EBD23EDC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4690F-9590-F59D-940F-4EF0F0FFC8D9}"/>
              </a:ext>
            </a:extLst>
          </p:cNvPr>
          <p:cNvSpPr>
            <a:spLocks noGrp="1"/>
          </p:cNvSpPr>
          <p:nvPr>
            <p:ph type="body" idx="1"/>
          </p:nvPr>
        </p:nvSpPr>
        <p:spPr/>
        <p:txBody>
          <a:bodyPr/>
          <a:lstStyle/>
          <a:p>
            <a:r>
              <a:rPr lang="en-IN" sz="1200" b="0" i="0" u="none" strike="noStrike" kern="1200" baseline="0" dirty="0">
                <a:solidFill>
                  <a:schemeClr val="tx1"/>
                </a:solidFill>
                <a:latin typeface="+mn-lt"/>
                <a:ea typeface="+mn-ea"/>
                <a:cs typeface="+mn-cs"/>
              </a:rPr>
              <a:t>13.5.1 Operational Vibration Fluctuation</a:t>
            </a:r>
          </a:p>
          <a:p>
            <a:r>
              <a:rPr lang="en-US" sz="1200" b="0" i="0" u="none" strike="noStrike" kern="1200" baseline="0" dirty="0">
                <a:solidFill>
                  <a:schemeClr val="tx1"/>
                </a:solidFill>
                <a:latin typeface="+mn-lt"/>
                <a:ea typeface="+mn-ea"/>
                <a:cs typeface="+mn-cs"/>
              </a:rPr>
              <a:t>• What : It represents the variability or instability in the product of the two accelerometer</a:t>
            </a:r>
          </a:p>
          <a:p>
            <a:r>
              <a:rPr lang="en-US" sz="1200" b="0" i="0" u="none" strike="noStrike" kern="1200" baseline="0" dirty="0">
                <a:solidFill>
                  <a:schemeClr val="tx1"/>
                </a:solidFill>
                <a:latin typeface="+mn-lt"/>
                <a:ea typeface="+mn-ea"/>
                <a:cs typeface="+mn-cs"/>
              </a:rPr>
              <a:t>readings, indicating changes in the overall vibration pattern over time, typically</a:t>
            </a:r>
          </a:p>
          <a:p>
            <a:r>
              <a:rPr lang="en-IN" sz="1200" b="0" i="0" u="none" strike="noStrike" kern="1200" baseline="0" dirty="0">
                <a:solidFill>
                  <a:schemeClr val="tx1"/>
                </a:solidFill>
                <a:latin typeface="+mn-lt"/>
                <a:ea typeface="+mn-ea"/>
                <a:cs typeface="+mn-cs"/>
              </a:rPr>
              <a:t>measured in g2.</a:t>
            </a:r>
          </a:p>
          <a:p>
            <a:r>
              <a:rPr lang="en-US" sz="1200" b="0" i="0" u="none" strike="noStrike" kern="1200" baseline="0" dirty="0">
                <a:solidFill>
                  <a:schemeClr val="tx1"/>
                </a:solidFill>
                <a:latin typeface="+mn-lt"/>
                <a:ea typeface="+mn-ea"/>
                <a:cs typeface="+mn-cs"/>
              </a:rPr>
              <a:t>• Why : Sudden or sustained increases in Operational Vibration Fluctuations can signal</a:t>
            </a:r>
          </a:p>
          <a:p>
            <a:r>
              <a:rPr lang="en-US" sz="1200" b="0" i="0" u="none" strike="noStrike" kern="1200" baseline="0" dirty="0">
                <a:solidFill>
                  <a:schemeClr val="tx1"/>
                </a:solidFill>
                <a:latin typeface="+mn-lt"/>
                <a:ea typeface="+mn-ea"/>
                <a:cs typeface="+mn-cs"/>
              </a:rPr>
              <a:t>dynamic instabilities, loosening components, or the onset of faults like cavitation or</a:t>
            </a:r>
          </a:p>
          <a:p>
            <a:r>
              <a:rPr lang="en-US" sz="1200" b="0" i="0" u="none" strike="noStrike" kern="1200" baseline="0" dirty="0">
                <a:solidFill>
                  <a:schemeClr val="tx1"/>
                </a:solidFill>
                <a:latin typeface="+mn-lt"/>
                <a:ea typeface="+mn-ea"/>
                <a:cs typeface="+mn-cs"/>
              </a:rPr>
              <a:t>bearing damage, thereby indicating an anomaly.</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13.5.2 Temperature Fluctuation</a:t>
            </a:r>
          </a:p>
          <a:p>
            <a:r>
              <a:rPr lang="en-US" sz="1200" b="0" i="0" u="none" strike="noStrike" kern="1200" baseline="0" dirty="0">
                <a:solidFill>
                  <a:schemeClr val="tx1"/>
                </a:solidFill>
                <a:latin typeface="+mn-lt"/>
                <a:ea typeface="+mn-ea"/>
                <a:cs typeface="+mn-cs"/>
              </a:rPr>
              <a:t>• What : It represents the variability or instability in the temperature readings of the</a:t>
            </a:r>
          </a:p>
          <a:p>
            <a:r>
              <a:rPr lang="en-IN" sz="1200" b="0" i="0" u="none" strike="noStrike" kern="1200" baseline="0" dirty="0">
                <a:solidFill>
                  <a:schemeClr val="tx1"/>
                </a:solidFill>
                <a:latin typeface="+mn-lt"/>
                <a:ea typeface="+mn-ea"/>
                <a:cs typeface="+mn-cs"/>
              </a:rPr>
              <a:t>electric motor body.</a:t>
            </a:r>
          </a:p>
          <a:p>
            <a:r>
              <a:rPr lang="en-US" sz="1200" b="0" i="0" u="none" strike="noStrike" kern="1200" baseline="0" dirty="0">
                <a:solidFill>
                  <a:schemeClr val="tx1"/>
                </a:solidFill>
                <a:latin typeface="+mn-lt"/>
                <a:ea typeface="+mn-ea"/>
                <a:cs typeface="+mn-cs"/>
              </a:rPr>
              <a:t>• Why : Increased Engine Temperature Fluctuations can indicate inconsistent cooling,</a:t>
            </a:r>
          </a:p>
          <a:p>
            <a:r>
              <a:rPr lang="en-US" sz="1200" b="0" i="0" u="none" strike="noStrike" kern="1200" baseline="0" dirty="0">
                <a:solidFill>
                  <a:schemeClr val="tx1"/>
                </a:solidFill>
                <a:latin typeface="+mn-lt"/>
                <a:ea typeface="+mn-ea"/>
                <a:cs typeface="+mn-cs"/>
              </a:rPr>
              <a:t>intermittent overloading, or electrical issues within the motor, thereby signaling an</a:t>
            </a:r>
          </a:p>
          <a:p>
            <a:r>
              <a:rPr lang="en-IN" sz="1200" b="0" i="0" u="none" strike="noStrike" kern="1200" baseline="0" dirty="0">
                <a:solidFill>
                  <a:schemeClr val="tx1"/>
                </a:solidFill>
                <a:latin typeface="+mn-lt"/>
                <a:ea typeface="+mn-ea"/>
                <a:cs typeface="+mn-cs"/>
              </a:rPr>
              <a:t>anomaly.</a:t>
            </a:r>
          </a:p>
          <a:p>
            <a:endParaRPr lang="en-IN"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13.5.3 Thermocouple Fluctuation</a:t>
            </a:r>
          </a:p>
          <a:p>
            <a:r>
              <a:rPr lang="en-US" sz="1200" b="0" i="0" u="none" strike="noStrike" kern="1200" baseline="0" dirty="0">
                <a:solidFill>
                  <a:schemeClr val="tx1"/>
                </a:solidFill>
                <a:latin typeface="+mn-lt"/>
                <a:ea typeface="+mn-ea"/>
                <a:cs typeface="+mn-cs"/>
              </a:rPr>
              <a:t>• What : It represents the variability or instability in the temperature readings of the</a:t>
            </a:r>
          </a:p>
          <a:p>
            <a:r>
              <a:rPr lang="en-US" sz="1200" b="0" i="0" u="none" strike="noStrike" kern="1200" baseline="0" dirty="0">
                <a:solidFill>
                  <a:schemeClr val="tx1"/>
                </a:solidFill>
                <a:latin typeface="+mn-lt"/>
                <a:ea typeface="+mn-ea"/>
                <a:cs typeface="+mn-cs"/>
              </a:rPr>
              <a:t>fluid within the circulation loop.</a:t>
            </a:r>
          </a:p>
          <a:p>
            <a:r>
              <a:rPr lang="en-US" sz="1200" b="0" i="0" u="none" strike="noStrike" kern="1200" baseline="0" dirty="0">
                <a:solidFill>
                  <a:schemeClr val="tx1"/>
                </a:solidFill>
                <a:latin typeface="+mn-lt"/>
                <a:ea typeface="+mn-ea"/>
                <a:cs typeface="+mn-cs"/>
              </a:rPr>
              <a:t>• Why : Elevated Fluid Temperature Fluctuations can suggest erratic flow, intermittent</a:t>
            </a:r>
          </a:p>
          <a:p>
            <a:r>
              <a:rPr lang="en-US" sz="1200" b="0" i="0" u="none" strike="noStrike" kern="1200" baseline="0" dirty="0">
                <a:solidFill>
                  <a:schemeClr val="tx1"/>
                </a:solidFill>
                <a:latin typeface="+mn-lt"/>
                <a:ea typeface="+mn-ea"/>
                <a:cs typeface="+mn-cs"/>
              </a:rPr>
              <a:t>cavitation, or issues with external heat exchange in the fluid loop, thereby signaling</a:t>
            </a:r>
          </a:p>
          <a:p>
            <a:r>
              <a:rPr lang="en-IN" sz="1200" b="0" i="0" u="none" strike="noStrike" kern="1200" baseline="0" dirty="0">
                <a:solidFill>
                  <a:schemeClr val="tx1"/>
                </a:solidFill>
                <a:latin typeface="+mn-lt"/>
                <a:ea typeface="+mn-ea"/>
                <a:cs typeface="+mn-cs"/>
              </a:rPr>
              <a:t>an anomaly.</a:t>
            </a:r>
          </a:p>
          <a:p>
            <a:endParaRPr lang="en-IN"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13.5.4 Volume Flow Rate Fluctuation</a:t>
            </a:r>
          </a:p>
          <a:p>
            <a:r>
              <a:rPr lang="en-US" sz="1200" b="0" i="0" u="none" strike="noStrike" kern="1200" baseline="0" dirty="0">
                <a:solidFill>
                  <a:schemeClr val="tx1"/>
                </a:solidFill>
                <a:latin typeface="+mn-lt"/>
                <a:ea typeface="+mn-ea"/>
                <a:cs typeface="+mn-cs"/>
              </a:rPr>
              <a:t>• What : It represents the variability or instability in the rate at which fluid is flowing</a:t>
            </a:r>
          </a:p>
          <a:p>
            <a:r>
              <a:rPr lang="en-IN" sz="1200" b="0" i="0" u="none" strike="noStrike" kern="1200" baseline="0" dirty="0">
                <a:solidFill>
                  <a:schemeClr val="tx1"/>
                </a:solidFill>
                <a:latin typeface="+mn-lt"/>
                <a:ea typeface="+mn-ea"/>
                <a:cs typeface="+mn-cs"/>
              </a:rPr>
              <a:t>through the circulation loop.</a:t>
            </a:r>
          </a:p>
          <a:p>
            <a:r>
              <a:rPr lang="en-US" sz="1200" b="0" i="0" u="none" strike="noStrike" kern="1200" baseline="0" dirty="0">
                <a:solidFill>
                  <a:schemeClr val="tx1"/>
                </a:solidFill>
                <a:latin typeface="+mn-lt"/>
                <a:ea typeface="+mn-ea"/>
                <a:cs typeface="+mn-cs"/>
              </a:rPr>
              <a:t>• Why : Increase in Volume Flow Rate Fluctuation can indicate cavitation, blockages,</a:t>
            </a:r>
          </a:p>
          <a:p>
            <a:r>
              <a:rPr lang="en-US" sz="1200" b="0" i="0" u="none" strike="noStrike" kern="1200" baseline="0" dirty="0">
                <a:solidFill>
                  <a:schemeClr val="tx1"/>
                </a:solidFill>
                <a:latin typeface="+mn-lt"/>
                <a:ea typeface="+mn-ea"/>
                <a:cs typeface="+mn-cs"/>
              </a:rPr>
              <a:t>air entrainment, or issues with the pump’s prime, thereby signaling an anomaly.</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13.5.5 Hydraulic Power Fluctuation</a:t>
            </a:r>
          </a:p>
          <a:p>
            <a:r>
              <a:rPr lang="en-US" sz="1200" b="0" i="0" u="none" strike="noStrike" kern="1200" baseline="0" dirty="0">
                <a:solidFill>
                  <a:schemeClr val="tx1"/>
                </a:solidFill>
                <a:latin typeface="+mn-lt"/>
                <a:ea typeface="+mn-ea"/>
                <a:cs typeface="+mn-cs"/>
              </a:rPr>
              <a:t>• What : It represents the variability or instability in the useful power delivered by the</a:t>
            </a:r>
          </a:p>
          <a:p>
            <a:r>
              <a:rPr lang="en-IN" sz="1200" b="0" i="0" u="none" strike="noStrike" kern="1200" baseline="0" dirty="0">
                <a:solidFill>
                  <a:schemeClr val="tx1"/>
                </a:solidFill>
                <a:latin typeface="+mn-lt"/>
                <a:ea typeface="+mn-ea"/>
                <a:cs typeface="+mn-cs"/>
              </a:rPr>
              <a:t>pump to the fluid.</a:t>
            </a:r>
          </a:p>
          <a:p>
            <a:r>
              <a:rPr lang="en-US" sz="1200" b="0" i="0" u="none" strike="noStrike" kern="1200" baseline="0" dirty="0">
                <a:solidFill>
                  <a:schemeClr val="tx1"/>
                </a:solidFill>
                <a:latin typeface="+mn-lt"/>
                <a:ea typeface="+mn-ea"/>
                <a:cs typeface="+mn-cs"/>
              </a:rPr>
              <a:t>• Why : Increase in Hydraulic Power Fluctuation can point to intermittent issues with</a:t>
            </a:r>
          </a:p>
          <a:p>
            <a:r>
              <a:rPr lang="en-US" sz="1200" b="0" i="0" u="none" strike="noStrike" kern="1200" baseline="0" dirty="0">
                <a:solidFill>
                  <a:schemeClr val="tx1"/>
                </a:solidFill>
                <a:latin typeface="+mn-lt"/>
                <a:ea typeface="+mn-ea"/>
                <a:cs typeface="+mn-cs"/>
              </a:rPr>
              <a:t>pump performance, such as partial cavitation, varying system resistance, or inconsistent</a:t>
            </a:r>
          </a:p>
          <a:p>
            <a:r>
              <a:rPr lang="en-US" sz="1200" b="0" i="0" u="none" strike="noStrike" kern="1200" baseline="0" dirty="0">
                <a:solidFill>
                  <a:schemeClr val="tx1"/>
                </a:solidFill>
                <a:latin typeface="+mn-lt"/>
                <a:ea typeface="+mn-ea"/>
                <a:cs typeface="+mn-cs"/>
              </a:rPr>
              <a:t>fluid delivery, thereby signaling an anomaly.</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13.5.6 Electrical Power Fluctuation</a:t>
            </a:r>
          </a:p>
          <a:p>
            <a:r>
              <a:rPr lang="en-US" sz="1200" b="0" i="0" u="none" strike="noStrike" kern="1200" baseline="0" dirty="0">
                <a:solidFill>
                  <a:schemeClr val="tx1"/>
                </a:solidFill>
                <a:latin typeface="+mn-lt"/>
                <a:ea typeface="+mn-ea"/>
                <a:cs typeface="+mn-cs"/>
              </a:rPr>
              <a:t>• What : It represents the variability or instability in the power consumed by the</a:t>
            </a:r>
          </a:p>
          <a:p>
            <a:r>
              <a:rPr lang="en-US" sz="1200" b="0" i="0" u="none" strike="noStrike" kern="1200" baseline="0" dirty="0">
                <a:solidFill>
                  <a:schemeClr val="tx1"/>
                </a:solidFill>
                <a:latin typeface="+mn-lt"/>
                <a:ea typeface="+mn-ea"/>
                <a:cs typeface="+mn-cs"/>
              </a:rPr>
              <a:t>electric motor driving the pump.</a:t>
            </a:r>
          </a:p>
          <a:p>
            <a:r>
              <a:rPr lang="en-US" sz="1200" b="0" i="0" u="none" strike="noStrike" kern="1200" baseline="0" dirty="0">
                <a:solidFill>
                  <a:schemeClr val="tx1"/>
                </a:solidFill>
                <a:latin typeface="+mn-lt"/>
                <a:ea typeface="+mn-ea"/>
                <a:cs typeface="+mn-cs"/>
              </a:rPr>
              <a:t>• Why : Increase in Electrical Power Fluctuation can indicate unstable motor operation,</a:t>
            </a:r>
          </a:p>
          <a:p>
            <a:r>
              <a:rPr lang="en-US" sz="1200" b="0" i="0" u="none" strike="noStrike" kern="1200" baseline="0" dirty="0">
                <a:solidFill>
                  <a:schemeClr val="tx1"/>
                </a:solidFill>
                <a:latin typeface="+mn-lt"/>
                <a:ea typeface="+mn-ea"/>
                <a:cs typeface="+mn-cs"/>
              </a:rPr>
              <a:t>intermittent electrical faults, or varying mechanical loads on the pump, thereby</a:t>
            </a:r>
          </a:p>
          <a:p>
            <a:r>
              <a:rPr lang="en-IN" sz="1200" b="0" i="0" u="none" strike="noStrike" kern="1200" baseline="0" dirty="0" err="1">
                <a:solidFill>
                  <a:schemeClr val="tx1"/>
                </a:solidFill>
                <a:latin typeface="+mn-lt"/>
                <a:ea typeface="+mn-ea"/>
                <a:cs typeface="+mn-cs"/>
              </a:rPr>
              <a:t>signaling</a:t>
            </a:r>
            <a:r>
              <a:rPr lang="en-IN" sz="1200" b="0" i="0" u="none" strike="noStrike" kern="1200" baseline="0" dirty="0">
                <a:solidFill>
                  <a:schemeClr val="tx1"/>
                </a:solidFill>
                <a:latin typeface="+mn-lt"/>
                <a:ea typeface="+mn-ea"/>
                <a:cs typeface="+mn-cs"/>
              </a:rPr>
              <a:t> an anomaly.</a:t>
            </a:r>
            <a:endParaRPr lang="en-IN" dirty="0"/>
          </a:p>
        </p:txBody>
      </p:sp>
      <p:sp>
        <p:nvSpPr>
          <p:cNvPr id="4" name="Slide Number Placeholder 3">
            <a:extLst>
              <a:ext uri="{FF2B5EF4-FFF2-40B4-BE49-F238E27FC236}">
                <a16:creationId xmlns:a16="http://schemas.microsoft.com/office/drawing/2014/main" id="{9097734A-79C6-C452-3247-162B592FE0D6}"/>
              </a:ext>
            </a:extLst>
          </p:cNvPr>
          <p:cNvSpPr>
            <a:spLocks noGrp="1"/>
          </p:cNvSpPr>
          <p:nvPr>
            <p:ph type="sldNum" sz="quarter" idx="5"/>
          </p:nvPr>
        </p:nvSpPr>
        <p:spPr/>
        <p:txBody>
          <a:bodyPr/>
          <a:lstStyle/>
          <a:p>
            <a:fld id="{CEA1C4D0-EE6E-44D9-87D5-41BFE31C9C6A}" type="slidenum">
              <a:rPr lang="en-IN" smtClean="0"/>
              <a:t>27</a:t>
            </a:fld>
            <a:endParaRPr lang="en-IN"/>
          </a:p>
        </p:txBody>
      </p:sp>
    </p:spTree>
    <p:extLst>
      <p:ext uri="{BB962C8B-B14F-4D97-AF65-F5344CB8AC3E}">
        <p14:creationId xmlns:p14="http://schemas.microsoft.com/office/powerpoint/2010/main" val="3953696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baseline="0" dirty="0">
                <a:solidFill>
                  <a:schemeClr val="tx1"/>
                </a:solidFill>
                <a:latin typeface="+mn-lt"/>
                <a:ea typeface="+mn-ea"/>
                <a:cs typeface="+mn-cs"/>
              </a:rPr>
              <a:t>• Z-Score Method</a:t>
            </a:r>
          </a:p>
          <a:p>
            <a:r>
              <a:rPr lang="en-US" sz="1200" b="0" i="0" u="none" strike="noStrike" kern="1200" baseline="0" dirty="0">
                <a:solidFill>
                  <a:schemeClr val="tx1"/>
                </a:solidFill>
                <a:latin typeface="+mn-lt"/>
                <a:ea typeface="+mn-ea"/>
                <a:cs typeface="+mn-cs"/>
              </a:rPr>
              <a:t>– Description : Measures how many standard deviations an observation is from</a:t>
            </a:r>
          </a:p>
          <a:p>
            <a:r>
              <a:rPr lang="en-IN" sz="1200" b="0" i="0" u="none" strike="noStrike" kern="1200" baseline="0" dirty="0">
                <a:solidFill>
                  <a:schemeClr val="tx1"/>
                </a:solidFill>
                <a:latin typeface="+mn-lt"/>
                <a:ea typeface="+mn-ea"/>
                <a:cs typeface="+mn-cs"/>
              </a:rPr>
              <a:t>the mean.</a:t>
            </a:r>
          </a:p>
          <a:p>
            <a:r>
              <a:rPr lang="en-US" sz="1200" b="0" i="0" u="none" strike="noStrike" kern="1200" baseline="0" dirty="0">
                <a:solidFill>
                  <a:schemeClr val="tx1"/>
                </a:solidFill>
                <a:latin typeface="+mn-lt"/>
                <a:ea typeface="+mn-ea"/>
                <a:cs typeface="+mn-cs"/>
              </a:rPr>
              <a:t>– Usefulness for Anomaly Detection : Identifies anomalies as data points that</a:t>
            </a:r>
          </a:p>
          <a:p>
            <a:r>
              <a:rPr lang="en-US" sz="1200" b="0" i="0" u="none" strike="noStrike" kern="1200" baseline="0" dirty="0">
                <a:solidFill>
                  <a:schemeClr val="tx1"/>
                </a:solidFill>
                <a:latin typeface="+mn-lt"/>
                <a:ea typeface="+mn-ea"/>
                <a:cs typeface="+mn-cs"/>
              </a:rPr>
              <a:t>fall beyond a certain number of standard deviations from the mean in a univariate</a:t>
            </a:r>
          </a:p>
          <a:p>
            <a:r>
              <a:rPr lang="en-IN" sz="1200" b="0" i="0" u="none" strike="noStrike" kern="1200" baseline="0" dirty="0">
                <a:solidFill>
                  <a:schemeClr val="tx1"/>
                </a:solidFill>
                <a:latin typeface="+mn-lt"/>
                <a:ea typeface="+mn-ea"/>
                <a:cs typeface="+mn-cs"/>
              </a:rPr>
              <a:t>distribution.</a:t>
            </a:r>
          </a:p>
          <a:p>
            <a:endParaRPr lang="en-IN"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 Multivariate Gaussian Model</a:t>
            </a:r>
          </a:p>
          <a:p>
            <a:r>
              <a:rPr lang="en-US" sz="1200" b="0" i="0" u="none" strike="noStrike" kern="1200" baseline="0" dirty="0">
                <a:solidFill>
                  <a:schemeClr val="tx1"/>
                </a:solidFill>
                <a:latin typeface="+mn-lt"/>
                <a:ea typeface="+mn-ea"/>
                <a:cs typeface="+mn-cs"/>
              </a:rPr>
              <a:t>– Description : Models data points as following a multi-dimensional Gaussian</a:t>
            </a:r>
          </a:p>
          <a:p>
            <a:r>
              <a:rPr lang="en-IN" sz="1200" b="0" i="0" u="none" strike="noStrike" kern="1200" baseline="0" dirty="0">
                <a:solidFill>
                  <a:schemeClr val="tx1"/>
                </a:solidFill>
                <a:latin typeface="+mn-lt"/>
                <a:ea typeface="+mn-ea"/>
                <a:cs typeface="+mn-cs"/>
              </a:rPr>
              <a:t>distribution.</a:t>
            </a:r>
          </a:p>
          <a:p>
            <a:r>
              <a:rPr lang="en-US" sz="1200" b="0" i="0" u="none" strike="noStrike" kern="1200" baseline="0" dirty="0">
                <a:solidFill>
                  <a:schemeClr val="tx1"/>
                </a:solidFill>
                <a:latin typeface="+mn-lt"/>
                <a:ea typeface="+mn-ea"/>
                <a:cs typeface="+mn-cs"/>
              </a:rPr>
              <a:t>– Usefulness for Anomaly Detection : Flags anomalies as data points with a</a:t>
            </a:r>
          </a:p>
          <a:p>
            <a:r>
              <a:rPr lang="en-US" sz="1200" b="0" i="0" u="none" strike="noStrike" kern="1200" baseline="0" dirty="0">
                <a:solidFill>
                  <a:schemeClr val="tx1"/>
                </a:solidFill>
                <a:latin typeface="+mn-lt"/>
                <a:ea typeface="+mn-ea"/>
                <a:cs typeface="+mn-cs"/>
              </a:rPr>
              <a:t>very low probability of occurring under the</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 Inter Quartile Range (IQR)</a:t>
            </a:r>
          </a:p>
          <a:p>
            <a:r>
              <a:rPr lang="en-US" sz="1200" b="0" i="0" u="none" strike="noStrike" kern="1200" baseline="0" dirty="0">
                <a:solidFill>
                  <a:schemeClr val="tx1"/>
                </a:solidFill>
                <a:latin typeface="+mn-lt"/>
                <a:ea typeface="+mn-ea"/>
                <a:cs typeface="+mn-cs"/>
              </a:rPr>
              <a:t>– Description : A measure of statistical dispersion, calculated as the difference</a:t>
            </a:r>
          </a:p>
          <a:p>
            <a:r>
              <a:rPr lang="en-US" sz="1200" b="0" i="0" u="none" strike="noStrike" kern="1200" baseline="0" dirty="0">
                <a:solidFill>
                  <a:schemeClr val="tx1"/>
                </a:solidFill>
                <a:latin typeface="+mn-lt"/>
                <a:ea typeface="+mn-ea"/>
                <a:cs typeface="+mn-cs"/>
              </a:rPr>
              <a:t>between the 75th and 25th percentiles.</a:t>
            </a:r>
          </a:p>
          <a:p>
            <a:r>
              <a:rPr lang="en-US" sz="1200" b="0" i="0" u="none" strike="noStrike" kern="1200" baseline="0" dirty="0">
                <a:solidFill>
                  <a:schemeClr val="tx1"/>
                </a:solidFill>
                <a:latin typeface="+mn-lt"/>
                <a:ea typeface="+mn-ea"/>
                <a:cs typeface="+mn-cs"/>
              </a:rPr>
              <a:t>– Usefulness for Anomaly Detection : Defines anomalies as observations that</a:t>
            </a:r>
          </a:p>
          <a:p>
            <a:r>
              <a:rPr lang="en-US" sz="1200" b="0" i="0" u="none" strike="noStrike" kern="1200" baseline="0" dirty="0">
                <a:solidFill>
                  <a:schemeClr val="tx1"/>
                </a:solidFill>
                <a:latin typeface="+mn-lt"/>
                <a:ea typeface="+mn-ea"/>
                <a:cs typeface="+mn-cs"/>
              </a:rPr>
              <a:t>fall outside a specified range (e.g., 1.5 times the IQR) from the first or third</a:t>
            </a:r>
          </a:p>
          <a:p>
            <a:r>
              <a:rPr lang="en-IN" sz="1200" b="0" i="0" u="none" strike="noStrike" kern="1200" baseline="0" dirty="0">
                <a:solidFill>
                  <a:schemeClr val="tx1"/>
                </a:solidFill>
                <a:latin typeface="+mn-lt"/>
                <a:ea typeface="+mn-ea"/>
                <a:cs typeface="+mn-cs"/>
              </a:rPr>
              <a:t>quartile.</a:t>
            </a:r>
          </a:p>
          <a:p>
            <a:endParaRPr lang="en-IN"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 Percentile Method</a:t>
            </a:r>
          </a:p>
          <a:p>
            <a:r>
              <a:rPr lang="en-US" sz="1200" b="0" i="0" u="none" strike="noStrike" kern="1200" baseline="0" dirty="0">
                <a:solidFill>
                  <a:schemeClr val="tx1"/>
                </a:solidFill>
                <a:latin typeface="+mn-lt"/>
                <a:ea typeface="+mn-ea"/>
                <a:cs typeface="+mn-cs"/>
              </a:rPr>
              <a:t>– Description : Ranks observations based on their values and defines thresholds</a:t>
            </a:r>
          </a:p>
          <a:p>
            <a:r>
              <a:rPr lang="en-IN" sz="1200" b="0" i="0" u="none" strike="noStrike" kern="1200" baseline="0" dirty="0">
                <a:solidFill>
                  <a:schemeClr val="tx1"/>
                </a:solidFill>
                <a:latin typeface="+mn-lt"/>
                <a:ea typeface="+mn-ea"/>
                <a:cs typeface="+mn-cs"/>
              </a:rPr>
              <a:t>at specific percentile points.</a:t>
            </a:r>
          </a:p>
          <a:p>
            <a:r>
              <a:rPr lang="en-US" sz="1200" b="0" i="0" u="none" strike="noStrike" kern="1200" baseline="0" dirty="0">
                <a:solidFill>
                  <a:schemeClr val="tx1"/>
                </a:solidFill>
                <a:latin typeface="+mn-lt"/>
                <a:ea typeface="+mn-ea"/>
                <a:cs typeface="+mn-cs"/>
              </a:rPr>
              <a:t>– Usefulness for Anomaly Detection : Identifies anomalies as data points that</a:t>
            </a:r>
          </a:p>
          <a:p>
            <a:r>
              <a:rPr lang="en-US" sz="1200" b="0" i="0" u="none" strike="noStrike" kern="1200" baseline="0" dirty="0">
                <a:solidFill>
                  <a:schemeClr val="tx1"/>
                </a:solidFill>
                <a:latin typeface="+mn-lt"/>
                <a:ea typeface="+mn-ea"/>
                <a:cs typeface="+mn-cs"/>
              </a:rPr>
              <a:t>fall into the lowest or highest specified percentiles of the data distribution.</a:t>
            </a:r>
            <a:endParaRPr lang="en-IN" dirty="0"/>
          </a:p>
          <a:p>
            <a:endParaRPr lang="en-IN" dirty="0"/>
          </a:p>
          <a:p>
            <a:r>
              <a:rPr lang="en-IN" sz="1200" b="0" i="0" u="none" strike="noStrike" kern="1200" baseline="0" dirty="0">
                <a:solidFill>
                  <a:schemeClr val="tx1"/>
                </a:solidFill>
                <a:latin typeface="+mn-lt"/>
                <a:ea typeface="+mn-ea"/>
                <a:cs typeface="+mn-cs"/>
              </a:rPr>
              <a:t>• k-Nearest </a:t>
            </a:r>
            <a:r>
              <a:rPr lang="en-IN" sz="1200" b="0" i="0" u="none" strike="noStrike" kern="1200" baseline="0" dirty="0" err="1">
                <a:solidFill>
                  <a:schemeClr val="tx1"/>
                </a:solidFill>
                <a:latin typeface="+mn-lt"/>
                <a:ea typeface="+mn-ea"/>
                <a:cs typeface="+mn-cs"/>
              </a:rPr>
              <a:t>Neighbors</a:t>
            </a:r>
            <a:endParaRPr lang="en-IN"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Description : A non-parametric method that classifies a data point based on</a:t>
            </a:r>
          </a:p>
          <a:p>
            <a:r>
              <a:rPr lang="en-US" sz="1200" b="0" i="0" u="none" strike="noStrike" kern="1200" baseline="0" dirty="0">
                <a:solidFill>
                  <a:schemeClr val="tx1"/>
                </a:solidFill>
                <a:latin typeface="+mn-lt"/>
                <a:ea typeface="+mn-ea"/>
                <a:cs typeface="+mn-cs"/>
              </a:rPr>
              <a:t>the majority class of its ’k’ nearest neighbors.</a:t>
            </a:r>
            <a:endParaRPr lang="en-IN"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Usefulness for Anomaly Detection : Detects anomalies by identifying data</a:t>
            </a:r>
          </a:p>
          <a:p>
            <a:r>
              <a:rPr lang="en-US" sz="1200" b="0" i="0" u="none" strike="noStrike" kern="1200" baseline="0" dirty="0">
                <a:solidFill>
                  <a:schemeClr val="tx1"/>
                </a:solidFill>
                <a:latin typeface="+mn-lt"/>
                <a:ea typeface="+mn-ea"/>
                <a:cs typeface="+mn-cs"/>
              </a:rPr>
              <a:t>points that have a low density of neighbors or are far from their ’k’ nearest neighbors.</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 Local Outlier Factor</a:t>
            </a:r>
          </a:p>
          <a:p>
            <a:r>
              <a:rPr lang="en-US" sz="1200" b="0" i="0" u="none" strike="noStrike" kern="1200" baseline="0" dirty="0">
                <a:solidFill>
                  <a:schemeClr val="tx1"/>
                </a:solidFill>
                <a:latin typeface="+mn-lt"/>
                <a:ea typeface="+mn-ea"/>
                <a:cs typeface="+mn-cs"/>
              </a:rPr>
              <a:t>– Description : Measures the local deviation of a data point with respect to its</a:t>
            </a:r>
          </a:p>
          <a:p>
            <a:r>
              <a:rPr lang="en-IN" sz="1200" b="0" i="0" u="none" strike="noStrike" kern="1200" baseline="0" dirty="0" err="1">
                <a:solidFill>
                  <a:schemeClr val="tx1"/>
                </a:solidFill>
                <a:latin typeface="+mn-lt"/>
                <a:ea typeface="+mn-ea"/>
                <a:cs typeface="+mn-cs"/>
              </a:rPr>
              <a:t>neighbors</a:t>
            </a:r>
            <a:r>
              <a:rPr lang="en-IN"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 Usefulness for Anomaly Detection : Identifies anomalies as data points that</a:t>
            </a:r>
          </a:p>
          <a:p>
            <a:r>
              <a:rPr lang="en-US" sz="1200" b="0" i="0" u="none" strike="noStrike" kern="1200" baseline="0" dirty="0">
                <a:solidFill>
                  <a:schemeClr val="tx1"/>
                </a:solidFill>
                <a:latin typeface="+mn-lt"/>
                <a:ea typeface="+mn-ea"/>
                <a:cs typeface="+mn-cs"/>
              </a:rPr>
              <a:t>are significantly less dense than their neighbors, making it effective for detecting</a:t>
            </a:r>
          </a:p>
          <a:p>
            <a:r>
              <a:rPr lang="en-US" sz="1200" b="0" i="0" u="none" strike="noStrike" kern="1200" baseline="0" dirty="0">
                <a:solidFill>
                  <a:schemeClr val="tx1"/>
                </a:solidFill>
                <a:latin typeface="+mn-lt"/>
                <a:ea typeface="+mn-ea"/>
                <a:cs typeface="+mn-cs"/>
              </a:rPr>
              <a:t>outliers in varying density regions.</a:t>
            </a:r>
            <a:endParaRPr lang="en-IN" dirty="0"/>
          </a:p>
          <a:p>
            <a:endParaRPr lang="en-IN" dirty="0"/>
          </a:p>
        </p:txBody>
      </p:sp>
      <p:sp>
        <p:nvSpPr>
          <p:cNvPr id="4" name="Slide Number Placeholder 3"/>
          <p:cNvSpPr>
            <a:spLocks noGrp="1"/>
          </p:cNvSpPr>
          <p:nvPr>
            <p:ph type="sldNum" sz="quarter" idx="5"/>
          </p:nvPr>
        </p:nvSpPr>
        <p:spPr/>
        <p:txBody>
          <a:bodyPr/>
          <a:lstStyle/>
          <a:p>
            <a:fld id="{CEA1C4D0-EE6E-44D9-87D5-41BFE31C9C6A}" type="slidenum">
              <a:rPr lang="en-IN" smtClean="0"/>
              <a:t>29</a:t>
            </a:fld>
            <a:endParaRPr lang="en-IN"/>
          </a:p>
        </p:txBody>
      </p:sp>
    </p:spTree>
    <p:extLst>
      <p:ext uri="{BB962C8B-B14F-4D97-AF65-F5344CB8AC3E}">
        <p14:creationId xmlns:p14="http://schemas.microsoft.com/office/powerpoint/2010/main" val="28359617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2557A-AE90-8274-CA19-3F990558D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FD79B-4528-C811-6983-35F657FF41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CD684C-D000-0BC7-9AFC-5BE55219D0E2}"/>
              </a:ext>
            </a:extLst>
          </p:cNvPr>
          <p:cNvSpPr>
            <a:spLocks noGrp="1"/>
          </p:cNvSpPr>
          <p:nvPr>
            <p:ph type="body" idx="1"/>
          </p:nvPr>
        </p:nvSpPr>
        <p:spPr/>
        <p:txBody>
          <a:bodyPr/>
          <a:lstStyle/>
          <a:p>
            <a:r>
              <a:rPr lang="en-IN" sz="1200" b="0" i="0" u="none" strike="noStrike" kern="1200" baseline="0" dirty="0">
                <a:solidFill>
                  <a:schemeClr val="tx1"/>
                </a:solidFill>
                <a:latin typeface="+mn-lt"/>
                <a:ea typeface="+mn-ea"/>
                <a:cs typeface="+mn-cs"/>
              </a:rPr>
              <a:t>• Z-Score Method</a:t>
            </a:r>
          </a:p>
          <a:p>
            <a:r>
              <a:rPr lang="en-US" sz="1200" b="0" i="0" u="none" strike="noStrike" kern="1200" baseline="0" dirty="0">
                <a:solidFill>
                  <a:schemeClr val="tx1"/>
                </a:solidFill>
                <a:latin typeface="+mn-lt"/>
                <a:ea typeface="+mn-ea"/>
                <a:cs typeface="+mn-cs"/>
              </a:rPr>
              <a:t>– Description : Measures how many standard deviations an observation is from</a:t>
            </a:r>
          </a:p>
          <a:p>
            <a:r>
              <a:rPr lang="en-IN" sz="1200" b="0" i="0" u="none" strike="noStrike" kern="1200" baseline="0" dirty="0">
                <a:solidFill>
                  <a:schemeClr val="tx1"/>
                </a:solidFill>
                <a:latin typeface="+mn-lt"/>
                <a:ea typeface="+mn-ea"/>
                <a:cs typeface="+mn-cs"/>
              </a:rPr>
              <a:t>the mean.</a:t>
            </a:r>
          </a:p>
          <a:p>
            <a:r>
              <a:rPr lang="en-US" sz="1200" b="0" i="0" u="none" strike="noStrike" kern="1200" baseline="0" dirty="0">
                <a:solidFill>
                  <a:schemeClr val="tx1"/>
                </a:solidFill>
                <a:latin typeface="+mn-lt"/>
                <a:ea typeface="+mn-ea"/>
                <a:cs typeface="+mn-cs"/>
              </a:rPr>
              <a:t>– Usefulness for Anomaly Detection : Identifies anomalies as data points that</a:t>
            </a:r>
          </a:p>
          <a:p>
            <a:r>
              <a:rPr lang="en-US" sz="1200" b="0" i="0" u="none" strike="noStrike" kern="1200" baseline="0" dirty="0">
                <a:solidFill>
                  <a:schemeClr val="tx1"/>
                </a:solidFill>
                <a:latin typeface="+mn-lt"/>
                <a:ea typeface="+mn-ea"/>
                <a:cs typeface="+mn-cs"/>
              </a:rPr>
              <a:t>fall beyond a certain number of standard deviations from the mean in a univariate</a:t>
            </a:r>
          </a:p>
          <a:p>
            <a:r>
              <a:rPr lang="en-IN" sz="1200" b="0" i="0" u="none" strike="noStrike" kern="1200" baseline="0" dirty="0">
                <a:solidFill>
                  <a:schemeClr val="tx1"/>
                </a:solidFill>
                <a:latin typeface="+mn-lt"/>
                <a:ea typeface="+mn-ea"/>
                <a:cs typeface="+mn-cs"/>
              </a:rPr>
              <a:t>distribution.</a:t>
            </a:r>
          </a:p>
          <a:p>
            <a:endParaRPr lang="en-IN"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 Multivariate Gaussian Model</a:t>
            </a:r>
          </a:p>
          <a:p>
            <a:r>
              <a:rPr lang="en-US" sz="1200" b="0" i="0" u="none" strike="noStrike" kern="1200" baseline="0" dirty="0">
                <a:solidFill>
                  <a:schemeClr val="tx1"/>
                </a:solidFill>
                <a:latin typeface="+mn-lt"/>
                <a:ea typeface="+mn-ea"/>
                <a:cs typeface="+mn-cs"/>
              </a:rPr>
              <a:t>– Description : Models data points as following a multi-dimensional Gaussian</a:t>
            </a:r>
          </a:p>
          <a:p>
            <a:r>
              <a:rPr lang="en-IN" sz="1200" b="0" i="0" u="none" strike="noStrike" kern="1200" baseline="0" dirty="0">
                <a:solidFill>
                  <a:schemeClr val="tx1"/>
                </a:solidFill>
                <a:latin typeface="+mn-lt"/>
                <a:ea typeface="+mn-ea"/>
                <a:cs typeface="+mn-cs"/>
              </a:rPr>
              <a:t>distribution.</a:t>
            </a:r>
          </a:p>
          <a:p>
            <a:r>
              <a:rPr lang="en-US" sz="1200" b="0" i="0" u="none" strike="noStrike" kern="1200" baseline="0" dirty="0">
                <a:solidFill>
                  <a:schemeClr val="tx1"/>
                </a:solidFill>
                <a:latin typeface="+mn-lt"/>
                <a:ea typeface="+mn-ea"/>
                <a:cs typeface="+mn-cs"/>
              </a:rPr>
              <a:t>– Usefulness for Anomaly Detection : Flags anomalies as data points with a</a:t>
            </a:r>
          </a:p>
          <a:p>
            <a:r>
              <a:rPr lang="en-US" sz="1200" b="0" i="0" u="none" strike="noStrike" kern="1200" baseline="0" dirty="0">
                <a:solidFill>
                  <a:schemeClr val="tx1"/>
                </a:solidFill>
                <a:latin typeface="+mn-lt"/>
                <a:ea typeface="+mn-ea"/>
                <a:cs typeface="+mn-cs"/>
              </a:rPr>
              <a:t>very low probability of occurring under the</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 Inter Quartile Range (IQR)</a:t>
            </a:r>
          </a:p>
          <a:p>
            <a:r>
              <a:rPr lang="en-US" sz="1200" b="0" i="0" u="none" strike="noStrike" kern="1200" baseline="0" dirty="0">
                <a:solidFill>
                  <a:schemeClr val="tx1"/>
                </a:solidFill>
                <a:latin typeface="+mn-lt"/>
                <a:ea typeface="+mn-ea"/>
                <a:cs typeface="+mn-cs"/>
              </a:rPr>
              <a:t>– Description : A measure of statistical dispersion, calculated as the difference</a:t>
            </a:r>
          </a:p>
          <a:p>
            <a:r>
              <a:rPr lang="en-US" sz="1200" b="0" i="0" u="none" strike="noStrike" kern="1200" baseline="0" dirty="0">
                <a:solidFill>
                  <a:schemeClr val="tx1"/>
                </a:solidFill>
                <a:latin typeface="+mn-lt"/>
                <a:ea typeface="+mn-ea"/>
                <a:cs typeface="+mn-cs"/>
              </a:rPr>
              <a:t>between the 75th and 25th percentiles.</a:t>
            </a:r>
          </a:p>
          <a:p>
            <a:r>
              <a:rPr lang="en-US" sz="1200" b="0" i="0" u="none" strike="noStrike" kern="1200" baseline="0" dirty="0">
                <a:solidFill>
                  <a:schemeClr val="tx1"/>
                </a:solidFill>
                <a:latin typeface="+mn-lt"/>
                <a:ea typeface="+mn-ea"/>
                <a:cs typeface="+mn-cs"/>
              </a:rPr>
              <a:t>– Usefulness for Anomaly Detection : Defines anomalies as observations that</a:t>
            </a:r>
          </a:p>
          <a:p>
            <a:r>
              <a:rPr lang="en-US" sz="1200" b="0" i="0" u="none" strike="noStrike" kern="1200" baseline="0" dirty="0">
                <a:solidFill>
                  <a:schemeClr val="tx1"/>
                </a:solidFill>
                <a:latin typeface="+mn-lt"/>
                <a:ea typeface="+mn-ea"/>
                <a:cs typeface="+mn-cs"/>
              </a:rPr>
              <a:t>fall outside a specified range (e.g., 1.5 times the IQR) from the first or third</a:t>
            </a:r>
          </a:p>
          <a:p>
            <a:r>
              <a:rPr lang="en-IN" sz="1200" b="0" i="0" u="none" strike="noStrike" kern="1200" baseline="0" dirty="0">
                <a:solidFill>
                  <a:schemeClr val="tx1"/>
                </a:solidFill>
                <a:latin typeface="+mn-lt"/>
                <a:ea typeface="+mn-ea"/>
                <a:cs typeface="+mn-cs"/>
              </a:rPr>
              <a:t>quartile.</a:t>
            </a:r>
          </a:p>
          <a:p>
            <a:endParaRPr lang="en-IN"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 Percentile Method</a:t>
            </a:r>
          </a:p>
          <a:p>
            <a:r>
              <a:rPr lang="en-US" sz="1200" b="0" i="0" u="none" strike="noStrike" kern="1200" baseline="0" dirty="0">
                <a:solidFill>
                  <a:schemeClr val="tx1"/>
                </a:solidFill>
                <a:latin typeface="+mn-lt"/>
                <a:ea typeface="+mn-ea"/>
                <a:cs typeface="+mn-cs"/>
              </a:rPr>
              <a:t>– Description : Ranks observations based on their values and defines thresholds</a:t>
            </a:r>
          </a:p>
          <a:p>
            <a:r>
              <a:rPr lang="en-IN" sz="1200" b="0" i="0" u="none" strike="noStrike" kern="1200" baseline="0" dirty="0">
                <a:solidFill>
                  <a:schemeClr val="tx1"/>
                </a:solidFill>
                <a:latin typeface="+mn-lt"/>
                <a:ea typeface="+mn-ea"/>
                <a:cs typeface="+mn-cs"/>
              </a:rPr>
              <a:t>at specific percentile points.</a:t>
            </a:r>
          </a:p>
          <a:p>
            <a:r>
              <a:rPr lang="en-US" sz="1200" b="0" i="0" u="none" strike="noStrike" kern="1200" baseline="0" dirty="0">
                <a:solidFill>
                  <a:schemeClr val="tx1"/>
                </a:solidFill>
                <a:latin typeface="+mn-lt"/>
                <a:ea typeface="+mn-ea"/>
                <a:cs typeface="+mn-cs"/>
              </a:rPr>
              <a:t>– Usefulness for Anomaly Detection : Identifies anomalies as data points that</a:t>
            </a:r>
          </a:p>
          <a:p>
            <a:r>
              <a:rPr lang="en-US" sz="1200" b="0" i="0" u="none" strike="noStrike" kern="1200" baseline="0" dirty="0">
                <a:solidFill>
                  <a:schemeClr val="tx1"/>
                </a:solidFill>
                <a:latin typeface="+mn-lt"/>
                <a:ea typeface="+mn-ea"/>
                <a:cs typeface="+mn-cs"/>
              </a:rPr>
              <a:t>fall into the lowest or highest specified percentiles of the data distribution.</a:t>
            </a:r>
            <a:endParaRPr lang="en-IN" dirty="0"/>
          </a:p>
          <a:p>
            <a:endParaRPr lang="en-IN" dirty="0"/>
          </a:p>
          <a:p>
            <a:r>
              <a:rPr lang="en-IN" sz="1200" b="0" i="0" u="none" strike="noStrike" kern="1200" baseline="0" dirty="0">
                <a:solidFill>
                  <a:schemeClr val="tx1"/>
                </a:solidFill>
                <a:latin typeface="+mn-lt"/>
                <a:ea typeface="+mn-ea"/>
                <a:cs typeface="+mn-cs"/>
              </a:rPr>
              <a:t>• k-Nearest </a:t>
            </a:r>
            <a:r>
              <a:rPr lang="en-IN" sz="1200" b="0" i="0" u="none" strike="noStrike" kern="1200" baseline="0" dirty="0" err="1">
                <a:solidFill>
                  <a:schemeClr val="tx1"/>
                </a:solidFill>
                <a:latin typeface="+mn-lt"/>
                <a:ea typeface="+mn-ea"/>
                <a:cs typeface="+mn-cs"/>
              </a:rPr>
              <a:t>Neighbors</a:t>
            </a:r>
            <a:endParaRPr lang="en-IN"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Description : A non-parametric method that classifies a data point based on</a:t>
            </a:r>
          </a:p>
          <a:p>
            <a:r>
              <a:rPr lang="en-US" sz="1200" b="0" i="0" u="none" strike="noStrike" kern="1200" baseline="0" dirty="0">
                <a:solidFill>
                  <a:schemeClr val="tx1"/>
                </a:solidFill>
                <a:latin typeface="+mn-lt"/>
                <a:ea typeface="+mn-ea"/>
                <a:cs typeface="+mn-cs"/>
              </a:rPr>
              <a:t>the majority class of its ’k’ nearest neighbors.</a:t>
            </a:r>
            <a:endParaRPr lang="en-IN"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Usefulness for Anomaly Detection : Detects anomalies by identifying data</a:t>
            </a:r>
          </a:p>
          <a:p>
            <a:r>
              <a:rPr lang="en-US" sz="1200" b="0" i="0" u="none" strike="noStrike" kern="1200" baseline="0" dirty="0">
                <a:solidFill>
                  <a:schemeClr val="tx1"/>
                </a:solidFill>
                <a:latin typeface="+mn-lt"/>
                <a:ea typeface="+mn-ea"/>
                <a:cs typeface="+mn-cs"/>
              </a:rPr>
              <a:t>points that have a low density of neighbors or are far from their ’k’ nearest neighbors.</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 Local Outlier Factor</a:t>
            </a:r>
          </a:p>
          <a:p>
            <a:r>
              <a:rPr lang="en-US" sz="1200" b="0" i="0" u="none" strike="noStrike" kern="1200" baseline="0" dirty="0">
                <a:solidFill>
                  <a:schemeClr val="tx1"/>
                </a:solidFill>
                <a:latin typeface="+mn-lt"/>
                <a:ea typeface="+mn-ea"/>
                <a:cs typeface="+mn-cs"/>
              </a:rPr>
              <a:t>– Description : Measures the local deviation of a data point with respect to its</a:t>
            </a:r>
          </a:p>
          <a:p>
            <a:r>
              <a:rPr lang="en-IN" sz="1200" b="0" i="0" u="none" strike="noStrike" kern="1200" baseline="0" dirty="0" err="1">
                <a:solidFill>
                  <a:schemeClr val="tx1"/>
                </a:solidFill>
                <a:latin typeface="+mn-lt"/>
                <a:ea typeface="+mn-ea"/>
                <a:cs typeface="+mn-cs"/>
              </a:rPr>
              <a:t>neighbors</a:t>
            </a:r>
            <a:r>
              <a:rPr lang="en-IN"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 Usefulness for Anomaly Detection : Identifies anomalies as data points that</a:t>
            </a:r>
          </a:p>
          <a:p>
            <a:r>
              <a:rPr lang="en-US" sz="1200" b="0" i="0" u="none" strike="noStrike" kern="1200" baseline="0" dirty="0">
                <a:solidFill>
                  <a:schemeClr val="tx1"/>
                </a:solidFill>
                <a:latin typeface="+mn-lt"/>
                <a:ea typeface="+mn-ea"/>
                <a:cs typeface="+mn-cs"/>
              </a:rPr>
              <a:t>are significantly less dense than their neighbors, making it effective for detecting</a:t>
            </a:r>
          </a:p>
          <a:p>
            <a:r>
              <a:rPr lang="en-US" sz="1200" b="0" i="0" u="none" strike="noStrike" kern="1200" baseline="0" dirty="0">
                <a:solidFill>
                  <a:schemeClr val="tx1"/>
                </a:solidFill>
                <a:latin typeface="+mn-lt"/>
                <a:ea typeface="+mn-ea"/>
                <a:cs typeface="+mn-cs"/>
              </a:rPr>
              <a:t>outliers in varying density regions.</a:t>
            </a:r>
            <a:endParaRPr lang="en-IN" dirty="0"/>
          </a:p>
          <a:p>
            <a:endParaRPr lang="en-IN" dirty="0"/>
          </a:p>
        </p:txBody>
      </p:sp>
      <p:sp>
        <p:nvSpPr>
          <p:cNvPr id="4" name="Slide Number Placeholder 3">
            <a:extLst>
              <a:ext uri="{FF2B5EF4-FFF2-40B4-BE49-F238E27FC236}">
                <a16:creationId xmlns:a16="http://schemas.microsoft.com/office/drawing/2014/main" id="{CE977728-5AC8-54C6-8E45-611E7ACAB738}"/>
              </a:ext>
            </a:extLst>
          </p:cNvPr>
          <p:cNvSpPr>
            <a:spLocks noGrp="1"/>
          </p:cNvSpPr>
          <p:nvPr>
            <p:ph type="sldNum" sz="quarter" idx="5"/>
          </p:nvPr>
        </p:nvSpPr>
        <p:spPr/>
        <p:txBody>
          <a:bodyPr/>
          <a:lstStyle/>
          <a:p>
            <a:fld id="{CEA1C4D0-EE6E-44D9-87D5-41BFE31C9C6A}" type="slidenum">
              <a:rPr lang="en-IN" smtClean="0"/>
              <a:t>30</a:t>
            </a:fld>
            <a:endParaRPr lang="en-IN"/>
          </a:p>
        </p:txBody>
      </p:sp>
    </p:spTree>
    <p:extLst>
      <p:ext uri="{BB962C8B-B14F-4D97-AF65-F5344CB8AC3E}">
        <p14:creationId xmlns:p14="http://schemas.microsoft.com/office/powerpoint/2010/main" val="17360020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688E8-544C-FC8F-9530-E57C34C379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62115-4AC1-A45D-883B-1F3BE7BE6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46817-4C28-0190-429C-F002E81E0EFB}"/>
              </a:ext>
            </a:extLst>
          </p:cNvPr>
          <p:cNvSpPr>
            <a:spLocks noGrp="1"/>
          </p:cNvSpPr>
          <p:nvPr>
            <p:ph type="body" idx="1"/>
          </p:nvPr>
        </p:nvSpPr>
        <p:spPr/>
        <p:txBody>
          <a:bodyPr/>
          <a:lstStyle/>
          <a:p>
            <a:r>
              <a:rPr lang="en-IN" sz="1200" b="0" i="0" u="none" strike="noStrike" kern="1200" baseline="0" dirty="0">
                <a:solidFill>
                  <a:schemeClr val="tx1"/>
                </a:solidFill>
                <a:latin typeface="+mn-lt"/>
                <a:ea typeface="+mn-ea"/>
                <a:cs typeface="+mn-cs"/>
              </a:rPr>
              <a:t>• Z-Score Method</a:t>
            </a:r>
          </a:p>
          <a:p>
            <a:r>
              <a:rPr lang="en-US" sz="1200" b="0" i="0" u="none" strike="noStrike" kern="1200" baseline="0" dirty="0">
                <a:solidFill>
                  <a:schemeClr val="tx1"/>
                </a:solidFill>
                <a:latin typeface="+mn-lt"/>
                <a:ea typeface="+mn-ea"/>
                <a:cs typeface="+mn-cs"/>
              </a:rPr>
              <a:t>– Description : Measures how many standard deviations an observation is from</a:t>
            </a:r>
          </a:p>
          <a:p>
            <a:r>
              <a:rPr lang="en-IN" sz="1200" b="0" i="0" u="none" strike="noStrike" kern="1200" baseline="0" dirty="0">
                <a:solidFill>
                  <a:schemeClr val="tx1"/>
                </a:solidFill>
                <a:latin typeface="+mn-lt"/>
                <a:ea typeface="+mn-ea"/>
                <a:cs typeface="+mn-cs"/>
              </a:rPr>
              <a:t>the mean.</a:t>
            </a:r>
          </a:p>
          <a:p>
            <a:r>
              <a:rPr lang="en-US" sz="1200" b="0" i="0" u="none" strike="noStrike" kern="1200" baseline="0" dirty="0">
                <a:solidFill>
                  <a:schemeClr val="tx1"/>
                </a:solidFill>
                <a:latin typeface="+mn-lt"/>
                <a:ea typeface="+mn-ea"/>
                <a:cs typeface="+mn-cs"/>
              </a:rPr>
              <a:t>– Usefulness for Anomaly Detection : Identifies anomalies as data points that</a:t>
            </a:r>
          </a:p>
          <a:p>
            <a:r>
              <a:rPr lang="en-US" sz="1200" b="0" i="0" u="none" strike="noStrike" kern="1200" baseline="0" dirty="0">
                <a:solidFill>
                  <a:schemeClr val="tx1"/>
                </a:solidFill>
                <a:latin typeface="+mn-lt"/>
                <a:ea typeface="+mn-ea"/>
                <a:cs typeface="+mn-cs"/>
              </a:rPr>
              <a:t>fall beyond a certain number of standard deviations from the mean in a univariate</a:t>
            </a:r>
          </a:p>
          <a:p>
            <a:r>
              <a:rPr lang="en-IN" sz="1200" b="0" i="0" u="none" strike="noStrike" kern="1200" baseline="0" dirty="0">
                <a:solidFill>
                  <a:schemeClr val="tx1"/>
                </a:solidFill>
                <a:latin typeface="+mn-lt"/>
                <a:ea typeface="+mn-ea"/>
                <a:cs typeface="+mn-cs"/>
              </a:rPr>
              <a:t>distribution.</a:t>
            </a:r>
          </a:p>
          <a:p>
            <a:endParaRPr lang="en-IN"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 Multivariate Gaussian Model</a:t>
            </a:r>
          </a:p>
          <a:p>
            <a:r>
              <a:rPr lang="en-US" sz="1200" b="0" i="0" u="none" strike="noStrike" kern="1200" baseline="0" dirty="0">
                <a:solidFill>
                  <a:schemeClr val="tx1"/>
                </a:solidFill>
                <a:latin typeface="+mn-lt"/>
                <a:ea typeface="+mn-ea"/>
                <a:cs typeface="+mn-cs"/>
              </a:rPr>
              <a:t>– Description : Models data points as following a multi-dimensional Gaussian</a:t>
            </a:r>
          </a:p>
          <a:p>
            <a:r>
              <a:rPr lang="en-IN" sz="1200" b="0" i="0" u="none" strike="noStrike" kern="1200" baseline="0" dirty="0">
                <a:solidFill>
                  <a:schemeClr val="tx1"/>
                </a:solidFill>
                <a:latin typeface="+mn-lt"/>
                <a:ea typeface="+mn-ea"/>
                <a:cs typeface="+mn-cs"/>
              </a:rPr>
              <a:t>distribution.</a:t>
            </a:r>
          </a:p>
          <a:p>
            <a:r>
              <a:rPr lang="en-US" sz="1200" b="0" i="0" u="none" strike="noStrike" kern="1200" baseline="0" dirty="0">
                <a:solidFill>
                  <a:schemeClr val="tx1"/>
                </a:solidFill>
                <a:latin typeface="+mn-lt"/>
                <a:ea typeface="+mn-ea"/>
                <a:cs typeface="+mn-cs"/>
              </a:rPr>
              <a:t>– Usefulness for Anomaly Detection : Flags anomalies as data points with a</a:t>
            </a:r>
          </a:p>
          <a:p>
            <a:r>
              <a:rPr lang="en-US" sz="1200" b="0" i="0" u="none" strike="noStrike" kern="1200" baseline="0" dirty="0">
                <a:solidFill>
                  <a:schemeClr val="tx1"/>
                </a:solidFill>
                <a:latin typeface="+mn-lt"/>
                <a:ea typeface="+mn-ea"/>
                <a:cs typeface="+mn-cs"/>
              </a:rPr>
              <a:t>very low probability of occurring under the</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 Inter Quartile Range (IQR)</a:t>
            </a:r>
          </a:p>
          <a:p>
            <a:r>
              <a:rPr lang="en-US" sz="1200" b="0" i="0" u="none" strike="noStrike" kern="1200" baseline="0" dirty="0">
                <a:solidFill>
                  <a:schemeClr val="tx1"/>
                </a:solidFill>
                <a:latin typeface="+mn-lt"/>
                <a:ea typeface="+mn-ea"/>
                <a:cs typeface="+mn-cs"/>
              </a:rPr>
              <a:t>– Description : A measure of statistical dispersion, calculated as the difference</a:t>
            </a:r>
          </a:p>
          <a:p>
            <a:r>
              <a:rPr lang="en-US" sz="1200" b="0" i="0" u="none" strike="noStrike" kern="1200" baseline="0" dirty="0">
                <a:solidFill>
                  <a:schemeClr val="tx1"/>
                </a:solidFill>
                <a:latin typeface="+mn-lt"/>
                <a:ea typeface="+mn-ea"/>
                <a:cs typeface="+mn-cs"/>
              </a:rPr>
              <a:t>between the 75th and 25th percentiles.</a:t>
            </a:r>
          </a:p>
          <a:p>
            <a:r>
              <a:rPr lang="en-US" sz="1200" b="0" i="0" u="none" strike="noStrike" kern="1200" baseline="0" dirty="0">
                <a:solidFill>
                  <a:schemeClr val="tx1"/>
                </a:solidFill>
                <a:latin typeface="+mn-lt"/>
                <a:ea typeface="+mn-ea"/>
                <a:cs typeface="+mn-cs"/>
              </a:rPr>
              <a:t>– Usefulness for Anomaly Detection : Defines anomalies as observations that</a:t>
            </a:r>
          </a:p>
          <a:p>
            <a:r>
              <a:rPr lang="en-US" sz="1200" b="0" i="0" u="none" strike="noStrike" kern="1200" baseline="0" dirty="0">
                <a:solidFill>
                  <a:schemeClr val="tx1"/>
                </a:solidFill>
                <a:latin typeface="+mn-lt"/>
                <a:ea typeface="+mn-ea"/>
                <a:cs typeface="+mn-cs"/>
              </a:rPr>
              <a:t>fall outside a specified range (e.g., 1.5 times the IQR) from the first or third</a:t>
            </a:r>
          </a:p>
          <a:p>
            <a:r>
              <a:rPr lang="en-IN" sz="1200" b="0" i="0" u="none" strike="noStrike" kern="1200" baseline="0" dirty="0">
                <a:solidFill>
                  <a:schemeClr val="tx1"/>
                </a:solidFill>
                <a:latin typeface="+mn-lt"/>
                <a:ea typeface="+mn-ea"/>
                <a:cs typeface="+mn-cs"/>
              </a:rPr>
              <a:t>quartile.</a:t>
            </a:r>
          </a:p>
          <a:p>
            <a:endParaRPr lang="en-IN"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 Percentile Method</a:t>
            </a:r>
          </a:p>
          <a:p>
            <a:r>
              <a:rPr lang="en-US" sz="1200" b="0" i="0" u="none" strike="noStrike" kern="1200" baseline="0" dirty="0">
                <a:solidFill>
                  <a:schemeClr val="tx1"/>
                </a:solidFill>
                <a:latin typeface="+mn-lt"/>
                <a:ea typeface="+mn-ea"/>
                <a:cs typeface="+mn-cs"/>
              </a:rPr>
              <a:t>– Description : Ranks observations based on their values and defines thresholds</a:t>
            </a:r>
          </a:p>
          <a:p>
            <a:r>
              <a:rPr lang="en-IN" sz="1200" b="0" i="0" u="none" strike="noStrike" kern="1200" baseline="0" dirty="0">
                <a:solidFill>
                  <a:schemeClr val="tx1"/>
                </a:solidFill>
                <a:latin typeface="+mn-lt"/>
                <a:ea typeface="+mn-ea"/>
                <a:cs typeface="+mn-cs"/>
              </a:rPr>
              <a:t>at specific percentile points.</a:t>
            </a:r>
          </a:p>
          <a:p>
            <a:r>
              <a:rPr lang="en-US" sz="1200" b="0" i="0" u="none" strike="noStrike" kern="1200" baseline="0" dirty="0">
                <a:solidFill>
                  <a:schemeClr val="tx1"/>
                </a:solidFill>
                <a:latin typeface="+mn-lt"/>
                <a:ea typeface="+mn-ea"/>
                <a:cs typeface="+mn-cs"/>
              </a:rPr>
              <a:t>– Usefulness for Anomaly Detection : Identifies anomalies as data points that</a:t>
            </a:r>
          </a:p>
          <a:p>
            <a:r>
              <a:rPr lang="en-US" sz="1200" b="0" i="0" u="none" strike="noStrike" kern="1200" baseline="0" dirty="0">
                <a:solidFill>
                  <a:schemeClr val="tx1"/>
                </a:solidFill>
                <a:latin typeface="+mn-lt"/>
                <a:ea typeface="+mn-ea"/>
                <a:cs typeface="+mn-cs"/>
              </a:rPr>
              <a:t>fall into the lowest or highest specified percentiles of the data distribution.</a:t>
            </a:r>
            <a:endParaRPr lang="en-IN" dirty="0"/>
          </a:p>
          <a:p>
            <a:endParaRPr lang="en-IN" dirty="0"/>
          </a:p>
          <a:p>
            <a:r>
              <a:rPr lang="en-IN" sz="1200" b="0" i="0" u="none" strike="noStrike" kern="1200" baseline="0" dirty="0">
                <a:solidFill>
                  <a:schemeClr val="tx1"/>
                </a:solidFill>
                <a:latin typeface="+mn-lt"/>
                <a:ea typeface="+mn-ea"/>
                <a:cs typeface="+mn-cs"/>
              </a:rPr>
              <a:t>• k-Nearest </a:t>
            </a:r>
            <a:r>
              <a:rPr lang="en-IN" sz="1200" b="0" i="0" u="none" strike="noStrike" kern="1200" baseline="0" dirty="0" err="1">
                <a:solidFill>
                  <a:schemeClr val="tx1"/>
                </a:solidFill>
                <a:latin typeface="+mn-lt"/>
                <a:ea typeface="+mn-ea"/>
                <a:cs typeface="+mn-cs"/>
              </a:rPr>
              <a:t>Neighbors</a:t>
            </a:r>
            <a:endParaRPr lang="en-IN"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Description : A non-parametric method that classifies a data point based on</a:t>
            </a:r>
          </a:p>
          <a:p>
            <a:r>
              <a:rPr lang="en-US" sz="1200" b="0" i="0" u="none" strike="noStrike" kern="1200" baseline="0" dirty="0">
                <a:solidFill>
                  <a:schemeClr val="tx1"/>
                </a:solidFill>
                <a:latin typeface="+mn-lt"/>
                <a:ea typeface="+mn-ea"/>
                <a:cs typeface="+mn-cs"/>
              </a:rPr>
              <a:t>the majority class of its ’k’ nearest neighbors.</a:t>
            </a:r>
            <a:endParaRPr lang="en-IN"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Usefulness for Anomaly Detection : Detects anomalies by identifying data</a:t>
            </a:r>
          </a:p>
          <a:p>
            <a:r>
              <a:rPr lang="en-US" sz="1200" b="0" i="0" u="none" strike="noStrike" kern="1200" baseline="0" dirty="0">
                <a:solidFill>
                  <a:schemeClr val="tx1"/>
                </a:solidFill>
                <a:latin typeface="+mn-lt"/>
                <a:ea typeface="+mn-ea"/>
                <a:cs typeface="+mn-cs"/>
              </a:rPr>
              <a:t>points that have a low density of neighbors or are far from their ’k’ nearest neighbors.</a:t>
            </a:r>
          </a:p>
          <a:p>
            <a:endParaRPr lang="en-US" sz="1200" b="0" i="0" u="none" strike="noStrike" kern="1200" baseline="0" dirty="0">
              <a:solidFill>
                <a:schemeClr val="tx1"/>
              </a:solidFill>
              <a:latin typeface="+mn-lt"/>
              <a:ea typeface="+mn-ea"/>
              <a:cs typeface="+mn-cs"/>
            </a:endParaRPr>
          </a:p>
          <a:p>
            <a:r>
              <a:rPr lang="en-IN" sz="1200" b="0" i="0" u="none" strike="noStrike" kern="1200" baseline="0" dirty="0">
                <a:solidFill>
                  <a:schemeClr val="tx1"/>
                </a:solidFill>
                <a:latin typeface="+mn-lt"/>
                <a:ea typeface="+mn-ea"/>
                <a:cs typeface="+mn-cs"/>
              </a:rPr>
              <a:t>• Local Outlier Factor</a:t>
            </a:r>
          </a:p>
          <a:p>
            <a:r>
              <a:rPr lang="en-US" sz="1200" b="0" i="0" u="none" strike="noStrike" kern="1200" baseline="0" dirty="0">
                <a:solidFill>
                  <a:schemeClr val="tx1"/>
                </a:solidFill>
                <a:latin typeface="+mn-lt"/>
                <a:ea typeface="+mn-ea"/>
                <a:cs typeface="+mn-cs"/>
              </a:rPr>
              <a:t>– Description : Measures the local deviation of a data point with respect to its</a:t>
            </a:r>
          </a:p>
          <a:p>
            <a:r>
              <a:rPr lang="en-IN" sz="1200" b="0" i="0" u="none" strike="noStrike" kern="1200" baseline="0" dirty="0" err="1">
                <a:solidFill>
                  <a:schemeClr val="tx1"/>
                </a:solidFill>
                <a:latin typeface="+mn-lt"/>
                <a:ea typeface="+mn-ea"/>
                <a:cs typeface="+mn-cs"/>
              </a:rPr>
              <a:t>neighbors</a:t>
            </a:r>
            <a:r>
              <a:rPr lang="en-IN"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 Usefulness for Anomaly Detection : Identifies anomalies as data points that</a:t>
            </a:r>
          </a:p>
          <a:p>
            <a:r>
              <a:rPr lang="en-US" sz="1200" b="0" i="0" u="none" strike="noStrike" kern="1200" baseline="0" dirty="0">
                <a:solidFill>
                  <a:schemeClr val="tx1"/>
                </a:solidFill>
                <a:latin typeface="+mn-lt"/>
                <a:ea typeface="+mn-ea"/>
                <a:cs typeface="+mn-cs"/>
              </a:rPr>
              <a:t>are significantly less dense than their neighbors, making it effective for detecting</a:t>
            </a:r>
          </a:p>
          <a:p>
            <a:r>
              <a:rPr lang="en-US" sz="1200" b="0" i="0" u="none" strike="noStrike" kern="1200" baseline="0" dirty="0">
                <a:solidFill>
                  <a:schemeClr val="tx1"/>
                </a:solidFill>
                <a:latin typeface="+mn-lt"/>
                <a:ea typeface="+mn-ea"/>
                <a:cs typeface="+mn-cs"/>
              </a:rPr>
              <a:t>outliers in varying density regions.</a:t>
            </a:r>
            <a:endParaRPr lang="en-IN" dirty="0"/>
          </a:p>
          <a:p>
            <a:endParaRPr lang="en-IN" dirty="0"/>
          </a:p>
        </p:txBody>
      </p:sp>
      <p:sp>
        <p:nvSpPr>
          <p:cNvPr id="4" name="Slide Number Placeholder 3">
            <a:extLst>
              <a:ext uri="{FF2B5EF4-FFF2-40B4-BE49-F238E27FC236}">
                <a16:creationId xmlns:a16="http://schemas.microsoft.com/office/drawing/2014/main" id="{F77870BF-1B4F-5BAA-B7F6-1DC0F827E841}"/>
              </a:ext>
            </a:extLst>
          </p:cNvPr>
          <p:cNvSpPr>
            <a:spLocks noGrp="1"/>
          </p:cNvSpPr>
          <p:nvPr>
            <p:ph type="sldNum" sz="quarter" idx="5"/>
          </p:nvPr>
        </p:nvSpPr>
        <p:spPr/>
        <p:txBody>
          <a:bodyPr/>
          <a:lstStyle/>
          <a:p>
            <a:fld id="{CEA1C4D0-EE6E-44D9-87D5-41BFE31C9C6A}" type="slidenum">
              <a:rPr lang="en-IN" smtClean="0"/>
              <a:t>31</a:t>
            </a:fld>
            <a:endParaRPr lang="en-IN"/>
          </a:p>
        </p:txBody>
      </p:sp>
    </p:spTree>
    <p:extLst>
      <p:ext uri="{BB962C8B-B14F-4D97-AF65-F5344CB8AC3E}">
        <p14:creationId xmlns:p14="http://schemas.microsoft.com/office/powerpoint/2010/main" val="2530861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590C-807A-B5BA-2C73-BB9986C6FA37}"/>
              </a:ext>
            </a:extLst>
          </p:cNvPr>
          <p:cNvSpPr>
            <a:spLocks noGrp="1"/>
          </p:cNvSpPr>
          <p:nvPr>
            <p:ph type="ctrTitle"/>
          </p:nvPr>
        </p:nvSpPr>
        <p:spPr>
          <a:xfrm>
            <a:off x="1524000" y="1122363"/>
            <a:ext cx="9144000" cy="2387600"/>
          </a:xfrm>
        </p:spPr>
        <p:txBody>
          <a:bodyPr anchor="b">
            <a:normAutofit/>
          </a:bodyPr>
          <a:lstStyle>
            <a:lvl1pPr algn="ctr">
              <a:defRPr sz="4400" b="1"/>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325FEC20-0F84-B42E-6C75-2E79CABCB1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5" name="Footer Placeholder 4">
            <a:extLst>
              <a:ext uri="{FF2B5EF4-FFF2-40B4-BE49-F238E27FC236}">
                <a16:creationId xmlns:a16="http://schemas.microsoft.com/office/drawing/2014/main" id="{D5E5FB42-B413-BE02-C1BE-B390F22082FF}"/>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6080A8BB-7446-A674-A58C-73107DE72FB3}"/>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28631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410C7-D20A-3E8C-EB85-0A1A557C40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03BAF9-78E3-8CFF-24B8-EDC5C0D285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5979EE80-ACD3-C161-D3EF-EA66448D9230}"/>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6B098950-F5FF-5450-501C-DD346E747F59}"/>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957114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08971-ED5A-43F6-5120-BCD8BCA13D08}"/>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C3702A68-0B00-CF77-CBEF-3A12FC9466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5" name="Footer Placeholder 4">
            <a:extLst>
              <a:ext uri="{FF2B5EF4-FFF2-40B4-BE49-F238E27FC236}">
                <a16:creationId xmlns:a16="http://schemas.microsoft.com/office/drawing/2014/main" id="{6666304B-BB0C-6FFC-51BF-7AE927EF714C}"/>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0B6AC955-B1CF-5A74-C119-602559168ABA}"/>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910559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AA7BA-179E-F58D-DD4F-BF605BF12D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30612B-18C2-E2D7-1036-B56E6A2EF3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70C433-5557-1B7B-EDDB-CF7625DF40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a:extLst>
              <a:ext uri="{FF2B5EF4-FFF2-40B4-BE49-F238E27FC236}">
                <a16:creationId xmlns:a16="http://schemas.microsoft.com/office/drawing/2014/main" id="{47FAF835-ACE2-278F-A233-61195FAD8523}"/>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9C7C78F3-550F-7BED-FFC1-A3C71B7683FD}"/>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46872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B0357-C8B7-600D-9F89-1D19324564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7BF3C4-8774-9A8A-24C5-AE6B39EB27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1CEFEB-89BA-3D8A-E7A7-C4313DAF39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7EDDCF-9FD7-0199-B380-ECB1D5DBBE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865C05-9677-2667-FD10-8FB66DA2BB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Footer Placeholder 7">
            <a:extLst>
              <a:ext uri="{FF2B5EF4-FFF2-40B4-BE49-F238E27FC236}">
                <a16:creationId xmlns:a16="http://schemas.microsoft.com/office/drawing/2014/main" id="{2278E4CA-F6E9-0FBA-88AF-4BB9C6C6BD73}"/>
              </a:ext>
            </a:extLst>
          </p:cNvPr>
          <p:cNvSpPr>
            <a:spLocks noGrp="1"/>
          </p:cNvSpPr>
          <p:nvPr>
            <p:ph type="ftr" sz="quarter" idx="11"/>
          </p:nvPr>
        </p:nvSpPr>
        <p:spPr/>
        <p:txBody>
          <a:bodyPr/>
          <a:lstStyle/>
          <a:p>
            <a:r>
              <a:rPr lang="en-IN"/>
              <a:t>Dissertation S2-24 AIMLCZG628T</a:t>
            </a:r>
          </a:p>
        </p:txBody>
      </p:sp>
      <p:sp>
        <p:nvSpPr>
          <p:cNvPr id="9" name="Slide Number Placeholder 8">
            <a:extLst>
              <a:ext uri="{FF2B5EF4-FFF2-40B4-BE49-F238E27FC236}">
                <a16:creationId xmlns:a16="http://schemas.microsoft.com/office/drawing/2014/main" id="{9433EE07-0B1F-E173-7DC9-620185AA815A}"/>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380702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76A18-9506-C8AA-BA69-029F253E25C3}"/>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585EE9E4-D477-0858-39BC-BF6AF28F1A10}"/>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FB1436C0-B56E-77C6-0DE2-0ADD46228BD9}"/>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099706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3B00914-EBF7-A514-34A9-68172934EEA8}"/>
              </a:ext>
            </a:extLst>
          </p:cNvPr>
          <p:cNvSpPr>
            <a:spLocks noGrp="1"/>
          </p:cNvSpPr>
          <p:nvPr>
            <p:ph type="ftr" sz="quarter" idx="11"/>
          </p:nvPr>
        </p:nvSpPr>
        <p:spPr/>
        <p:txBody>
          <a:bodyPr/>
          <a:lstStyle/>
          <a:p>
            <a:r>
              <a:rPr lang="en-IN"/>
              <a:t>Dissertation S2-24 AIMLCZG628T</a:t>
            </a:r>
          </a:p>
        </p:txBody>
      </p:sp>
      <p:sp>
        <p:nvSpPr>
          <p:cNvPr id="4" name="Slide Number Placeholder 3">
            <a:extLst>
              <a:ext uri="{FF2B5EF4-FFF2-40B4-BE49-F238E27FC236}">
                <a16:creationId xmlns:a16="http://schemas.microsoft.com/office/drawing/2014/main" id="{E890564F-6095-543C-2C7B-6230D1E93BE2}"/>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10160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08F60-CE44-C50E-5254-B7F90A59D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61A180-DE77-8617-4797-B3E1EA493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5319FB-B01F-BDD6-F729-3706FB9293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CB609BDD-1E88-EE48-CFB6-C5D20100E2F1}"/>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80F4AD2D-73C7-B667-E297-AC2DC0E8F642}"/>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114509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2A488-2245-DF08-B07A-E8D8625D1B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4B7B8A-CAAC-2EB3-F6BA-AA229736D8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E6EC8E-4FED-62C7-2BC9-C1263167C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6484E291-8879-93D5-6870-6F81682BBB94}"/>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A5751815-C2DF-13F4-DA8C-33CDE2EEBC6F}"/>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864872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47DE6-2DE7-A110-053A-E9DE8897B1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51E27D-D87A-0198-FC8C-8CB5AC4C26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455E6CB-D56A-C927-88F0-A7C8211512BD}"/>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EE1CDABE-C928-45B0-3122-DFFD43C65A51}"/>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330790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6DB260-9073-D48D-8D91-CC7AE59F3E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6EF37C-14FB-7A81-FF2C-391FA2574E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17DABE6-BBCF-BEE7-7DCB-2D80ACF2A2D5}"/>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189B9482-2387-0A02-8BA1-1E5EC28E2851}"/>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3187360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4046BD3-83CC-7FAA-0E88-2B853A72EC5E}"/>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IN"/>
          </a:p>
        </p:txBody>
      </p:sp>
      <p:sp>
        <p:nvSpPr>
          <p:cNvPr id="7" name="Title 6">
            <a:extLst>
              <a:ext uri="{FF2B5EF4-FFF2-40B4-BE49-F238E27FC236}">
                <a16:creationId xmlns:a16="http://schemas.microsoft.com/office/drawing/2014/main" id="{A82D227C-2987-02F3-5A10-7533D0D9164B}"/>
              </a:ext>
            </a:extLst>
          </p:cNvPr>
          <p:cNvSpPr>
            <a:spLocks noGrp="1"/>
          </p:cNvSpPr>
          <p:nvPr>
            <p:ph type="title"/>
          </p:nvPr>
        </p:nvSpPr>
        <p:spPr/>
        <p:txBody>
          <a:bodyPr/>
          <a:lstStyle/>
          <a:p>
            <a:r>
              <a:rPr lang="en-US"/>
              <a:t>Click to edit Master title style</a:t>
            </a:r>
            <a:endParaRPr lang="en-IN"/>
          </a:p>
        </p:txBody>
      </p:sp>
      <p:sp>
        <p:nvSpPr>
          <p:cNvPr id="9" name="Footer Placeholder 8">
            <a:extLst>
              <a:ext uri="{FF2B5EF4-FFF2-40B4-BE49-F238E27FC236}">
                <a16:creationId xmlns:a16="http://schemas.microsoft.com/office/drawing/2014/main" id="{076FF0C3-6F49-2155-44D3-2817079D00D6}"/>
              </a:ext>
            </a:extLst>
          </p:cNvPr>
          <p:cNvSpPr>
            <a:spLocks noGrp="1"/>
          </p:cNvSpPr>
          <p:nvPr>
            <p:ph type="ftr" sz="quarter" idx="11"/>
          </p:nvPr>
        </p:nvSpPr>
        <p:spPr>
          <a:xfrm>
            <a:off x="4038600" y="6356352"/>
            <a:ext cx="4114800" cy="365125"/>
          </a:xfrm>
          <a:prstGeom prst="rect">
            <a:avLst/>
          </a:prstGeom>
        </p:spPr>
        <p:txBody>
          <a:bodyPr/>
          <a:lstStyle/>
          <a:p>
            <a:r>
              <a:rPr lang="en-IN" dirty="0"/>
              <a:t>Dissertation S2-24 AIMLCZG628T</a:t>
            </a:r>
          </a:p>
        </p:txBody>
      </p:sp>
      <p:sp>
        <p:nvSpPr>
          <p:cNvPr id="10" name="Slide Number Placeholder 9">
            <a:extLst>
              <a:ext uri="{FF2B5EF4-FFF2-40B4-BE49-F238E27FC236}">
                <a16:creationId xmlns:a16="http://schemas.microsoft.com/office/drawing/2014/main" id="{9D89E014-6AAF-1C84-527A-AD3D99804884}"/>
              </a:ext>
            </a:extLst>
          </p:cNvPr>
          <p:cNvSpPr>
            <a:spLocks noGrp="1"/>
          </p:cNvSpPr>
          <p:nvPr>
            <p:ph type="sldNum" sz="quarter" idx="12"/>
          </p:nvPr>
        </p:nvSpPr>
        <p:spPr>
          <a:xfrm>
            <a:off x="8610600" y="6356350"/>
            <a:ext cx="2743200" cy="365125"/>
          </a:xfrm>
          <a:prstGeom prst="rect">
            <a:avLst/>
          </a:prstGeom>
        </p:spPr>
        <p:txBody>
          <a:bodyPr/>
          <a:lstStyle/>
          <a:p>
            <a:fld id="{E90DB949-9EF9-42A5-8674-17CECDA96830}" type="slidenum">
              <a:rPr lang="en-IN" smtClean="0"/>
              <a:t>‹#›</a:t>
            </a:fld>
            <a:endParaRPr lang="en-IN" dirty="0"/>
          </a:p>
        </p:txBody>
      </p:sp>
    </p:spTree>
    <p:extLst>
      <p:ext uri="{BB962C8B-B14F-4D97-AF65-F5344CB8AC3E}">
        <p14:creationId xmlns:p14="http://schemas.microsoft.com/office/powerpoint/2010/main" val="3177167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590C-807A-B5BA-2C73-BB9986C6FA37}"/>
              </a:ext>
            </a:extLst>
          </p:cNvPr>
          <p:cNvSpPr>
            <a:spLocks noGrp="1"/>
          </p:cNvSpPr>
          <p:nvPr>
            <p:ph type="ctrTitle"/>
          </p:nvPr>
        </p:nvSpPr>
        <p:spPr>
          <a:xfrm>
            <a:off x="1524000" y="1122363"/>
            <a:ext cx="9144000" cy="2387600"/>
          </a:xfrm>
        </p:spPr>
        <p:txBody>
          <a:bodyPr anchor="b">
            <a:normAutofit/>
          </a:bodyPr>
          <a:lstStyle>
            <a:lvl1pPr algn="ctr">
              <a:defRPr sz="4400" b="1"/>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325FEC20-0F84-B42E-6C75-2E79CABCB1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5" name="Footer Placeholder 4">
            <a:extLst>
              <a:ext uri="{FF2B5EF4-FFF2-40B4-BE49-F238E27FC236}">
                <a16:creationId xmlns:a16="http://schemas.microsoft.com/office/drawing/2014/main" id="{D5E5FB42-B413-BE02-C1BE-B390F22082FF}"/>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6080A8BB-7446-A674-A58C-73107DE72FB3}"/>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6445240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410C7-D20A-3E8C-EB85-0A1A557C40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03BAF9-78E3-8CFF-24B8-EDC5C0D285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5979EE80-ACD3-C161-D3EF-EA66448D9230}"/>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6B098950-F5FF-5450-501C-DD346E747F59}"/>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6246821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08971-ED5A-43F6-5120-BCD8BCA13D08}"/>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C3702A68-0B00-CF77-CBEF-3A12FC9466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5" name="Footer Placeholder 4">
            <a:extLst>
              <a:ext uri="{FF2B5EF4-FFF2-40B4-BE49-F238E27FC236}">
                <a16:creationId xmlns:a16="http://schemas.microsoft.com/office/drawing/2014/main" id="{6666304B-BB0C-6FFC-51BF-7AE927EF714C}"/>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0B6AC955-B1CF-5A74-C119-602559168ABA}"/>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244314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AA7BA-179E-F58D-DD4F-BF605BF12D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30612B-18C2-E2D7-1036-B56E6A2EF3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70C433-5557-1B7B-EDDB-CF7625DF40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a:extLst>
              <a:ext uri="{FF2B5EF4-FFF2-40B4-BE49-F238E27FC236}">
                <a16:creationId xmlns:a16="http://schemas.microsoft.com/office/drawing/2014/main" id="{47FAF835-ACE2-278F-A233-61195FAD8523}"/>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9C7C78F3-550F-7BED-FFC1-A3C71B7683FD}"/>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05434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B0357-C8B7-600D-9F89-1D19324564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7BF3C4-8774-9A8A-24C5-AE6B39EB27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1CEFEB-89BA-3D8A-E7A7-C4313DAF39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7EDDCF-9FD7-0199-B380-ECB1D5DBBE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865C05-9677-2667-FD10-8FB66DA2BB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Footer Placeholder 7">
            <a:extLst>
              <a:ext uri="{FF2B5EF4-FFF2-40B4-BE49-F238E27FC236}">
                <a16:creationId xmlns:a16="http://schemas.microsoft.com/office/drawing/2014/main" id="{2278E4CA-F6E9-0FBA-88AF-4BB9C6C6BD73}"/>
              </a:ext>
            </a:extLst>
          </p:cNvPr>
          <p:cNvSpPr>
            <a:spLocks noGrp="1"/>
          </p:cNvSpPr>
          <p:nvPr>
            <p:ph type="ftr" sz="quarter" idx="11"/>
          </p:nvPr>
        </p:nvSpPr>
        <p:spPr/>
        <p:txBody>
          <a:bodyPr/>
          <a:lstStyle/>
          <a:p>
            <a:r>
              <a:rPr lang="en-IN"/>
              <a:t>Dissertation S2-24 AIMLCZG628T</a:t>
            </a:r>
          </a:p>
        </p:txBody>
      </p:sp>
      <p:sp>
        <p:nvSpPr>
          <p:cNvPr id="9" name="Slide Number Placeholder 8">
            <a:extLst>
              <a:ext uri="{FF2B5EF4-FFF2-40B4-BE49-F238E27FC236}">
                <a16:creationId xmlns:a16="http://schemas.microsoft.com/office/drawing/2014/main" id="{9433EE07-0B1F-E173-7DC9-620185AA815A}"/>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4292740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76A18-9506-C8AA-BA69-029F253E25C3}"/>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585EE9E4-D477-0858-39BC-BF6AF28F1A10}"/>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FB1436C0-B56E-77C6-0DE2-0ADD46228BD9}"/>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41009884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3B00914-EBF7-A514-34A9-68172934EEA8}"/>
              </a:ext>
            </a:extLst>
          </p:cNvPr>
          <p:cNvSpPr>
            <a:spLocks noGrp="1"/>
          </p:cNvSpPr>
          <p:nvPr>
            <p:ph type="ftr" sz="quarter" idx="11"/>
          </p:nvPr>
        </p:nvSpPr>
        <p:spPr/>
        <p:txBody>
          <a:bodyPr/>
          <a:lstStyle/>
          <a:p>
            <a:r>
              <a:rPr lang="en-IN"/>
              <a:t>Dissertation S2-24 AIMLCZG628T</a:t>
            </a:r>
          </a:p>
        </p:txBody>
      </p:sp>
      <p:sp>
        <p:nvSpPr>
          <p:cNvPr id="4" name="Slide Number Placeholder 3">
            <a:extLst>
              <a:ext uri="{FF2B5EF4-FFF2-40B4-BE49-F238E27FC236}">
                <a16:creationId xmlns:a16="http://schemas.microsoft.com/office/drawing/2014/main" id="{E890564F-6095-543C-2C7B-6230D1E93BE2}"/>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9751307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08F60-CE44-C50E-5254-B7F90A59D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61A180-DE77-8617-4797-B3E1EA493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5319FB-B01F-BDD6-F729-3706FB9293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CB609BDD-1E88-EE48-CFB6-C5D20100E2F1}"/>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80F4AD2D-73C7-B667-E297-AC2DC0E8F642}"/>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3822005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2A488-2245-DF08-B07A-E8D8625D1B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4B7B8A-CAAC-2EB3-F6BA-AA229736D8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E6EC8E-4FED-62C7-2BC9-C1263167C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6484E291-8879-93D5-6870-6F81682BBB94}"/>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A5751815-C2DF-13F4-DA8C-33CDE2EEBC6F}"/>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684680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47DE6-2DE7-A110-053A-E9DE8897B1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51E27D-D87A-0198-FC8C-8CB5AC4C26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455E6CB-D56A-C927-88F0-A7C8211512BD}"/>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EE1CDABE-C928-45B0-3122-DFFD43C65A51}"/>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7474193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6DB260-9073-D48D-8D91-CC7AE59F3E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6EF37C-14FB-7A81-FF2C-391FA2574E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17DABE6-BBCF-BEE7-7DCB-2D80ACF2A2D5}"/>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189B9482-2387-0A02-8BA1-1E5EC28E2851}"/>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3564960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4046BD3-83CC-7FAA-0E88-2B853A72EC5E}"/>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IN"/>
          </a:p>
        </p:txBody>
      </p:sp>
      <p:sp>
        <p:nvSpPr>
          <p:cNvPr id="7" name="Title 6">
            <a:extLst>
              <a:ext uri="{FF2B5EF4-FFF2-40B4-BE49-F238E27FC236}">
                <a16:creationId xmlns:a16="http://schemas.microsoft.com/office/drawing/2014/main" id="{A82D227C-2987-02F3-5A10-7533D0D9164B}"/>
              </a:ext>
            </a:extLst>
          </p:cNvPr>
          <p:cNvSpPr>
            <a:spLocks noGrp="1"/>
          </p:cNvSpPr>
          <p:nvPr>
            <p:ph type="title"/>
          </p:nvPr>
        </p:nvSpPr>
        <p:spPr/>
        <p:txBody>
          <a:bodyPr/>
          <a:lstStyle/>
          <a:p>
            <a:r>
              <a:rPr lang="en-US"/>
              <a:t>Click to edit Master title style</a:t>
            </a:r>
            <a:endParaRPr lang="en-IN"/>
          </a:p>
        </p:txBody>
      </p:sp>
      <p:sp>
        <p:nvSpPr>
          <p:cNvPr id="9" name="Footer Placeholder 8">
            <a:extLst>
              <a:ext uri="{FF2B5EF4-FFF2-40B4-BE49-F238E27FC236}">
                <a16:creationId xmlns:a16="http://schemas.microsoft.com/office/drawing/2014/main" id="{076FF0C3-6F49-2155-44D3-2817079D00D6}"/>
              </a:ext>
            </a:extLst>
          </p:cNvPr>
          <p:cNvSpPr>
            <a:spLocks noGrp="1"/>
          </p:cNvSpPr>
          <p:nvPr>
            <p:ph type="ftr" sz="quarter" idx="11"/>
          </p:nvPr>
        </p:nvSpPr>
        <p:spPr>
          <a:xfrm>
            <a:off x="4038600" y="6356352"/>
            <a:ext cx="4114800" cy="365125"/>
          </a:xfrm>
          <a:prstGeom prst="rect">
            <a:avLst/>
          </a:prstGeom>
        </p:spPr>
        <p:txBody>
          <a:bodyPr/>
          <a:lstStyle/>
          <a:p>
            <a:r>
              <a:rPr lang="en-IN" dirty="0"/>
              <a:t>Dissertation S2-24 AIMLCZG628T</a:t>
            </a:r>
          </a:p>
        </p:txBody>
      </p:sp>
      <p:sp>
        <p:nvSpPr>
          <p:cNvPr id="10" name="Slide Number Placeholder 9">
            <a:extLst>
              <a:ext uri="{FF2B5EF4-FFF2-40B4-BE49-F238E27FC236}">
                <a16:creationId xmlns:a16="http://schemas.microsoft.com/office/drawing/2014/main" id="{9D89E014-6AAF-1C84-527A-AD3D99804884}"/>
              </a:ext>
            </a:extLst>
          </p:cNvPr>
          <p:cNvSpPr>
            <a:spLocks noGrp="1"/>
          </p:cNvSpPr>
          <p:nvPr>
            <p:ph type="sldNum" sz="quarter" idx="12"/>
          </p:nvPr>
        </p:nvSpPr>
        <p:spPr>
          <a:xfrm>
            <a:off x="8610600" y="6356350"/>
            <a:ext cx="2743200" cy="365125"/>
          </a:xfrm>
          <a:prstGeom prst="rect">
            <a:avLst/>
          </a:prstGeom>
        </p:spPr>
        <p:txBody>
          <a:bodyPr/>
          <a:lstStyle/>
          <a:p>
            <a:fld id="{E90DB949-9EF9-42A5-8674-17CECDA96830}" type="slidenum">
              <a:rPr lang="en-IN" smtClean="0"/>
              <a:t>‹#›</a:t>
            </a:fld>
            <a:endParaRPr lang="en-IN" dirty="0"/>
          </a:p>
        </p:txBody>
      </p:sp>
    </p:spTree>
    <p:extLst>
      <p:ext uri="{BB962C8B-B14F-4D97-AF65-F5344CB8AC3E}">
        <p14:creationId xmlns:p14="http://schemas.microsoft.com/office/powerpoint/2010/main" val="35422078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590C-807A-B5BA-2C73-BB9986C6FA37}"/>
              </a:ext>
            </a:extLst>
          </p:cNvPr>
          <p:cNvSpPr>
            <a:spLocks noGrp="1"/>
          </p:cNvSpPr>
          <p:nvPr>
            <p:ph type="ctrTitle"/>
          </p:nvPr>
        </p:nvSpPr>
        <p:spPr>
          <a:xfrm>
            <a:off x="1524000" y="1122363"/>
            <a:ext cx="9144000" cy="2387600"/>
          </a:xfrm>
        </p:spPr>
        <p:txBody>
          <a:bodyPr anchor="b">
            <a:normAutofit/>
          </a:bodyPr>
          <a:lstStyle>
            <a:lvl1pPr algn="ctr">
              <a:defRPr sz="4400" b="1"/>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325FEC20-0F84-B42E-6C75-2E79CABCB1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5" name="Footer Placeholder 4">
            <a:extLst>
              <a:ext uri="{FF2B5EF4-FFF2-40B4-BE49-F238E27FC236}">
                <a16:creationId xmlns:a16="http://schemas.microsoft.com/office/drawing/2014/main" id="{D5E5FB42-B413-BE02-C1BE-B390F22082FF}"/>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6080A8BB-7446-A674-A58C-73107DE72FB3}"/>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31891079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410C7-D20A-3E8C-EB85-0A1A557C40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03BAF9-78E3-8CFF-24B8-EDC5C0D285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5979EE80-ACD3-C161-D3EF-EA66448D9230}"/>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6B098950-F5FF-5450-501C-DD346E747F59}"/>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9113961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08971-ED5A-43F6-5120-BCD8BCA13D08}"/>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C3702A68-0B00-CF77-CBEF-3A12FC9466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5" name="Footer Placeholder 4">
            <a:extLst>
              <a:ext uri="{FF2B5EF4-FFF2-40B4-BE49-F238E27FC236}">
                <a16:creationId xmlns:a16="http://schemas.microsoft.com/office/drawing/2014/main" id="{6666304B-BB0C-6FFC-51BF-7AE927EF714C}"/>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0B6AC955-B1CF-5A74-C119-602559168ABA}"/>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6548668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AA7BA-179E-F58D-DD4F-BF605BF12D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30612B-18C2-E2D7-1036-B56E6A2EF3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70C433-5557-1B7B-EDDB-CF7625DF40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a:extLst>
              <a:ext uri="{FF2B5EF4-FFF2-40B4-BE49-F238E27FC236}">
                <a16:creationId xmlns:a16="http://schemas.microsoft.com/office/drawing/2014/main" id="{47FAF835-ACE2-278F-A233-61195FAD8523}"/>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9C7C78F3-550F-7BED-FFC1-A3C71B7683FD}"/>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35740347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B0357-C8B7-600D-9F89-1D19324564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7BF3C4-8774-9A8A-24C5-AE6B39EB27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1CEFEB-89BA-3D8A-E7A7-C4313DAF39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7EDDCF-9FD7-0199-B380-ECB1D5DBBE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865C05-9677-2667-FD10-8FB66DA2BB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Footer Placeholder 7">
            <a:extLst>
              <a:ext uri="{FF2B5EF4-FFF2-40B4-BE49-F238E27FC236}">
                <a16:creationId xmlns:a16="http://schemas.microsoft.com/office/drawing/2014/main" id="{2278E4CA-F6E9-0FBA-88AF-4BB9C6C6BD73}"/>
              </a:ext>
            </a:extLst>
          </p:cNvPr>
          <p:cNvSpPr>
            <a:spLocks noGrp="1"/>
          </p:cNvSpPr>
          <p:nvPr>
            <p:ph type="ftr" sz="quarter" idx="11"/>
          </p:nvPr>
        </p:nvSpPr>
        <p:spPr/>
        <p:txBody>
          <a:bodyPr/>
          <a:lstStyle/>
          <a:p>
            <a:r>
              <a:rPr lang="en-IN"/>
              <a:t>Dissertation S2-24 AIMLCZG628T</a:t>
            </a:r>
          </a:p>
        </p:txBody>
      </p:sp>
      <p:sp>
        <p:nvSpPr>
          <p:cNvPr id="9" name="Slide Number Placeholder 8">
            <a:extLst>
              <a:ext uri="{FF2B5EF4-FFF2-40B4-BE49-F238E27FC236}">
                <a16:creationId xmlns:a16="http://schemas.microsoft.com/office/drawing/2014/main" id="{9433EE07-0B1F-E173-7DC9-620185AA815A}"/>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274442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76A18-9506-C8AA-BA69-029F253E25C3}"/>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585EE9E4-D477-0858-39BC-BF6AF28F1A10}"/>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FB1436C0-B56E-77C6-0DE2-0ADD46228BD9}"/>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5593586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3B00914-EBF7-A514-34A9-68172934EEA8}"/>
              </a:ext>
            </a:extLst>
          </p:cNvPr>
          <p:cNvSpPr>
            <a:spLocks noGrp="1"/>
          </p:cNvSpPr>
          <p:nvPr>
            <p:ph type="ftr" sz="quarter" idx="11"/>
          </p:nvPr>
        </p:nvSpPr>
        <p:spPr/>
        <p:txBody>
          <a:bodyPr/>
          <a:lstStyle/>
          <a:p>
            <a:r>
              <a:rPr lang="en-IN"/>
              <a:t>Dissertation S2-24 AIMLCZG628T</a:t>
            </a:r>
          </a:p>
        </p:txBody>
      </p:sp>
      <p:sp>
        <p:nvSpPr>
          <p:cNvPr id="4" name="Slide Number Placeholder 3">
            <a:extLst>
              <a:ext uri="{FF2B5EF4-FFF2-40B4-BE49-F238E27FC236}">
                <a16:creationId xmlns:a16="http://schemas.microsoft.com/office/drawing/2014/main" id="{E890564F-6095-543C-2C7B-6230D1E93BE2}"/>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6233534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08F60-CE44-C50E-5254-B7F90A59D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61A180-DE77-8617-4797-B3E1EA493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5319FB-B01F-BDD6-F729-3706FB9293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CB609BDD-1E88-EE48-CFB6-C5D20100E2F1}"/>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80F4AD2D-73C7-B667-E297-AC2DC0E8F642}"/>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4819339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2A488-2245-DF08-B07A-E8D8625D1B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4B7B8A-CAAC-2EB3-F6BA-AA229736D8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E6EC8E-4FED-62C7-2BC9-C1263167C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6484E291-8879-93D5-6870-6F81682BBB94}"/>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A5751815-C2DF-13F4-DA8C-33CDE2EEBC6F}"/>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2504559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47DE6-2DE7-A110-053A-E9DE8897B1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51E27D-D87A-0198-FC8C-8CB5AC4C26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455E6CB-D56A-C927-88F0-A7C8211512BD}"/>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EE1CDABE-C928-45B0-3122-DFFD43C65A51}"/>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1398560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6DB260-9073-D48D-8D91-CC7AE59F3E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6EF37C-14FB-7A81-FF2C-391FA2574E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17DABE6-BBCF-BEE7-7DCB-2D80ACF2A2D5}"/>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189B9482-2387-0A02-8BA1-1E5EC28E2851}"/>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1374053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4046BD3-83CC-7FAA-0E88-2B853A72EC5E}"/>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IN"/>
          </a:p>
        </p:txBody>
      </p:sp>
      <p:sp>
        <p:nvSpPr>
          <p:cNvPr id="7" name="Title 6">
            <a:extLst>
              <a:ext uri="{FF2B5EF4-FFF2-40B4-BE49-F238E27FC236}">
                <a16:creationId xmlns:a16="http://schemas.microsoft.com/office/drawing/2014/main" id="{A82D227C-2987-02F3-5A10-7533D0D9164B}"/>
              </a:ext>
            </a:extLst>
          </p:cNvPr>
          <p:cNvSpPr>
            <a:spLocks noGrp="1"/>
          </p:cNvSpPr>
          <p:nvPr>
            <p:ph type="title"/>
          </p:nvPr>
        </p:nvSpPr>
        <p:spPr/>
        <p:txBody>
          <a:bodyPr/>
          <a:lstStyle/>
          <a:p>
            <a:r>
              <a:rPr lang="en-US"/>
              <a:t>Click to edit Master title style</a:t>
            </a:r>
            <a:endParaRPr lang="en-IN"/>
          </a:p>
        </p:txBody>
      </p:sp>
      <p:sp>
        <p:nvSpPr>
          <p:cNvPr id="9" name="Footer Placeholder 8">
            <a:extLst>
              <a:ext uri="{FF2B5EF4-FFF2-40B4-BE49-F238E27FC236}">
                <a16:creationId xmlns:a16="http://schemas.microsoft.com/office/drawing/2014/main" id="{076FF0C3-6F49-2155-44D3-2817079D00D6}"/>
              </a:ext>
            </a:extLst>
          </p:cNvPr>
          <p:cNvSpPr>
            <a:spLocks noGrp="1"/>
          </p:cNvSpPr>
          <p:nvPr>
            <p:ph type="ftr" sz="quarter" idx="11"/>
          </p:nvPr>
        </p:nvSpPr>
        <p:spPr>
          <a:xfrm>
            <a:off x="4038600" y="6356352"/>
            <a:ext cx="4114800" cy="365125"/>
          </a:xfrm>
          <a:prstGeom prst="rect">
            <a:avLst/>
          </a:prstGeom>
        </p:spPr>
        <p:txBody>
          <a:bodyPr/>
          <a:lstStyle/>
          <a:p>
            <a:r>
              <a:rPr lang="en-IN" dirty="0"/>
              <a:t>Dissertation S2-24 AIMLCZG628T</a:t>
            </a:r>
          </a:p>
        </p:txBody>
      </p:sp>
      <p:sp>
        <p:nvSpPr>
          <p:cNvPr id="10" name="Slide Number Placeholder 9">
            <a:extLst>
              <a:ext uri="{FF2B5EF4-FFF2-40B4-BE49-F238E27FC236}">
                <a16:creationId xmlns:a16="http://schemas.microsoft.com/office/drawing/2014/main" id="{9D89E014-6AAF-1C84-527A-AD3D99804884}"/>
              </a:ext>
            </a:extLst>
          </p:cNvPr>
          <p:cNvSpPr>
            <a:spLocks noGrp="1"/>
          </p:cNvSpPr>
          <p:nvPr>
            <p:ph type="sldNum" sz="quarter" idx="12"/>
          </p:nvPr>
        </p:nvSpPr>
        <p:spPr>
          <a:xfrm>
            <a:off x="8610600" y="6356350"/>
            <a:ext cx="2743200" cy="365125"/>
          </a:xfrm>
          <a:prstGeom prst="rect">
            <a:avLst/>
          </a:prstGeom>
        </p:spPr>
        <p:txBody>
          <a:bodyPr/>
          <a:lstStyle/>
          <a:p>
            <a:fld id="{E90DB949-9EF9-42A5-8674-17CECDA96830}" type="slidenum">
              <a:rPr lang="en-IN" smtClean="0"/>
              <a:t>‹#›</a:t>
            </a:fld>
            <a:endParaRPr lang="en-IN" dirty="0"/>
          </a:p>
        </p:txBody>
      </p:sp>
    </p:spTree>
    <p:extLst>
      <p:ext uri="{BB962C8B-B14F-4D97-AF65-F5344CB8AC3E}">
        <p14:creationId xmlns:p14="http://schemas.microsoft.com/office/powerpoint/2010/main" val="3452734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mailto:2023aa05218@wilp.bits-pilani.ac.in"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hyperlink" Target="mailto:2023aa05218@wilp.bits-pilani.ac.in" TargetMode="Externa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hyperlink" Target="mailto:2023aa05218@wilp.bits-pilani.ac.in" TargetMode="Externa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
              <a:srgbClr val="0070C0">
                <a:lumMod val="50000"/>
              </a:srgbClr>
            </a:gs>
            <a:gs pos="100000">
              <a:schemeClr val="tx1">
                <a:lumMod val="10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4F5CB6AD-15F1-FACF-60FC-3B69FE7819F2}"/>
              </a:ext>
            </a:extLst>
          </p:cNvPr>
          <p:cNvSpPr/>
          <p:nvPr userDrawn="1"/>
        </p:nvSpPr>
        <p:spPr>
          <a:xfrm rot="10800000">
            <a:off x="71558" y="79499"/>
            <a:ext cx="12055783" cy="6100489"/>
          </a:xfrm>
          <a:prstGeom prst="round2SameRect">
            <a:avLst>
              <a:gd name="adj1" fmla="val 7795"/>
              <a:gd name="adj2" fmla="val 0"/>
            </a:avLst>
          </a:prstGeom>
          <a:gradFill flip="none" rotWithShape="1">
            <a:gsLst>
              <a:gs pos="0">
                <a:schemeClr val="bg1">
                  <a:lumMod val="75000"/>
                </a:schemeClr>
              </a:gs>
              <a:gs pos="16000">
                <a:schemeClr val="bg1">
                  <a:lumMod val="85000"/>
                </a:schemeClr>
              </a:gs>
              <a:gs pos="69000">
                <a:schemeClr val="bg1"/>
              </a:gs>
              <a:gs pos="38000">
                <a:schemeClr val="bg1">
                  <a:lumMod val="95000"/>
                </a:schemeClr>
              </a:gs>
            </a:gsLst>
            <a:lin ang="162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0" dirty="0"/>
          </a:p>
        </p:txBody>
      </p:sp>
      <p:sp>
        <p:nvSpPr>
          <p:cNvPr id="2" name="Title Placeholder 1">
            <a:extLst>
              <a:ext uri="{FF2B5EF4-FFF2-40B4-BE49-F238E27FC236}">
                <a16:creationId xmlns:a16="http://schemas.microsoft.com/office/drawing/2014/main" id="{D1409F93-CC02-62FF-27A9-4FA4CD42B472}"/>
              </a:ext>
            </a:extLst>
          </p:cNvPr>
          <p:cNvSpPr>
            <a:spLocks noGrp="1"/>
          </p:cNvSpPr>
          <p:nvPr>
            <p:ph type="title"/>
          </p:nvPr>
        </p:nvSpPr>
        <p:spPr>
          <a:xfrm>
            <a:off x="137565" y="143499"/>
            <a:ext cx="11919568" cy="701628"/>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D6957D5B-3A09-ACB6-DE28-04DC7CA5329E}"/>
              </a:ext>
            </a:extLst>
          </p:cNvPr>
          <p:cNvSpPr>
            <a:spLocks noGrp="1"/>
          </p:cNvSpPr>
          <p:nvPr>
            <p:ph type="body" idx="1"/>
          </p:nvPr>
        </p:nvSpPr>
        <p:spPr>
          <a:xfrm>
            <a:off x="838200" y="1825625"/>
            <a:ext cx="10515600" cy="418724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a:extLst>
              <a:ext uri="{FF2B5EF4-FFF2-40B4-BE49-F238E27FC236}">
                <a16:creationId xmlns:a16="http://schemas.microsoft.com/office/drawing/2014/main" id="{902BBB55-B91E-FDC1-9228-11AAA0D735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bg2"/>
                </a:solidFill>
              </a:defRPr>
            </a:lvl1pPr>
          </a:lstStyle>
          <a:p>
            <a:r>
              <a:rPr lang="en-IN" dirty="0"/>
              <a:t>Dissertation S2-24 AIMLCZG628T</a:t>
            </a:r>
          </a:p>
        </p:txBody>
      </p:sp>
      <p:sp>
        <p:nvSpPr>
          <p:cNvPr id="6" name="Slide Number Placeholder 5">
            <a:extLst>
              <a:ext uri="{FF2B5EF4-FFF2-40B4-BE49-F238E27FC236}">
                <a16:creationId xmlns:a16="http://schemas.microsoft.com/office/drawing/2014/main" id="{D7E88F01-8C0C-F488-57C5-16557B2831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solidFill>
              </a:defRPr>
            </a:lvl1pPr>
          </a:lstStyle>
          <a:p>
            <a:fld id="{0541023B-0DCA-4467-9EB4-7DB5EBA0C709}" type="slidenum">
              <a:rPr lang="en-IN" smtClean="0"/>
              <a:pPr/>
              <a:t>‹#›</a:t>
            </a:fld>
            <a:endParaRPr lang="en-IN" dirty="0"/>
          </a:p>
        </p:txBody>
      </p:sp>
      <p:pic>
        <p:nvPicPr>
          <p:cNvPr id="8" name="Picture 7">
            <a:extLst>
              <a:ext uri="{FF2B5EF4-FFF2-40B4-BE49-F238E27FC236}">
                <a16:creationId xmlns:a16="http://schemas.microsoft.com/office/drawing/2014/main" id="{6B30E326-8A31-367B-FEBC-6C7A044D0D44}"/>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91666" y="6237290"/>
            <a:ext cx="519352" cy="519352"/>
          </a:xfrm>
          <a:prstGeom prst="rect">
            <a:avLst/>
          </a:prstGeom>
          <a:ln>
            <a:noFill/>
          </a:ln>
          <a:effectLst/>
        </p:spPr>
      </p:pic>
      <p:sp>
        <p:nvSpPr>
          <p:cNvPr id="9" name="TextBox 8">
            <a:extLst>
              <a:ext uri="{FF2B5EF4-FFF2-40B4-BE49-F238E27FC236}">
                <a16:creationId xmlns:a16="http://schemas.microsoft.com/office/drawing/2014/main" id="{95D53ABA-B50C-16F4-17B3-D7F8E8EA91EA}"/>
              </a:ext>
            </a:extLst>
          </p:cNvPr>
          <p:cNvSpPr txBox="1"/>
          <p:nvPr userDrawn="1"/>
        </p:nvSpPr>
        <p:spPr>
          <a:xfrm>
            <a:off x="1067666" y="6237290"/>
            <a:ext cx="2012510" cy="507831"/>
          </a:xfrm>
          <a:prstGeom prst="rect">
            <a:avLst/>
          </a:prstGeom>
          <a:noFill/>
        </p:spPr>
        <p:txBody>
          <a:bodyPr wrap="square" rtlCol="0">
            <a:spAutoFit/>
          </a:bodyPr>
          <a:lstStyle/>
          <a:p>
            <a:r>
              <a:rPr lang="en-IN" sz="900" dirty="0">
                <a:solidFill>
                  <a:schemeClr val="bg2"/>
                </a:solidFill>
              </a:rPr>
              <a:t>Rounaq Choudhuri</a:t>
            </a:r>
          </a:p>
          <a:p>
            <a:r>
              <a:rPr lang="en-IN" sz="900" dirty="0">
                <a:solidFill>
                  <a:schemeClr val="bg2"/>
                </a:solidFill>
              </a:rPr>
              <a:t>2023AA05218</a:t>
            </a:r>
          </a:p>
          <a:p>
            <a:r>
              <a:rPr lang="en-IN" sz="900" dirty="0">
                <a:hlinkClick r:id="rId15"/>
              </a:rPr>
              <a:t>2023aa05218@wilp.bits-pilani.ac.in</a:t>
            </a:r>
            <a:endParaRPr lang="en-IN" sz="900" dirty="0"/>
          </a:p>
        </p:txBody>
      </p:sp>
      <p:cxnSp>
        <p:nvCxnSpPr>
          <p:cNvPr id="10" name="Straight Connector 9">
            <a:extLst>
              <a:ext uri="{FF2B5EF4-FFF2-40B4-BE49-F238E27FC236}">
                <a16:creationId xmlns:a16="http://schemas.microsoft.com/office/drawing/2014/main" id="{F7349A85-83F2-B5F9-84D0-D33B52D1085B}"/>
              </a:ext>
            </a:extLst>
          </p:cNvPr>
          <p:cNvCxnSpPr>
            <a:cxnSpLocks/>
          </p:cNvCxnSpPr>
          <p:nvPr userDrawn="1"/>
        </p:nvCxnSpPr>
        <p:spPr>
          <a:xfrm>
            <a:off x="1067666" y="6237290"/>
            <a:ext cx="0" cy="523683"/>
          </a:xfrm>
          <a:prstGeom prst="line">
            <a:avLst/>
          </a:prstGeom>
          <a:ln w="12700">
            <a:solidFill>
              <a:schemeClr val="bg2"/>
            </a:solidFill>
          </a:ln>
        </p:spPr>
        <p:style>
          <a:lnRef idx="1">
            <a:schemeClr val="accent3"/>
          </a:lnRef>
          <a:fillRef idx="0">
            <a:schemeClr val="accent3"/>
          </a:fillRef>
          <a:effectRef idx="0">
            <a:schemeClr val="accent3"/>
          </a:effectRef>
          <a:fontRef idx="minor">
            <a:schemeClr val="tx1"/>
          </a:fontRef>
        </p:style>
      </p:cxnSp>
      <p:pic>
        <p:nvPicPr>
          <p:cNvPr id="16" name="Picture 15">
            <a:extLst>
              <a:ext uri="{FF2B5EF4-FFF2-40B4-BE49-F238E27FC236}">
                <a16:creationId xmlns:a16="http://schemas.microsoft.com/office/drawing/2014/main" id="{AD7891FE-2689-9426-8D8B-8E6A9E9C2557}"/>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579178" y="-39866"/>
            <a:ext cx="2384690" cy="548750"/>
          </a:xfrm>
          <a:prstGeom prst="rect">
            <a:avLst/>
          </a:prstGeom>
          <a:ln>
            <a:solidFill>
              <a:schemeClr val="tx1">
                <a:lumMod val="75000"/>
                <a:lumOff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613475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49" r:id="rId12"/>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
              <a:srgbClr val="FF0000">
                <a:lumMod val="50000"/>
              </a:srgbClr>
            </a:gs>
            <a:gs pos="100000">
              <a:schemeClr val="tx1">
                <a:lumMod val="10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4F5CB6AD-15F1-FACF-60FC-3B69FE7819F2}"/>
              </a:ext>
            </a:extLst>
          </p:cNvPr>
          <p:cNvSpPr/>
          <p:nvPr userDrawn="1"/>
        </p:nvSpPr>
        <p:spPr>
          <a:xfrm rot="10800000">
            <a:off x="71562" y="79504"/>
            <a:ext cx="12054176" cy="6100489"/>
          </a:xfrm>
          <a:prstGeom prst="round2SameRect">
            <a:avLst>
              <a:gd name="adj1" fmla="val 7795"/>
              <a:gd name="adj2" fmla="val 0"/>
            </a:avLst>
          </a:prstGeom>
          <a:gradFill flip="none" rotWithShape="1">
            <a:gsLst>
              <a:gs pos="0">
                <a:schemeClr val="bg1">
                  <a:lumMod val="75000"/>
                </a:schemeClr>
              </a:gs>
              <a:gs pos="16000">
                <a:schemeClr val="bg1">
                  <a:lumMod val="85000"/>
                </a:schemeClr>
              </a:gs>
              <a:gs pos="69000">
                <a:schemeClr val="bg1"/>
              </a:gs>
              <a:gs pos="38000">
                <a:schemeClr val="bg1">
                  <a:lumMod val="95000"/>
                </a:schemeClr>
              </a:gs>
            </a:gsLst>
            <a:lin ang="162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0"/>
          </a:p>
        </p:txBody>
      </p:sp>
      <p:sp>
        <p:nvSpPr>
          <p:cNvPr id="2" name="Title Placeholder 1">
            <a:extLst>
              <a:ext uri="{FF2B5EF4-FFF2-40B4-BE49-F238E27FC236}">
                <a16:creationId xmlns:a16="http://schemas.microsoft.com/office/drawing/2014/main" id="{D1409F93-CC02-62FF-27A9-4FA4CD42B472}"/>
              </a:ext>
            </a:extLst>
          </p:cNvPr>
          <p:cNvSpPr>
            <a:spLocks noGrp="1"/>
          </p:cNvSpPr>
          <p:nvPr>
            <p:ph type="title"/>
          </p:nvPr>
        </p:nvSpPr>
        <p:spPr>
          <a:xfrm>
            <a:off x="137565" y="143499"/>
            <a:ext cx="11919568" cy="701628"/>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D6957D5B-3A09-ACB6-DE28-04DC7CA5329E}"/>
              </a:ext>
            </a:extLst>
          </p:cNvPr>
          <p:cNvSpPr>
            <a:spLocks noGrp="1"/>
          </p:cNvSpPr>
          <p:nvPr>
            <p:ph type="body" idx="1"/>
          </p:nvPr>
        </p:nvSpPr>
        <p:spPr>
          <a:xfrm>
            <a:off x="838200" y="1825625"/>
            <a:ext cx="10515600" cy="418724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a:extLst>
              <a:ext uri="{FF2B5EF4-FFF2-40B4-BE49-F238E27FC236}">
                <a16:creationId xmlns:a16="http://schemas.microsoft.com/office/drawing/2014/main" id="{902BBB55-B91E-FDC1-9228-11AAA0D735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bg2"/>
                </a:solidFill>
              </a:defRPr>
            </a:lvl1pPr>
          </a:lstStyle>
          <a:p>
            <a:r>
              <a:rPr lang="en-IN" dirty="0"/>
              <a:t>Dissertation S2-24 AIMLCZG628T</a:t>
            </a:r>
          </a:p>
        </p:txBody>
      </p:sp>
      <p:sp>
        <p:nvSpPr>
          <p:cNvPr id="6" name="Slide Number Placeholder 5">
            <a:extLst>
              <a:ext uri="{FF2B5EF4-FFF2-40B4-BE49-F238E27FC236}">
                <a16:creationId xmlns:a16="http://schemas.microsoft.com/office/drawing/2014/main" id="{D7E88F01-8C0C-F488-57C5-16557B2831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solidFill>
              </a:defRPr>
            </a:lvl1pPr>
          </a:lstStyle>
          <a:p>
            <a:fld id="{0541023B-0DCA-4467-9EB4-7DB5EBA0C709}" type="slidenum">
              <a:rPr lang="en-IN" smtClean="0"/>
              <a:pPr/>
              <a:t>‹#›</a:t>
            </a:fld>
            <a:endParaRPr lang="en-IN" dirty="0"/>
          </a:p>
        </p:txBody>
      </p:sp>
      <p:pic>
        <p:nvPicPr>
          <p:cNvPr id="8" name="Picture 7">
            <a:extLst>
              <a:ext uri="{FF2B5EF4-FFF2-40B4-BE49-F238E27FC236}">
                <a16:creationId xmlns:a16="http://schemas.microsoft.com/office/drawing/2014/main" id="{6B30E326-8A31-367B-FEBC-6C7A044D0D44}"/>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91666" y="6237290"/>
            <a:ext cx="519352" cy="519352"/>
          </a:xfrm>
          <a:prstGeom prst="rect">
            <a:avLst/>
          </a:prstGeom>
          <a:ln>
            <a:noFill/>
          </a:ln>
          <a:effectLst/>
        </p:spPr>
      </p:pic>
      <p:sp>
        <p:nvSpPr>
          <p:cNvPr id="9" name="TextBox 8">
            <a:extLst>
              <a:ext uri="{FF2B5EF4-FFF2-40B4-BE49-F238E27FC236}">
                <a16:creationId xmlns:a16="http://schemas.microsoft.com/office/drawing/2014/main" id="{95D53ABA-B50C-16F4-17B3-D7F8E8EA91EA}"/>
              </a:ext>
            </a:extLst>
          </p:cNvPr>
          <p:cNvSpPr txBox="1"/>
          <p:nvPr userDrawn="1"/>
        </p:nvSpPr>
        <p:spPr>
          <a:xfrm>
            <a:off x="1067666" y="6237290"/>
            <a:ext cx="2012510" cy="507831"/>
          </a:xfrm>
          <a:prstGeom prst="rect">
            <a:avLst/>
          </a:prstGeom>
          <a:noFill/>
        </p:spPr>
        <p:txBody>
          <a:bodyPr wrap="square" rtlCol="0">
            <a:spAutoFit/>
          </a:bodyPr>
          <a:lstStyle/>
          <a:p>
            <a:r>
              <a:rPr lang="en-IN" sz="900" dirty="0">
                <a:solidFill>
                  <a:schemeClr val="bg2"/>
                </a:solidFill>
              </a:rPr>
              <a:t>Rounaq Choudhuri</a:t>
            </a:r>
          </a:p>
          <a:p>
            <a:r>
              <a:rPr lang="en-IN" sz="900" dirty="0">
                <a:solidFill>
                  <a:schemeClr val="bg2"/>
                </a:solidFill>
              </a:rPr>
              <a:t>2023AA05218</a:t>
            </a:r>
          </a:p>
          <a:p>
            <a:r>
              <a:rPr lang="en-IN" sz="900" dirty="0">
                <a:hlinkClick r:id="rId15"/>
              </a:rPr>
              <a:t>2023aa05218@wilp.bits-pilani.ac.in</a:t>
            </a:r>
            <a:endParaRPr lang="en-IN" sz="900" dirty="0"/>
          </a:p>
        </p:txBody>
      </p:sp>
      <p:cxnSp>
        <p:nvCxnSpPr>
          <p:cNvPr id="10" name="Straight Connector 9">
            <a:extLst>
              <a:ext uri="{FF2B5EF4-FFF2-40B4-BE49-F238E27FC236}">
                <a16:creationId xmlns:a16="http://schemas.microsoft.com/office/drawing/2014/main" id="{F7349A85-83F2-B5F9-84D0-D33B52D1085B}"/>
              </a:ext>
            </a:extLst>
          </p:cNvPr>
          <p:cNvCxnSpPr>
            <a:cxnSpLocks/>
          </p:cNvCxnSpPr>
          <p:nvPr userDrawn="1"/>
        </p:nvCxnSpPr>
        <p:spPr>
          <a:xfrm>
            <a:off x="1067666" y="6237290"/>
            <a:ext cx="0" cy="523683"/>
          </a:xfrm>
          <a:prstGeom prst="line">
            <a:avLst/>
          </a:prstGeom>
          <a:ln w="12700">
            <a:solidFill>
              <a:schemeClr val="bg2"/>
            </a:solidFill>
          </a:ln>
        </p:spPr>
        <p:style>
          <a:lnRef idx="1">
            <a:schemeClr val="accent3"/>
          </a:lnRef>
          <a:fillRef idx="0">
            <a:schemeClr val="accent3"/>
          </a:fillRef>
          <a:effectRef idx="0">
            <a:schemeClr val="accent3"/>
          </a:effectRef>
          <a:fontRef idx="minor">
            <a:schemeClr val="tx1"/>
          </a:fontRef>
        </p:style>
      </p:cxnSp>
      <p:pic>
        <p:nvPicPr>
          <p:cNvPr id="16" name="Picture 15">
            <a:extLst>
              <a:ext uri="{FF2B5EF4-FFF2-40B4-BE49-F238E27FC236}">
                <a16:creationId xmlns:a16="http://schemas.microsoft.com/office/drawing/2014/main" id="{AD7891FE-2689-9426-8D8B-8E6A9E9C2557}"/>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579178" y="-39866"/>
            <a:ext cx="2384690" cy="548750"/>
          </a:xfrm>
          <a:prstGeom prst="rect">
            <a:avLst/>
          </a:prstGeom>
          <a:ln>
            <a:solidFill>
              <a:schemeClr val="tx1">
                <a:lumMod val="75000"/>
                <a:lumOff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2768274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
              <a:schemeClr val="accent4">
                <a:lumMod val="50000"/>
              </a:schemeClr>
            </a:gs>
            <a:gs pos="100000">
              <a:schemeClr val="tx1">
                <a:lumMod val="10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4F5CB6AD-15F1-FACF-60FC-3B69FE7819F2}"/>
              </a:ext>
            </a:extLst>
          </p:cNvPr>
          <p:cNvSpPr/>
          <p:nvPr userDrawn="1"/>
        </p:nvSpPr>
        <p:spPr>
          <a:xfrm rot="10800000">
            <a:off x="71562" y="79504"/>
            <a:ext cx="12054176" cy="6100489"/>
          </a:xfrm>
          <a:prstGeom prst="round2SameRect">
            <a:avLst>
              <a:gd name="adj1" fmla="val 7795"/>
              <a:gd name="adj2" fmla="val 0"/>
            </a:avLst>
          </a:prstGeom>
          <a:gradFill flip="none" rotWithShape="1">
            <a:gsLst>
              <a:gs pos="0">
                <a:schemeClr val="bg1">
                  <a:lumMod val="75000"/>
                </a:schemeClr>
              </a:gs>
              <a:gs pos="16000">
                <a:schemeClr val="bg1">
                  <a:lumMod val="85000"/>
                </a:schemeClr>
              </a:gs>
              <a:gs pos="69000">
                <a:schemeClr val="bg1"/>
              </a:gs>
              <a:gs pos="38000">
                <a:schemeClr val="bg1">
                  <a:lumMod val="95000"/>
                </a:schemeClr>
              </a:gs>
            </a:gsLst>
            <a:lin ang="162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0"/>
          </a:p>
        </p:txBody>
      </p:sp>
      <p:sp>
        <p:nvSpPr>
          <p:cNvPr id="2" name="Title Placeholder 1">
            <a:extLst>
              <a:ext uri="{FF2B5EF4-FFF2-40B4-BE49-F238E27FC236}">
                <a16:creationId xmlns:a16="http://schemas.microsoft.com/office/drawing/2014/main" id="{D1409F93-CC02-62FF-27A9-4FA4CD42B472}"/>
              </a:ext>
            </a:extLst>
          </p:cNvPr>
          <p:cNvSpPr>
            <a:spLocks noGrp="1"/>
          </p:cNvSpPr>
          <p:nvPr>
            <p:ph type="title"/>
          </p:nvPr>
        </p:nvSpPr>
        <p:spPr>
          <a:xfrm>
            <a:off x="137565" y="143499"/>
            <a:ext cx="11919568" cy="701628"/>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D6957D5B-3A09-ACB6-DE28-04DC7CA5329E}"/>
              </a:ext>
            </a:extLst>
          </p:cNvPr>
          <p:cNvSpPr>
            <a:spLocks noGrp="1"/>
          </p:cNvSpPr>
          <p:nvPr>
            <p:ph type="body" idx="1"/>
          </p:nvPr>
        </p:nvSpPr>
        <p:spPr>
          <a:xfrm>
            <a:off x="838200" y="1825625"/>
            <a:ext cx="10515600" cy="418724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a:extLst>
              <a:ext uri="{FF2B5EF4-FFF2-40B4-BE49-F238E27FC236}">
                <a16:creationId xmlns:a16="http://schemas.microsoft.com/office/drawing/2014/main" id="{902BBB55-B91E-FDC1-9228-11AAA0D735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bg2"/>
                </a:solidFill>
              </a:defRPr>
            </a:lvl1pPr>
          </a:lstStyle>
          <a:p>
            <a:r>
              <a:rPr lang="en-IN" dirty="0"/>
              <a:t>Dissertation S2-24 AIMLCZG628T</a:t>
            </a:r>
          </a:p>
        </p:txBody>
      </p:sp>
      <p:sp>
        <p:nvSpPr>
          <p:cNvPr id="6" name="Slide Number Placeholder 5">
            <a:extLst>
              <a:ext uri="{FF2B5EF4-FFF2-40B4-BE49-F238E27FC236}">
                <a16:creationId xmlns:a16="http://schemas.microsoft.com/office/drawing/2014/main" id="{D7E88F01-8C0C-F488-57C5-16557B2831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solidFill>
              </a:defRPr>
            </a:lvl1pPr>
          </a:lstStyle>
          <a:p>
            <a:fld id="{0541023B-0DCA-4467-9EB4-7DB5EBA0C709}" type="slidenum">
              <a:rPr lang="en-IN" smtClean="0"/>
              <a:pPr/>
              <a:t>‹#›</a:t>
            </a:fld>
            <a:endParaRPr lang="en-IN" dirty="0"/>
          </a:p>
        </p:txBody>
      </p:sp>
      <p:pic>
        <p:nvPicPr>
          <p:cNvPr id="8" name="Picture 7">
            <a:extLst>
              <a:ext uri="{FF2B5EF4-FFF2-40B4-BE49-F238E27FC236}">
                <a16:creationId xmlns:a16="http://schemas.microsoft.com/office/drawing/2014/main" id="{6B30E326-8A31-367B-FEBC-6C7A044D0D44}"/>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91666" y="6237290"/>
            <a:ext cx="519352" cy="519352"/>
          </a:xfrm>
          <a:prstGeom prst="rect">
            <a:avLst/>
          </a:prstGeom>
          <a:ln>
            <a:noFill/>
          </a:ln>
          <a:effectLst/>
        </p:spPr>
      </p:pic>
      <p:sp>
        <p:nvSpPr>
          <p:cNvPr id="9" name="TextBox 8">
            <a:extLst>
              <a:ext uri="{FF2B5EF4-FFF2-40B4-BE49-F238E27FC236}">
                <a16:creationId xmlns:a16="http://schemas.microsoft.com/office/drawing/2014/main" id="{95D53ABA-B50C-16F4-17B3-D7F8E8EA91EA}"/>
              </a:ext>
            </a:extLst>
          </p:cNvPr>
          <p:cNvSpPr txBox="1"/>
          <p:nvPr userDrawn="1"/>
        </p:nvSpPr>
        <p:spPr>
          <a:xfrm>
            <a:off x="1067666" y="6237290"/>
            <a:ext cx="2012510" cy="507831"/>
          </a:xfrm>
          <a:prstGeom prst="rect">
            <a:avLst/>
          </a:prstGeom>
          <a:noFill/>
        </p:spPr>
        <p:txBody>
          <a:bodyPr wrap="square" rtlCol="0">
            <a:spAutoFit/>
          </a:bodyPr>
          <a:lstStyle/>
          <a:p>
            <a:r>
              <a:rPr lang="en-IN" sz="900" dirty="0">
                <a:solidFill>
                  <a:schemeClr val="bg2"/>
                </a:solidFill>
              </a:rPr>
              <a:t>Rounaq Choudhuri</a:t>
            </a:r>
          </a:p>
          <a:p>
            <a:r>
              <a:rPr lang="en-IN" sz="900" dirty="0">
                <a:solidFill>
                  <a:schemeClr val="bg2"/>
                </a:solidFill>
              </a:rPr>
              <a:t>2023AA05218</a:t>
            </a:r>
          </a:p>
          <a:p>
            <a:r>
              <a:rPr lang="en-IN" sz="900" dirty="0">
                <a:hlinkClick r:id="rId15"/>
              </a:rPr>
              <a:t>2023aa05218@wilp.bits-pilani.ac.in</a:t>
            </a:r>
            <a:endParaRPr lang="en-IN" sz="900" dirty="0"/>
          </a:p>
        </p:txBody>
      </p:sp>
      <p:cxnSp>
        <p:nvCxnSpPr>
          <p:cNvPr id="10" name="Straight Connector 9">
            <a:extLst>
              <a:ext uri="{FF2B5EF4-FFF2-40B4-BE49-F238E27FC236}">
                <a16:creationId xmlns:a16="http://schemas.microsoft.com/office/drawing/2014/main" id="{F7349A85-83F2-B5F9-84D0-D33B52D1085B}"/>
              </a:ext>
            </a:extLst>
          </p:cNvPr>
          <p:cNvCxnSpPr>
            <a:cxnSpLocks/>
          </p:cNvCxnSpPr>
          <p:nvPr userDrawn="1"/>
        </p:nvCxnSpPr>
        <p:spPr>
          <a:xfrm>
            <a:off x="1067666" y="6237290"/>
            <a:ext cx="0" cy="523683"/>
          </a:xfrm>
          <a:prstGeom prst="line">
            <a:avLst/>
          </a:prstGeom>
          <a:ln w="12700">
            <a:solidFill>
              <a:schemeClr val="bg2"/>
            </a:solidFill>
          </a:ln>
        </p:spPr>
        <p:style>
          <a:lnRef idx="1">
            <a:schemeClr val="accent3"/>
          </a:lnRef>
          <a:fillRef idx="0">
            <a:schemeClr val="accent3"/>
          </a:fillRef>
          <a:effectRef idx="0">
            <a:schemeClr val="accent3"/>
          </a:effectRef>
          <a:fontRef idx="minor">
            <a:schemeClr val="tx1"/>
          </a:fontRef>
        </p:style>
      </p:cxnSp>
      <p:pic>
        <p:nvPicPr>
          <p:cNvPr id="16" name="Picture 15">
            <a:extLst>
              <a:ext uri="{FF2B5EF4-FFF2-40B4-BE49-F238E27FC236}">
                <a16:creationId xmlns:a16="http://schemas.microsoft.com/office/drawing/2014/main" id="{AD7891FE-2689-9426-8D8B-8E6A9E9C2557}"/>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579178" y="-39866"/>
            <a:ext cx="2384690" cy="548750"/>
          </a:xfrm>
          <a:prstGeom prst="rect">
            <a:avLst/>
          </a:prstGeom>
          <a:ln>
            <a:solidFill>
              <a:schemeClr val="tx1">
                <a:lumMod val="75000"/>
                <a:lumOff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210276098"/>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waico/SKAB?tab=readme-ov-file#datasets" TargetMode="External"/><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43.emf"/></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5.xml"/><Relationship Id="rId5" Type="http://schemas.openxmlformats.org/officeDocument/2006/relationships/image" Target="../media/image47.png"/><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5.xml"/><Relationship Id="rId5" Type="http://schemas.openxmlformats.org/officeDocument/2006/relationships/image" Target="../media/image51.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svg"/><Relationship Id="rId7" Type="http://schemas.openxmlformats.org/officeDocument/2006/relationships/image" Target="../media/image57.svg"/><Relationship Id="rId2" Type="http://schemas.openxmlformats.org/officeDocument/2006/relationships/image" Target="../media/image52.png"/><Relationship Id="rId1" Type="http://schemas.openxmlformats.org/officeDocument/2006/relationships/slideLayout" Target="../slideLayouts/slideLayout26.xml"/><Relationship Id="rId6" Type="http://schemas.openxmlformats.org/officeDocument/2006/relationships/image" Target="../media/image56.png"/><Relationship Id="rId5" Type="http://schemas.openxmlformats.org/officeDocument/2006/relationships/image" Target="../media/image55.svg"/><Relationship Id="rId4" Type="http://schemas.openxmlformats.org/officeDocument/2006/relationships/image" Target="../media/image54.png"/><Relationship Id="rId9" Type="http://schemas.openxmlformats.org/officeDocument/2006/relationships/image" Target="../media/image59.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3.xml"/><Relationship Id="rId5" Type="http://schemas.openxmlformats.org/officeDocument/2006/relationships/image" Target="../media/image43.emf"/><Relationship Id="rId4" Type="http://schemas.openxmlformats.org/officeDocument/2006/relationships/package" Target="../embeddings/Microsoft_Excel_Worksheet.xlsx"/></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FE6BE-0553-5808-F4FA-9BC525E39E98}"/>
              </a:ext>
            </a:extLst>
          </p:cNvPr>
          <p:cNvSpPr>
            <a:spLocks noGrp="1"/>
          </p:cNvSpPr>
          <p:nvPr>
            <p:ph type="ctrTitle"/>
          </p:nvPr>
        </p:nvSpPr>
        <p:spPr>
          <a:xfrm>
            <a:off x="1524000" y="1122363"/>
            <a:ext cx="9144000" cy="2387600"/>
          </a:xfrm>
        </p:spPr>
        <p:txBody>
          <a:bodyPr/>
          <a:lstStyle/>
          <a:p>
            <a:r>
              <a:rPr lang="en-US" dirty="0">
                <a:effectLst>
                  <a:outerShdw blurRad="38100" dist="38100" dir="2700000" algn="tl">
                    <a:srgbClr val="000000">
                      <a:alpha val="43137"/>
                    </a:srgbClr>
                  </a:outerShdw>
                </a:effectLst>
              </a:rPr>
              <a:t>Enhancing Human-Machine Collaboration in Industrial</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Workflows using Generative AI Models</a:t>
            </a:r>
            <a:endParaRPr lang="en-IN" dirty="0">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59EFABCF-6DCD-CAF5-73CC-1B178BD5EA58}"/>
              </a:ext>
            </a:extLst>
          </p:cNvPr>
          <p:cNvSpPr>
            <a:spLocks noGrp="1"/>
          </p:cNvSpPr>
          <p:nvPr>
            <p:ph type="subTitle" idx="1"/>
          </p:nvPr>
        </p:nvSpPr>
        <p:spPr/>
        <p:txBody>
          <a:bodyPr>
            <a:normAutofit lnSpcReduction="10000"/>
          </a:bodyPr>
          <a:lstStyle/>
          <a:p>
            <a:br>
              <a:rPr lang="en-IN" dirty="0"/>
            </a:br>
            <a:r>
              <a:rPr lang="en-IN" sz="2800" dirty="0"/>
              <a:t>Dissertation</a:t>
            </a:r>
            <a:br>
              <a:rPr lang="en-IN" sz="2800" dirty="0"/>
            </a:br>
            <a:r>
              <a:rPr lang="en-IN" sz="1600" dirty="0"/>
              <a:t>(Abstract Viva)</a:t>
            </a:r>
          </a:p>
          <a:p>
            <a:br>
              <a:rPr lang="en-IN" sz="1600" dirty="0"/>
            </a:br>
            <a:r>
              <a:rPr lang="en-IN" sz="900" dirty="0"/>
              <a:t>in partial fulfilment of the requirements for the degree:</a:t>
            </a:r>
            <a:br>
              <a:rPr lang="en-IN" sz="1600" dirty="0"/>
            </a:br>
            <a:r>
              <a:rPr lang="en-IN" sz="1200" b="1" dirty="0"/>
              <a:t>M.Tech. in Artificial Intelligence &amp; Machine Learning</a:t>
            </a:r>
            <a:endParaRPr lang="en-IN" b="1" dirty="0"/>
          </a:p>
        </p:txBody>
      </p:sp>
      <p:sp>
        <p:nvSpPr>
          <p:cNvPr id="4" name="Footer Placeholder 3">
            <a:extLst>
              <a:ext uri="{FF2B5EF4-FFF2-40B4-BE49-F238E27FC236}">
                <a16:creationId xmlns:a16="http://schemas.microsoft.com/office/drawing/2014/main" id="{C9B8DB1F-2C01-30E5-101A-2DBB2E33EED5}"/>
              </a:ext>
            </a:extLst>
          </p:cNvPr>
          <p:cNvSpPr>
            <a:spLocks noGrp="1"/>
          </p:cNvSpPr>
          <p:nvPr>
            <p:ph type="ftr" sz="quarter" idx="11"/>
          </p:nvPr>
        </p:nvSpPr>
        <p:spPr/>
        <p:txBody>
          <a:bodyPr/>
          <a:lstStyle/>
          <a:p>
            <a:r>
              <a:rPr lang="en-IN"/>
              <a:t>Dissertation S2-24 AIMLCZG628T</a:t>
            </a:r>
            <a:endParaRPr lang="en-IN" dirty="0"/>
          </a:p>
        </p:txBody>
      </p:sp>
      <p:sp>
        <p:nvSpPr>
          <p:cNvPr id="5" name="Slide Number Placeholder 4">
            <a:extLst>
              <a:ext uri="{FF2B5EF4-FFF2-40B4-BE49-F238E27FC236}">
                <a16:creationId xmlns:a16="http://schemas.microsoft.com/office/drawing/2014/main" id="{A4616A05-940E-38DE-9DDE-91604ECC3517}"/>
              </a:ext>
            </a:extLst>
          </p:cNvPr>
          <p:cNvSpPr>
            <a:spLocks noGrp="1"/>
          </p:cNvSpPr>
          <p:nvPr>
            <p:ph type="sldNum" sz="quarter" idx="12"/>
          </p:nvPr>
        </p:nvSpPr>
        <p:spPr/>
        <p:txBody>
          <a:bodyPr/>
          <a:lstStyle/>
          <a:p>
            <a:fld id="{E90DB949-9EF9-42A5-8674-17CECDA96830}" type="slidenum">
              <a:rPr lang="en-IN" smtClean="0"/>
              <a:t>1</a:t>
            </a:fld>
            <a:endParaRPr lang="en-IN" dirty="0"/>
          </a:p>
        </p:txBody>
      </p:sp>
    </p:spTree>
    <p:extLst>
      <p:ext uri="{BB962C8B-B14F-4D97-AF65-F5344CB8AC3E}">
        <p14:creationId xmlns:p14="http://schemas.microsoft.com/office/powerpoint/2010/main" val="339669776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63A68-C901-7159-7F31-C164220C8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03D78-407C-E517-7C72-F4EA0F99F978}"/>
              </a:ext>
            </a:extLst>
          </p:cNvPr>
          <p:cNvSpPr>
            <a:spLocks noGrp="1"/>
          </p:cNvSpPr>
          <p:nvPr>
            <p:ph type="title"/>
          </p:nvPr>
        </p:nvSpPr>
        <p:spPr>
          <a:xfrm>
            <a:off x="2524664" y="457200"/>
            <a:ext cx="3932237" cy="1600200"/>
          </a:xfrm>
        </p:spPr>
        <p:txBody>
          <a:bodyPr anchor="ctr"/>
          <a:lstStyle/>
          <a:p>
            <a:r>
              <a:rPr lang="en-IN" dirty="0">
                <a:effectLst>
                  <a:outerShdw blurRad="38100" dist="38100" dir="2700000" algn="tl">
                    <a:srgbClr val="000000">
                      <a:alpha val="43137"/>
                    </a:srgbClr>
                  </a:outerShdw>
                </a:effectLst>
              </a:rPr>
              <a:t>Rounaq Choudhuri</a:t>
            </a:r>
          </a:p>
        </p:txBody>
      </p:sp>
      <p:sp>
        <p:nvSpPr>
          <p:cNvPr id="4" name="Text Placeholder 3">
            <a:extLst>
              <a:ext uri="{FF2B5EF4-FFF2-40B4-BE49-F238E27FC236}">
                <a16:creationId xmlns:a16="http://schemas.microsoft.com/office/drawing/2014/main" id="{BF95C88F-B54C-6987-D45D-FAB238DD386B}"/>
              </a:ext>
            </a:extLst>
          </p:cNvPr>
          <p:cNvSpPr>
            <a:spLocks noGrp="1"/>
          </p:cNvSpPr>
          <p:nvPr>
            <p:ph type="body" sz="half" idx="2"/>
          </p:nvPr>
        </p:nvSpPr>
        <p:spPr>
          <a:xfrm>
            <a:off x="2524664" y="2057400"/>
            <a:ext cx="3932237" cy="3811588"/>
          </a:xfrm>
        </p:spPr>
        <p:txBody>
          <a:bodyPr>
            <a:normAutofit/>
          </a:bodyPr>
          <a:lstStyle/>
          <a:p>
            <a:r>
              <a:rPr lang="en-US" sz="1400" dirty="0"/>
              <a:t>I am driven by a passion for converting data into practical business intelligence. </a:t>
            </a:r>
          </a:p>
          <a:p>
            <a:r>
              <a:rPr lang="en-US" sz="1400" dirty="0"/>
              <a:t>My expertise includes a robust background in computer vision, where I have conceptualized and built video-based analytical solutions. </a:t>
            </a:r>
          </a:p>
          <a:p>
            <a:r>
              <a:rPr lang="en-US" sz="1400" dirty="0"/>
              <a:t>Currently, at LTIMindtree, I am focused on creating real-time intelligent surveillance systems for applications such as Environmental, Health, and Safety (EHS) and quality inspection. </a:t>
            </a:r>
          </a:p>
          <a:p>
            <a:r>
              <a:rPr lang="en-US" sz="1400" dirty="0"/>
              <a:t>My enthusiasm lies in crafting cutting-edge data solutions and utilizing the power of AI/ML and Generative AI to tackle intricate business problems.</a:t>
            </a:r>
            <a:endParaRPr lang="en-IN" sz="1400" dirty="0"/>
          </a:p>
        </p:txBody>
      </p:sp>
      <p:sp>
        <p:nvSpPr>
          <p:cNvPr id="6" name="Footer Placeholder 5">
            <a:extLst>
              <a:ext uri="{FF2B5EF4-FFF2-40B4-BE49-F238E27FC236}">
                <a16:creationId xmlns:a16="http://schemas.microsoft.com/office/drawing/2014/main" id="{34E7FB3F-6FDC-95E8-63A0-ABF0CC9F6D44}"/>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F0A2637B-237B-BE2B-C0AA-66161E849D83}"/>
              </a:ext>
            </a:extLst>
          </p:cNvPr>
          <p:cNvSpPr>
            <a:spLocks noGrp="1"/>
          </p:cNvSpPr>
          <p:nvPr>
            <p:ph type="sldNum" sz="quarter" idx="12"/>
          </p:nvPr>
        </p:nvSpPr>
        <p:spPr/>
        <p:txBody>
          <a:bodyPr/>
          <a:lstStyle/>
          <a:p>
            <a:fld id="{0541023B-0DCA-4467-9EB4-7DB5EBA0C709}" type="slidenum">
              <a:rPr lang="en-IN" smtClean="0"/>
              <a:t>2</a:t>
            </a:fld>
            <a:endParaRPr lang="en-IN"/>
          </a:p>
        </p:txBody>
      </p:sp>
      <p:pic>
        <p:nvPicPr>
          <p:cNvPr id="8" name="Picture 7">
            <a:extLst>
              <a:ext uri="{FF2B5EF4-FFF2-40B4-BE49-F238E27FC236}">
                <a16:creationId xmlns:a16="http://schemas.microsoft.com/office/drawing/2014/main" id="{7A431D73-ABB0-4942-5E00-87B85C1B55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8909" y="2012632"/>
            <a:ext cx="2023382" cy="2832735"/>
          </a:xfrm>
          <a:prstGeom prst="ellipse">
            <a:avLst/>
          </a:prstGeom>
          <a:ln w="19050" cap="rnd">
            <a:solidFill>
              <a:schemeClr val="tx1">
                <a:lumMod val="85000"/>
                <a:lumOff val="15000"/>
              </a:schemeClr>
            </a:solidFill>
          </a:ln>
          <a:effectLst>
            <a:outerShdw blurRad="63500" sx="102000" sy="102000" algn="ctr" rotWithShape="0">
              <a:prstClr val="black">
                <a:alpha val="40000"/>
              </a:prst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05033058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FAE03-69DA-3B31-BD06-B1EA9802C7C4}"/>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Dissertation Overview </a:t>
            </a:r>
          </a:p>
        </p:txBody>
      </p:sp>
      <p:sp>
        <p:nvSpPr>
          <p:cNvPr id="4" name="Footer Placeholder 3">
            <a:extLst>
              <a:ext uri="{FF2B5EF4-FFF2-40B4-BE49-F238E27FC236}">
                <a16:creationId xmlns:a16="http://schemas.microsoft.com/office/drawing/2014/main" id="{2B93DFAC-E085-A3B5-BDB7-7A5740A2A0B6}"/>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2ECAC160-D9D1-8FC9-B4E9-30AB6D50F1DB}"/>
              </a:ext>
            </a:extLst>
          </p:cNvPr>
          <p:cNvSpPr>
            <a:spLocks noGrp="1"/>
          </p:cNvSpPr>
          <p:nvPr>
            <p:ph type="sldNum" sz="quarter" idx="12"/>
          </p:nvPr>
        </p:nvSpPr>
        <p:spPr/>
        <p:txBody>
          <a:bodyPr/>
          <a:lstStyle/>
          <a:p>
            <a:fld id="{0541023B-0DCA-4467-9EB4-7DB5EBA0C709}" type="slidenum">
              <a:rPr lang="en-IN" smtClean="0"/>
              <a:t>3</a:t>
            </a:fld>
            <a:endParaRPr lang="en-IN"/>
          </a:p>
        </p:txBody>
      </p:sp>
    </p:spTree>
    <p:extLst>
      <p:ext uri="{BB962C8B-B14F-4D97-AF65-F5344CB8AC3E}">
        <p14:creationId xmlns:p14="http://schemas.microsoft.com/office/powerpoint/2010/main" val="208204452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199BD-1BB0-29B6-AD2B-FE3785CC530B}"/>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Overview</a:t>
            </a:r>
          </a:p>
        </p:txBody>
      </p:sp>
      <p:sp>
        <p:nvSpPr>
          <p:cNvPr id="3" name="Content Placeholder 2">
            <a:extLst>
              <a:ext uri="{FF2B5EF4-FFF2-40B4-BE49-F238E27FC236}">
                <a16:creationId xmlns:a16="http://schemas.microsoft.com/office/drawing/2014/main" id="{53F871EA-953B-E75B-BE40-26BA60860802}"/>
              </a:ext>
            </a:extLst>
          </p:cNvPr>
          <p:cNvSpPr>
            <a:spLocks noGrp="1"/>
          </p:cNvSpPr>
          <p:nvPr>
            <p:ph idx="1"/>
          </p:nvPr>
        </p:nvSpPr>
        <p:spPr/>
        <p:txBody>
          <a:bodyPr>
            <a:normAutofit/>
          </a:bodyPr>
          <a:lstStyle/>
          <a:p>
            <a:pPr>
              <a:buFont typeface="Wingdings" panose="05000000000000000000" pitchFamily="2" charset="2"/>
              <a:buChar char="Ø"/>
            </a:pPr>
            <a:r>
              <a:rPr lang="en-US" sz="1800" dirty="0"/>
              <a:t>This dissertation addresses the critical industrial challenge of limited anomaly and failure data, which hinders robust AI system operation and comprehensive human operator preparedness. </a:t>
            </a:r>
          </a:p>
          <a:p>
            <a:pPr>
              <a:buFont typeface="Wingdings" panose="05000000000000000000" pitchFamily="2" charset="2"/>
              <a:buChar char="Ø"/>
            </a:pPr>
            <a:r>
              <a:rPr lang="en-US" sz="1800" dirty="0"/>
              <a:t>The work proposes to leverage non-Transformer based Generative AI models, specifically Variational Autoencoders (VAEs) for robust anomaly detection from normal data, and Generative Adversarial Networks (GANs) for synthesizing diverse, realistic industrial data. </a:t>
            </a:r>
          </a:p>
          <a:p>
            <a:pPr>
              <a:buFont typeface="Wingdings" panose="05000000000000000000" pitchFamily="2" charset="2"/>
              <a:buChar char="Ø"/>
            </a:pPr>
            <a:r>
              <a:rPr lang="en-US" sz="1800" dirty="0"/>
              <a:t>The ultimate goal is to overcome data scarcity, enable more reliable AI systems, enhance human situational awareness and decision-making, and thus significantly improve human-machine collaboration for industrial efficiency and safety.</a:t>
            </a:r>
            <a:endParaRPr lang="en-IN" sz="1800" dirty="0"/>
          </a:p>
          <a:p>
            <a:endParaRPr lang="en-IN" sz="1800" dirty="0"/>
          </a:p>
        </p:txBody>
      </p:sp>
      <p:sp>
        <p:nvSpPr>
          <p:cNvPr id="4" name="Footer Placeholder 3">
            <a:extLst>
              <a:ext uri="{FF2B5EF4-FFF2-40B4-BE49-F238E27FC236}">
                <a16:creationId xmlns:a16="http://schemas.microsoft.com/office/drawing/2014/main" id="{B0DB5803-9EDB-DDAF-E4AC-E09AE8FC21D9}"/>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667564FE-4DC3-A447-4A44-E5EC7A31AF84}"/>
              </a:ext>
            </a:extLst>
          </p:cNvPr>
          <p:cNvSpPr>
            <a:spLocks noGrp="1"/>
          </p:cNvSpPr>
          <p:nvPr>
            <p:ph type="sldNum" sz="quarter" idx="12"/>
          </p:nvPr>
        </p:nvSpPr>
        <p:spPr/>
        <p:txBody>
          <a:bodyPr/>
          <a:lstStyle/>
          <a:p>
            <a:fld id="{0541023B-0DCA-4467-9EB4-7DB5EBA0C709}" type="slidenum">
              <a:rPr lang="en-IN" smtClean="0"/>
              <a:t>4</a:t>
            </a:fld>
            <a:endParaRPr lang="en-IN"/>
          </a:p>
        </p:txBody>
      </p:sp>
    </p:spTree>
    <p:extLst>
      <p:ext uri="{BB962C8B-B14F-4D97-AF65-F5344CB8AC3E}">
        <p14:creationId xmlns:p14="http://schemas.microsoft.com/office/powerpoint/2010/main" val="403089789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BEE8B-783A-239E-A7CE-B5F6E49AA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E33891-2C42-E3F2-A13C-73FC7DA01838}"/>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Motivation &amp; Benefits</a:t>
            </a:r>
          </a:p>
        </p:txBody>
      </p:sp>
      <p:sp>
        <p:nvSpPr>
          <p:cNvPr id="3" name="Content Placeholder 2">
            <a:extLst>
              <a:ext uri="{FF2B5EF4-FFF2-40B4-BE49-F238E27FC236}">
                <a16:creationId xmlns:a16="http://schemas.microsoft.com/office/drawing/2014/main" id="{214486CD-FAF6-332F-CFFB-5F6033EA61E8}"/>
              </a:ext>
            </a:extLst>
          </p:cNvPr>
          <p:cNvSpPr>
            <a:spLocks noGrp="1"/>
          </p:cNvSpPr>
          <p:nvPr>
            <p:ph idx="1"/>
          </p:nvPr>
        </p:nvSpPr>
        <p:spPr>
          <a:xfrm>
            <a:off x="838200" y="1835899"/>
            <a:ext cx="10515600" cy="4187248"/>
          </a:xfrm>
        </p:spPr>
        <p:txBody>
          <a:bodyPr>
            <a:normAutofit lnSpcReduction="10000"/>
          </a:bodyPr>
          <a:lstStyle/>
          <a:p>
            <a:pPr>
              <a:buFont typeface="Wingdings" panose="05000000000000000000" pitchFamily="2" charset="2"/>
              <a:buChar char="v"/>
            </a:pPr>
            <a:r>
              <a:rPr lang="en-IN" sz="1800" b="1" dirty="0"/>
              <a:t>What is the motivation?</a:t>
            </a:r>
            <a:endParaRPr lang="en-IN" sz="1400" b="1" dirty="0"/>
          </a:p>
          <a:p>
            <a:pPr lvl="1">
              <a:buFont typeface="Wingdings" panose="05000000000000000000" pitchFamily="2" charset="2"/>
              <a:buChar char="ü"/>
            </a:pPr>
            <a:r>
              <a:rPr lang="en-IN" sz="1400" dirty="0"/>
              <a:t>Industrial workflows are often very complex pertaining to the wide variety of intrinsic and extraneous factors.</a:t>
            </a:r>
          </a:p>
          <a:p>
            <a:pPr lvl="1">
              <a:buFont typeface="Wingdings" panose="05000000000000000000" pitchFamily="2" charset="2"/>
              <a:buChar char="ü"/>
            </a:pPr>
            <a:r>
              <a:rPr lang="en-IN" sz="1400" dirty="0"/>
              <a:t>Very difficult to model these complex distributions, therefore, AI systems often fail to provide robust solutions.</a:t>
            </a:r>
          </a:p>
          <a:p>
            <a:pPr marL="457200" lvl="1" indent="0">
              <a:buNone/>
            </a:pPr>
            <a:endParaRPr lang="en-IN" sz="1400" dirty="0"/>
          </a:p>
          <a:p>
            <a:pPr>
              <a:buFont typeface="Wingdings" panose="05000000000000000000" pitchFamily="2" charset="2"/>
              <a:buChar char="v"/>
            </a:pPr>
            <a:r>
              <a:rPr lang="en-IN" sz="1800" b="1" dirty="0"/>
              <a:t>What is the benefit of this work?</a:t>
            </a:r>
          </a:p>
          <a:p>
            <a:pPr lvl="1">
              <a:buFont typeface="Wingdings" panose="05000000000000000000" pitchFamily="2" charset="2"/>
              <a:buChar char="ü"/>
            </a:pPr>
            <a:r>
              <a:rPr lang="en-IN" sz="1400" dirty="0"/>
              <a:t>A comprehensive and comparative study in AI systems for industrial workflow.</a:t>
            </a:r>
          </a:p>
          <a:p>
            <a:pPr lvl="1">
              <a:buFont typeface="Wingdings" panose="05000000000000000000" pitchFamily="2" charset="2"/>
              <a:buChar char="ü"/>
            </a:pPr>
            <a:r>
              <a:rPr lang="en-IN" sz="1400" dirty="0"/>
              <a:t>It will create a premise for addressing the issues in modelling these complex data.</a:t>
            </a:r>
          </a:p>
          <a:p>
            <a:pPr marL="457200" lvl="1" indent="0">
              <a:buNone/>
            </a:pPr>
            <a:endParaRPr lang="en-IN" sz="1400" dirty="0"/>
          </a:p>
          <a:p>
            <a:pPr>
              <a:buFont typeface="Wingdings" panose="05000000000000000000" pitchFamily="2" charset="2"/>
              <a:buChar char="v"/>
            </a:pPr>
            <a:r>
              <a:rPr lang="en-IN" sz="1800" b="1" dirty="0"/>
              <a:t>What are the expected outcome?</a:t>
            </a:r>
          </a:p>
          <a:p>
            <a:pPr lvl="1">
              <a:buFont typeface="Wingdings" panose="05000000000000000000" pitchFamily="2" charset="2"/>
              <a:buChar char="ü"/>
            </a:pPr>
            <a:r>
              <a:rPr lang="en-IN" sz="1400" dirty="0"/>
              <a:t>Robust AI systems which can correctly assess unforeseen circumstances.</a:t>
            </a:r>
          </a:p>
          <a:p>
            <a:pPr lvl="1">
              <a:buFont typeface="Wingdings" panose="05000000000000000000" pitchFamily="2" charset="2"/>
              <a:buChar char="ü"/>
            </a:pPr>
            <a:r>
              <a:rPr lang="en-IN" sz="1400" dirty="0"/>
              <a:t>Harnessing the power of SOTA Generative AI Models to create realistic and diverse synthetic industrial data.</a:t>
            </a:r>
          </a:p>
          <a:p>
            <a:pPr marL="457200" lvl="1" indent="0">
              <a:buNone/>
            </a:pPr>
            <a:endParaRPr lang="en-IN" sz="1400" dirty="0"/>
          </a:p>
          <a:p>
            <a:pPr>
              <a:buFont typeface="Wingdings" panose="05000000000000000000" pitchFamily="2" charset="2"/>
              <a:buChar char="v"/>
            </a:pPr>
            <a:r>
              <a:rPr lang="en-IN" sz="1800" b="1" dirty="0"/>
              <a:t>How it can eventually enhance human-machine collaboration?</a:t>
            </a:r>
            <a:endParaRPr lang="en-IN" sz="1400" b="1" dirty="0"/>
          </a:p>
          <a:p>
            <a:pPr lvl="1">
              <a:buFont typeface="Wingdings" panose="05000000000000000000" pitchFamily="2" charset="2"/>
              <a:buChar char="ü"/>
            </a:pPr>
            <a:r>
              <a:rPr lang="en-IN" sz="1400" dirty="0"/>
              <a:t>Meeting increasing demands to have closed loop systems in the era of Industry 4.0.</a:t>
            </a:r>
          </a:p>
          <a:p>
            <a:pPr lvl="1">
              <a:buFont typeface="Wingdings" panose="05000000000000000000" pitchFamily="2" charset="2"/>
              <a:buChar char="ü"/>
            </a:pPr>
            <a:r>
              <a:rPr lang="en-IN" sz="1400" dirty="0"/>
              <a:t>Foster trust among industrial machinery operators, business personnels and AI systems.</a:t>
            </a:r>
          </a:p>
          <a:p>
            <a:endParaRPr lang="en-IN" sz="1800" dirty="0"/>
          </a:p>
        </p:txBody>
      </p:sp>
      <p:sp>
        <p:nvSpPr>
          <p:cNvPr id="4" name="Footer Placeholder 3">
            <a:extLst>
              <a:ext uri="{FF2B5EF4-FFF2-40B4-BE49-F238E27FC236}">
                <a16:creationId xmlns:a16="http://schemas.microsoft.com/office/drawing/2014/main" id="{EB338188-FBFE-466C-9C4F-A84CDCDE29F1}"/>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2E58ABBA-A0B1-08BF-69EF-3DD36A6EFC2E}"/>
              </a:ext>
            </a:extLst>
          </p:cNvPr>
          <p:cNvSpPr>
            <a:spLocks noGrp="1"/>
          </p:cNvSpPr>
          <p:nvPr>
            <p:ph type="sldNum" sz="quarter" idx="12"/>
          </p:nvPr>
        </p:nvSpPr>
        <p:spPr/>
        <p:txBody>
          <a:bodyPr/>
          <a:lstStyle/>
          <a:p>
            <a:fld id="{0541023B-0DCA-4467-9EB4-7DB5EBA0C709}" type="slidenum">
              <a:rPr lang="en-IN" smtClean="0"/>
              <a:t>5</a:t>
            </a:fld>
            <a:endParaRPr lang="en-IN"/>
          </a:p>
        </p:txBody>
      </p:sp>
    </p:spTree>
    <p:extLst>
      <p:ext uri="{BB962C8B-B14F-4D97-AF65-F5344CB8AC3E}">
        <p14:creationId xmlns:p14="http://schemas.microsoft.com/office/powerpoint/2010/main" val="2392976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5AA1B-7781-B524-ABF4-CFE7CB651C15}"/>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Scope of Work</a:t>
            </a:r>
          </a:p>
        </p:txBody>
      </p:sp>
      <p:sp>
        <p:nvSpPr>
          <p:cNvPr id="3" name="Text Placeholder 2">
            <a:extLst>
              <a:ext uri="{FF2B5EF4-FFF2-40B4-BE49-F238E27FC236}">
                <a16:creationId xmlns:a16="http://schemas.microsoft.com/office/drawing/2014/main" id="{0C64C123-1319-B8AA-09ED-200DCD49A3C9}"/>
              </a:ext>
            </a:extLst>
          </p:cNvPr>
          <p:cNvSpPr>
            <a:spLocks noGrp="1"/>
          </p:cNvSpPr>
          <p:nvPr>
            <p:ph type="body" idx="1"/>
          </p:nvPr>
        </p:nvSpPr>
        <p:spPr/>
        <p:txBody>
          <a:bodyPr/>
          <a:lstStyle/>
          <a:p>
            <a:r>
              <a:rPr lang="en-IN" dirty="0"/>
              <a:t>In-Scope</a:t>
            </a:r>
          </a:p>
        </p:txBody>
      </p:sp>
      <p:sp>
        <p:nvSpPr>
          <p:cNvPr id="4" name="Content Placeholder 3">
            <a:extLst>
              <a:ext uri="{FF2B5EF4-FFF2-40B4-BE49-F238E27FC236}">
                <a16:creationId xmlns:a16="http://schemas.microsoft.com/office/drawing/2014/main" id="{769FCCBB-A59A-0306-B960-88F08180EC1D}"/>
              </a:ext>
            </a:extLst>
          </p:cNvPr>
          <p:cNvSpPr>
            <a:spLocks noGrp="1"/>
          </p:cNvSpPr>
          <p:nvPr>
            <p:ph sz="half" idx="2"/>
          </p:nvPr>
        </p:nvSpPr>
        <p:spPr/>
        <p:txBody>
          <a:bodyPr anchor="t">
            <a:normAutofit/>
          </a:bodyPr>
          <a:lstStyle/>
          <a:p>
            <a:r>
              <a:rPr lang="en-IN" sz="1800" b="1" dirty="0"/>
              <a:t>Generative Models: </a:t>
            </a:r>
            <a:r>
              <a:rPr lang="en-IN" sz="1600" dirty="0"/>
              <a:t>Implementation and experimentation with VAEs and GANs on industrial datasets.</a:t>
            </a:r>
            <a:endParaRPr lang="en-IN" sz="1800" dirty="0"/>
          </a:p>
          <a:p>
            <a:r>
              <a:rPr lang="en-IN" sz="1800" b="1" dirty="0"/>
              <a:t>Anomaly Detection:</a:t>
            </a:r>
            <a:r>
              <a:rPr lang="en-IN" sz="1800" dirty="0"/>
              <a:t> </a:t>
            </a:r>
            <a:r>
              <a:rPr lang="en-IN" sz="1600" dirty="0"/>
              <a:t>Implementation of anomaly detection models and their evaluation.</a:t>
            </a:r>
            <a:endParaRPr lang="en-IN" sz="1800" dirty="0"/>
          </a:p>
          <a:p>
            <a:r>
              <a:rPr lang="en-IN" sz="1800" b="1" dirty="0"/>
              <a:t>Data Generation:</a:t>
            </a:r>
            <a:r>
              <a:rPr lang="en-IN" sz="1800" dirty="0"/>
              <a:t> </a:t>
            </a:r>
            <a:r>
              <a:rPr lang="en-IN" sz="1600" dirty="0"/>
              <a:t>Use generative AI models to generate synthetic faulty data and its evaluation.</a:t>
            </a:r>
            <a:endParaRPr lang="en-IN" sz="1800" dirty="0"/>
          </a:p>
          <a:p>
            <a:r>
              <a:rPr lang="en-IN" sz="1800" b="1" dirty="0"/>
              <a:t>Model Generalization:</a:t>
            </a:r>
            <a:r>
              <a:rPr lang="en-IN" sz="1800" dirty="0"/>
              <a:t> </a:t>
            </a:r>
            <a:r>
              <a:rPr lang="en-IN" sz="1600" dirty="0"/>
              <a:t>Anomaly detection model generalization using synthetically generated data.</a:t>
            </a:r>
            <a:endParaRPr lang="en-IN" sz="1800" dirty="0"/>
          </a:p>
        </p:txBody>
      </p:sp>
      <p:sp>
        <p:nvSpPr>
          <p:cNvPr id="5" name="Text Placeholder 4">
            <a:extLst>
              <a:ext uri="{FF2B5EF4-FFF2-40B4-BE49-F238E27FC236}">
                <a16:creationId xmlns:a16="http://schemas.microsoft.com/office/drawing/2014/main" id="{D5DD39DE-D6FB-4A5D-4897-B2BDDB079967}"/>
              </a:ext>
            </a:extLst>
          </p:cNvPr>
          <p:cNvSpPr>
            <a:spLocks noGrp="1"/>
          </p:cNvSpPr>
          <p:nvPr>
            <p:ph type="body" sz="quarter" idx="3"/>
          </p:nvPr>
        </p:nvSpPr>
        <p:spPr/>
        <p:txBody>
          <a:bodyPr/>
          <a:lstStyle/>
          <a:p>
            <a:r>
              <a:rPr lang="en-IN" dirty="0"/>
              <a:t>Out-of-Scope*</a:t>
            </a:r>
          </a:p>
        </p:txBody>
      </p:sp>
      <p:sp>
        <p:nvSpPr>
          <p:cNvPr id="6" name="Content Placeholder 5">
            <a:extLst>
              <a:ext uri="{FF2B5EF4-FFF2-40B4-BE49-F238E27FC236}">
                <a16:creationId xmlns:a16="http://schemas.microsoft.com/office/drawing/2014/main" id="{E9E154A9-467B-D59D-0DEE-E3C286C86826}"/>
              </a:ext>
            </a:extLst>
          </p:cNvPr>
          <p:cNvSpPr>
            <a:spLocks noGrp="1"/>
          </p:cNvSpPr>
          <p:nvPr>
            <p:ph sz="quarter" idx="4"/>
          </p:nvPr>
        </p:nvSpPr>
        <p:spPr/>
        <p:txBody>
          <a:bodyPr>
            <a:normAutofit/>
          </a:bodyPr>
          <a:lstStyle/>
          <a:p>
            <a:r>
              <a:rPr lang="en-IN" sz="1800" b="1" dirty="0"/>
              <a:t>Transformer based Models:</a:t>
            </a:r>
            <a:r>
              <a:rPr lang="en-IN" sz="1800" dirty="0"/>
              <a:t> </a:t>
            </a:r>
            <a:r>
              <a:rPr lang="en-IN" sz="1600" dirty="0"/>
              <a:t>Implementation and application of Transformer based architectures for human-machine interaction or synthetic data generation.</a:t>
            </a:r>
            <a:endParaRPr lang="en-IN" sz="1800" dirty="0"/>
          </a:p>
          <a:p>
            <a:r>
              <a:rPr lang="en-IN" sz="1800" b="1" dirty="0"/>
              <a:t>Advance HMIs:</a:t>
            </a:r>
            <a:r>
              <a:rPr lang="en-IN" sz="1800" dirty="0"/>
              <a:t> </a:t>
            </a:r>
            <a:r>
              <a:rPr lang="en-IN" sz="1600" dirty="0"/>
              <a:t>Designing and constructing full-scale, highly interactive Human-Machine Interfaces or complete control systems based on model outputs.</a:t>
            </a:r>
            <a:endParaRPr lang="en-IN" sz="1800" dirty="0"/>
          </a:p>
          <a:p>
            <a:endParaRPr lang="en-IN" sz="1800" dirty="0"/>
          </a:p>
        </p:txBody>
      </p:sp>
      <p:sp>
        <p:nvSpPr>
          <p:cNvPr id="7" name="Footer Placeholder 6">
            <a:extLst>
              <a:ext uri="{FF2B5EF4-FFF2-40B4-BE49-F238E27FC236}">
                <a16:creationId xmlns:a16="http://schemas.microsoft.com/office/drawing/2014/main" id="{B41F7F31-9202-FFFE-A445-5D25EB8602D3}"/>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83E95F29-16C1-161A-D773-4543756B55FA}"/>
              </a:ext>
            </a:extLst>
          </p:cNvPr>
          <p:cNvSpPr>
            <a:spLocks noGrp="1"/>
          </p:cNvSpPr>
          <p:nvPr>
            <p:ph type="sldNum" sz="quarter" idx="12"/>
          </p:nvPr>
        </p:nvSpPr>
        <p:spPr/>
        <p:txBody>
          <a:bodyPr/>
          <a:lstStyle/>
          <a:p>
            <a:fld id="{0541023B-0DCA-4467-9EB4-7DB5EBA0C709}" type="slidenum">
              <a:rPr lang="en-IN" smtClean="0"/>
              <a:t>6</a:t>
            </a:fld>
            <a:endParaRPr lang="en-IN"/>
          </a:p>
        </p:txBody>
      </p:sp>
      <p:sp>
        <p:nvSpPr>
          <p:cNvPr id="9" name="TextBox 8">
            <a:extLst>
              <a:ext uri="{FF2B5EF4-FFF2-40B4-BE49-F238E27FC236}">
                <a16:creationId xmlns:a16="http://schemas.microsoft.com/office/drawing/2014/main" id="{1637C614-17E7-EB06-41E8-6AAE26D8D282}"/>
              </a:ext>
            </a:extLst>
          </p:cNvPr>
          <p:cNvSpPr txBox="1"/>
          <p:nvPr/>
        </p:nvSpPr>
        <p:spPr>
          <a:xfrm>
            <a:off x="7777691" y="5719009"/>
            <a:ext cx="3574521" cy="369332"/>
          </a:xfrm>
          <a:prstGeom prst="rect">
            <a:avLst/>
          </a:prstGeom>
          <a:noFill/>
        </p:spPr>
        <p:txBody>
          <a:bodyPr wrap="square" rtlCol="0">
            <a:spAutoFit/>
          </a:bodyPr>
          <a:lstStyle/>
          <a:p>
            <a:pPr algn="r"/>
            <a:r>
              <a:rPr lang="en-IN" sz="900" dirty="0"/>
              <a:t>*The out-of-scope of this dissertation is subject to change depending on the project timeline and new discoveries.</a:t>
            </a:r>
          </a:p>
        </p:txBody>
      </p:sp>
    </p:spTree>
    <p:extLst>
      <p:ext uri="{BB962C8B-B14F-4D97-AF65-F5344CB8AC3E}">
        <p14:creationId xmlns:p14="http://schemas.microsoft.com/office/powerpoint/2010/main" val="108951208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59C36-3E5C-193B-59C8-F701242C1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047A3-BFFF-F591-54B5-9249710A7957}"/>
              </a:ext>
            </a:extLst>
          </p:cNvPr>
          <p:cNvSpPr>
            <a:spLocks noGrp="1"/>
          </p:cNvSpPr>
          <p:nvPr>
            <p:ph type="title"/>
          </p:nvPr>
        </p:nvSpPr>
        <p:spPr/>
        <p:txBody>
          <a:bodyPr/>
          <a:lstStyle/>
          <a:p>
            <a:r>
              <a:rPr lang="en-IN" dirty="0"/>
              <a:t>Concepts At Work</a:t>
            </a:r>
          </a:p>
        </p:txBody>
      </p:sp>
      <p:sp>
        <p:nvSpPr>
          <p:cNvPr id="4" name="Footer Placeholder 3">
            <a:extLst>
              <a:ext uri="{FF2B5EF4-FFF2-40B4-BE49-F238E27FC236}">
                <a16:creationId xmlns:a16="http://schemas.microsoft.com/office/drawing/2014/main" id="{16E4E971-C0BF-F50A-4721-C10E917224AA}"/>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CFAC521E-6A29-354B-A683-92E90943EFE4}"/>
              </a:ext>
            </a:extLst>
          </p:cNvPr>
          <p:cNvSpPr>
            <a:spLocks noGrp="1"/>
          </p:cNvSpPr>
          <p:nvPr>
            <p:ph type="sldNum" sz="quarter" idx="12"/>
          </p:nvPr>
        </p:nvSpPr>
        <p:spPr/>
        <p:txBody>
          <a:bodyPr/>
          <a:lstStyle/>
          <a:p>
            <a:fld id="{0541023B-0DCA-4467-9EB4-7DB5EBA0C709}" type="slidenum">
              <a:rPr lang="en-IN" smtClean="0"/>
              <a:t>7</a:t>
            </a:fld>
            <a:endParaRPr lang="en-IN"/>
          </a:p>
        </p:txBody>
      </p:sp>
    </p:spTree>
    <p:extLst>
      <p:ext uri="{BB962C8B-B14F-4D97-AF65-F5344CB8AC3E}">
        <p14:creationId xmlns:p14="http://schemas.microsoft.com/office/powerpoint/2010/main" val="139775215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96E90-A103-0E76-01A3-341D5C1CB750}"/>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Feature Scaling</a:t>
            </a:r>
            <a:endParaRPr lang="en-IN" dirty="0"/>
          </a:p>
        </p:txBody>
      </p:sp>
      <p:sp>
        <p:nvSpPr>
          <p:cNvPr id="3" name="Text Placeholder 2">
            <a:extLst>
              <a:ext uri="{FF2B5EF4-FFF2-40B4-BE49-F238E27FC236}">
                <a16:creationId xmlns:a16="http://schemas.microsoft.com/office/drawing/2014/main" id="{50859844-9568-6CD8-A3CB-C3E23EEFA734}"/>
              </a:ext>
            </a:extLst>
          </p:cNvPr>
          <p:cNvSpPr>
            <a:spLocks noGrp="1"/>
          </p:cNvSpPr>
          <p:nvPr>
            <p:ph type="body" idx="1"/>
          </p:nvPr>
        </p:nvSpPr>
        <p:spPr/>
        <p:txBody>
          <a:bodyPr/>
          <a:lstStyle/>
          <a:p>
            <a:r>
              <a:rPr lang="en-IN" dirty="0"/>
              <a:t>Min-Max Scaling</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F4BCD417-A13A-D2E1-8983-54305CD39F40}"/>
                  </a:ext>
                </a:extLst>
              </p:cNvPr>
              <p:cNvSpPr>
                <a:spLocks noGrp="1"/>
              </p:cNvSpPr>
              <p:nvPr>
                <p:ph sz="half" idx="2"/>
              </p:nvPr>
            </p:nvSpPr>
            <p:spPr/>
            <p:txBody>
              <a:bodyPr>
                <a:normAutofit/>
              </a:bodyPr>
              <a:lstStyle/>
              <a:p>
                <a:r>
                  <a:rPr lang="en-US" sz="1600" dirty="0"/>
                  <a:t>Min-max scaling adjusts the data to fit within the range [0,1].</a:t>
                </a:r>
              </a:p>
              <a:p>
                <a:pPr marL="0" indent="0">
                  <a:buNone/>
                </a:pPr>
                <a14:m>
                  <m:oMathPara xmlns:m="http://schemas.openxmlformats.org/officeDocument/2006/math">
                    <m:oMathParaPr>
                      <m:jc m:val="centerGroup"/>
                    </m:oMathParaPr>
                    <m:oMath xmlns:m="http://schemas.openxmlformats.org/officeDocument/2006/math">
                      <m:sSup>
                        <m:sSupPr>
                          <m:ctrlPr>
                            <a:rPr lang="en-IN" sz="1600" b="0" i="1" smtClean="0">
                              <a:latin typeface="Cambria Math" panose="02040503050406030204" pitchFamily="18" charset="0"/>
                            </a:rPr>
                          </m:ctrlPr>
                        </m:sSupPr>
                        <m:e>
                          <m:r>
                            <a:rPr lang="en-IN" sz="1600" b="0" i="1" smtClean="0">
                              <a:latin typeface="Cambria Math" panose="02040503050406030204" pitchFamily="18" charset="0"/>
                            </a:rPr>
                            <m:t>𝑥</m:t>
                          </m:r>
                        </m:e>
                        <m:sup>
                          <m:r>
                            <a:rPr lang="en-IN" sz="1600" b="0" i="1" smtClean="0">
                              <a:latin typeface="Cambria Math" panose="02040503050406030204" pitchFamily="18" charset="0"/>
                            </a:rPr>
                            <m:t>′</m:t>
                          </m:r>
                        </m:sup>
                      </m:sSup>
                      <m:r>
                        <a:rPr lang="en-IN" sz="1600" b="0" i="1" smtClean="0">
                          <a:latin typeface="Cambria Math" panose="02040503050406030204" pitchFamily="18" charset="0"/>
                        </a:rPr>
                        <m:t>=</m:t>
                      </m:r>
                      <m:f>
                        <m:fPr>
                          <m:ctrlPr>
                            <a:rPr lang="en-IN" sz="1600" b="0" i="1" smtClean="0">
                              <a:latin typeface="Cambria Math" panose="02040503050406030204" pitchFamily="18" charset="0"/>
                            </a:rPr>
                          </m:ctrlPr>
                        </m:fPr>
                        <m:num>
                          <m:r>
                            <a:rPr lang="en-IN" sz="1600" b="0" i="1" smtClean="0">
                              <a:latin typeface="Cambria Math" panose="02040503050406030204" pitchFamily="18" charset="0"/>
                            </a:rPr>
                            <m:t>𝑥</m:t>
                          </m:r>
                          <m:r>
                            <a:rPr lang="en-IN" sz="1600" b="0" i="1" smtClean="0">
                              <a:latin typeface="Cambria Math" panose="02040503050406030204" pitchFamily="18" charset="0"/>
                            </a:rPr>
                            <m:t>−</m:t>
                          </m:r>
                          <m:func>
                            <m:funcPr>
                              <m:ctrlPr>
                                <a:rPr lang="en-IN" sz="1600" b="0" i="1" smtClean="0">
                                  <a:latin typeface="Cambria Math" panose="02040503050406030204" pitchFamily="18" charset="0"/>
                                </a:rPr>
                              </m:ctrlPr>
                            </m:funcPr>
                            <m:fName>
                              <m:r>
                                <m:rPr>
                                  <m:sty m:val="p"/>
                                </m:rPr>
                                <a:rPr lang="en-IN" sz="1600" b="0" i="0" smtClean="0">
                                  <a:latin typeface="Cambria Math" panose="02040503050406030204" pitchFamily="18" charset="0"/>
                                </a:rPr>
                                <m:t>min</m:t>
                              </m:r>
                            </m:fName>
                            <m:e>
                              <m:d>
                                <m:dPr>
                                  <m:ctrlPr>
                                    <a:rPr lang="en-IN" sz="1600" b="0" i="1" smtClean="0">
                                      <a:latin typeface="Cambria Math" panose="02040503050406030204" pitchFamily="18" charset="0"/>
                                    </a:rPr>
                                  </m:ctrlPr>
                                </m:dPr>
                                <m:e>
                                  <m:r>
                                    <a:rPr lang="en-IN" sz="1600" b="0" i="1" smtClean="0">
                                      <a:latin typeface="Cambria Math" panose="02040503050406030204" pitchFamily="18" charset="0"/>
                                    </a:rPr>
                                    <m:t>𝑥</m:t>
                                  </m:r>
                                </m:e>
                              </m:d>
                            </m:e>
                          </m:func>
                        </m:num>
                        <m:den>
                          <m:func>
                            <m:funcPr>
                              <m:ctrlPr>
                                <a:rPr lang="en-IN" sz="1600" b="0" i="1" smtClean="0">
                                  <a:latin typeface="Cambria Math" panose="02040503050406030204" pitchFamily="18" charset="0"/>
                                </a:rPr>
                              </m:ctrlPr>
                            </m:funcPr>
                            <m:fName>
                              <m:r>
                                <m:rPr>
                                  <m:sty m:val="p"/>
                                </m:rPr>
                                <a:rPr lang="en-IN" sz="1600" b="0" i="0" smtClean="0">
                                  <a:latin typeface="Cambria Math" panose="02040503050406030204" pitchFamily="18" charset="0"/>
                                </a:rPr>
                                <m:t>max</m:t>
                              </m:r>
                            </m:fName>
                            <m:e>
                              <m:d>
                                <m:dPr>
                                  <m:ctrlPr>
                                    <a:rPr lang="en-IN" sz="1600" b="0" i="1" smtClean="0">
                                      <a:latin typeface="Cambria Math" panose="02040503050406030204" pitchFamily="18" charset="0"/>
                                    </a:rPr>
                                  </m:ctrlPr>
                                </m:dPr>
                                <m:e>
                                  <m:r>
                                    <a:rPr lang="en-IN" sz="1600" b="0" i="1" smtClean="0">
                                      <a:latin typeface="Cambria Math" panose="02040503050406030204" pitchFamily="18" charset="0"/>
                                    </a:rPr>
                                    <m:t>𝑥</m:t>
                                  </m:r>
                                </m:e>
                              </m:d>
                            </m:e>
                          </m:func>
                          <m:r>
                            <a:rPr lang="en-IN" sz="1600" b="0" i="1" smtClean="0">
                              <a:latin typeface="Cambria Math" panose="02040503050406030204" pitchFamily="18" charset="0"/>
                            </a:rPr>
                            <m:t>−</m:t>
                          </m:r>
                          <m:func>
                            <m:funcPr>
                              <m:ctrlPr>
                                <a:rPr lang="en-IN" sz="1600" b="0" i="1" smtClean="0">
                                  <a:latin typeface="Cambria Math" panose="02040503050406030204" pitchFamily="18" charset="0"/>
                                </a:rPr>
                              </m:ctrlPr>
                            </m:funcPr>
                            <m:fName>
                              <m:r>
                                <m:rPr>
                                  <m:sty m:val="p"/>
                                </m:rPr>
                                <a:rPr lang="en-IN" sz="1600" b="0" i="0" smtClean="0">
                                  <a:latin typeface="Cambria Math" panose="02040503050406030204" pitchFamily="18" charset="0"/>
                                </a:rPr>
                                <m:t>min</m:t>
                              </m:r>
                            </m:fName>
                            <m:e>
                              <m:d>
                                <m:dPr>
                                  <m:ctrlPr>
                                    <a:rPr lang="en-IN" sz="1600" b="0" i="1" smtClean="0">
                                      <a:latin typeface="Cambria Math" panose="02040503050406030204" pitchFamily="18" charset="0"/>
                                    </a:rPr>
                                  </m:ctrlPr>
                                </m:dPr>
                                <m:e>
                                  <m:r>
                                    <a:rPr lang="en-IN" sz="1600" b="0" i="1" smtClean="0">
                                      <a:latin typeface="Cambria Math" panose="02040503050406030204" pitchFamily="18" charset="0"/>
                                    </a:rPr>
                                    <m:t>𝑥</m:t>
                                  </m:r>
                                </m:e>
                              </m:d>
                            </m:e>
                          </m:func>
                        </m:den>
                      </m:f>
                    </m:oMath>
                  </m:oMathPara>
                </a14:m>
                <a:endParaRPr lang="en-IN" sz="1600" b="0" dirty="0"/>
              </a:p>
              <a:p>
                <a:endParaRPr lang="en-US" sz="1600" dirty="0"/>
              </a:p>
              <a:p>
                <a:r>
                  <a:rPr lang="en-US" sz="1600" dirty="0"/>
                  <a:t>To reverse the transformation, the minimum and maximum values of the original data must be recorded.</a:t>
                </a:r>
              </a:p>
              <a:p>
                <a:pPr marL="0" indent="0">
                  <a:buNone/>
                </a:pPr>
                <a:endParaRPr lang="en-IN" sz="16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600" b="0" i="1" smtClean="0">
                          <a:latin typeface="Cambria Math" panose="02040503050406030204" pitchFamily="18" charset="0"/>
                        </a:rPr>
                        <m:t>𝑥</m:t>
                      </m:r>
                      <m:r>
                        <a:rPr lang="en-IN" sz="1600" b="0" i="1" smtClean="0">
                          <a:latin typeface="Cambria Math" panose="02040503050406030204" pitchFamily="18" charset="0"/>
                        </a:rPr>
                        <m:t>=</m:t>
                      </m:r>
                      <m:sSup>
                        <m:sSupPr>
                          <m:ctrlPr>
                            <a:rPr lang="en-IN" sz="1600" b="0" i="1" smtClean="0">
                              <a:latin typeface="Cambria Math" panose="02040503050406030204" pitchFamily="18" charset="0"/>
                            </a:rPr>
                          </m:ctrlPr>
                        </m:sSupPr>
                        <m:e>
                          <m:r>
                            <a:rPr lang="en-IN" sz="1600" b="0" i="1" smtClean="0">
                              <a:latin typeface="Cambria Math" panose="02040503050406030204" pitchFamily="18" charset="0"/>
                            </a:rPr>
                            <m:t>𝑥</m:t>
                          </m:r>
                        </m:e>
                        <m:sup>
                          <m:r>
                            <a:rPr lang="en-IN" sz="1600" b="0" i="1" smtClean="0">
                              <a:latin typeface="Cambria Math" panose="02040503050406030204" pitchFamily="18" charset="0"/>
                            </a:rPr>
                            <m:t>′</m:t>
                          </m:r>
                        </m:sup>
                      </m:sSup>
                      <m:d>
                        <m:dPr>
                          <m:ctrlPr>
                            <a:rPr lang="en-IN" sz="1600" b="0" i="1" smtClean="0">
                              <a:latin typeface="Cambria Math" panose="02040503050406030204" pitchFamily="18" charset="0"/>
                            </a:rPr>
                          </m:ctrlPr>
                        </m:dPr>
                        <m:e>
                          <m:func>
                            <m:funcPr>
                              <m:ctrlPr>
                                <a:rPr lang="en-IN" sz="1600" b="0" i="1" smtClean="0">
                                  <a:latin typeface="Cambria Math" panose="02040503050406030204" pitchFamily="18" charset="0"/>
                                </a:rPr>
                              </m:ctrlPr>
                            </m:funcPr>
                            <m:fName>
                              <m:r>
                                <m:rPr>
                                  <m:sty m:val="p"/>
                                </m:rPr>
                                <a:rPr lang="en-IN" sz="1600" b="0" i="0" smtClean="0">
                                  <a:latin typeface="Cambria Math" panose="02040503050406030204" pitchFamily="18" charset="0"/>
                                </a:rPr>
                                <m:t>max</m:t>
                              </m:r>
                            </m:fName>
                            <m:e>
                              <m:d>
                                <m:dPr>
                                  <m:ctrlPr>
                                    <a:rPr lang="en-IN" sz="1600" b="0" i="1" smtClean="0">
                                      <a:latin typeface="Cambria Math" panose="02040503050406030204" pitchFamily="18" charset="0"/>
                                    </a:rPr>
                                  </m:ctrlPr>
                                </m:dPr>
                                <m:e>
                                  <m:r>
                                    <a:rPr lang="en-IN" sz="1600" b="0" i="1" smtClean="0">
                                      <a:latin typeface="Cambria Math" panose="02040503050406030204" pitchFamily="18" charset="0"/>
                                    </a:rPr>
                                    <m:t>𝑥</m:t>
                                  </m:r>
                                </m:e>
                              </m:d>
                            </m:e>
                          </m:func>
                          <m:r>
                            <a:rPr lang="en-IN" sz="1600" b="0" i="1" smtClean="0">
                              <a:latin typeface="Cambria Math" panose="02040503050406030204" pitchFamily="18" charset="0"/>
                            </a:rPr>
                            <m:t>−</m:t>
                          </m:r>
                          <m:func>
                            <m:funcPr>
                              <m:ctrlPr>
                                <a:rPr lang="en-IN" sz="1600" b="0" i="1" smtClean="0">
                                  <a:latin typeface="Cambria Math" panose="02040503050406030204" pitchFamily="18" charset="0"/>
                                </a:rPr>
                              </m:ctrlPr>
                            </m:funcPr>
                            <m:fName>
                              <m:r>
                                <m:rPr>
                                  <m:sty m:val="p"/>
                                </m:rPr>
                                <a:rPr lang="en-IN" sz="1600" b="0" i="0" smtClean="0">
                                  <a:latin typeface="Cambria Math" panose="02040503050406030204" pitchFamily="18" charset="0"/>
                                </a:rPr>
                                <m:t>min</m:t>
                              </m:r>
                            </m:fName>
                            <m:e>
                              <m:d>
                                <m:dPr>
                                  <m:ctrlPr>
                                    <a:rPr lang="en-IN" sz="1600" b="0" i="1" smtClean="0">
                                      <a:latin typeface="Cambria Math" panose="02040503050406030204" pitchFamily="18" charset="0"/>
                                    </a:rPr>
                                  </m:ctrlPr>
                                </m:dPr>
                                <m:e>
                                  <m:r>
                                    <a:rPr lang="en-IN" sz="1600" b="0" i="1" smtClean="0">
                                      <a:latin typeface="Cambria Math" panose="02040503050406030204" pitchFamily="18" charset="0"/>
                                    </a:rPr>
                                    <m:t>𝑥</m:t>
                                  </m:r>
                                </m:e>
                              </m:d>
                            </m:e>
                          </m:func>
                        </m:e>
                      </m:d>
                      <m:r>
                        <a:rPr lang="en-IN" sz="1600" b="0" i="1" smtClean="0">
                          <a:latin typeface="Cambria Math" panose="02040503050406030204" pitchFamily="18" charset="0"/>
                        </a:rPr>
                        <m:t>+</m:t>
                      </m:r>
                      <m:func>
                        <m:funcPr>
                          <m:ctrlPr>
                            <a:rPr lang="en-IN" sz="1600" b="0" i="1" smtClean="0">
                              <a:latin typeface="Cambria Math" panose="02040503050406030204" pitchFamily="18" charset="0"/>
                            </a:rPr>
                          </m:ctrlPr>
                        </m:funcPr>
                        <m:fName>
                          <m:r>
                            <m:rPr>
                              <m:sty m:val="p"/>
                            </m:rPr>
                            <a:rPr lang="en-IN" sz="1600" b="0" i="0" smtClean="0">
                              <a:latin typeface="Cambria Math" panose="02040503050406030204" pitchFamily="18" charset="0"/>
                            </a:rPr>
                            <m:t>min</m:t>
                          </m:r>
                        </m:fName>
                        <m:e>
                          <m:d>
                            <m:dPr>
                              <m:ctrlPr>
                                <a:rPr lang="en-IN" sz="1600" b="0" i="1" smtClean="0">
                                  <a:latin typeface="Cambria Math" panose="02040503050406030204" pitchFamily="18" charset="0"/>
                                </a:rPr>
                              </m:ctrlPr>
                            </m:dPr>
                            <m:e>
                              <m:r>
                                <a:rPr lang="en-IN" sz="1600" b="0" i="1" smtClean="0">
                                  <a:latin typeface="Cambria Math" panose="02040503050406030204" pitchFamily="18" charset="0"/>
                                </a:rPr>
                                <m:t>𝑥</m:t>
                              </m:r>
                            </m:e>
                          </m:d>
                        </m:e>
                      </m:func>
                    </m:oMath>
                  </m:oMathPara>
                </a14:m>
                <a:endParaRPr lang="en-IN" sz="1600" b="0" dirty="0"/>
              </a:p>
              <a:p>
                <a:endParaRPr lang="en-US" sz="1600" dirty="0"/>
              </a:p>
            </p:txBody>
          </p:sp>
        </mc:Choice>
        <mc:Fallback>
          <p:sp>
            <p:nvSpPr>
              <p:cNvPr id="4" name="Content Placeholder 3">
                <a:extLst>
                  <a:ext uri="{FF2B5EF4-FFF2-40B4-BE49-F238E27FC236}">
                    <a16:creationId xmlns:a16="http://schemas.microsoft.com/office/drawing/2014/main" id="{F4BCD417-A13A-D2E1-8983-54305CD39F40}"/>
                  </a:ext>
                </a:extLst>
              </p:cNvPr>
              <p:cNvSpPr>
                <a:spLocks noGrp="1" noRot="1" noChangeAspect="1" noMove="1" noResize="1" noEditPoints="1" noAdjustHandles="1" noChangeArrowheads="1" noChangeShapeType="1" noTextEdit="1"/>
              </p:cNvSpPr>
              <p:nvPr>
                <p:ph sz="half" idx="2"/>
              </p:nvPr>
            </p:nvSpPr>
            <p:spPr>
              <a:blipFill>
                <a:blip r:embed="rId3"/>
                <a:stretch>
                  <a:fillRect l="-473" t="-1159"/>
                </a:stretch>
              </a:blipFill>
            </p:spPr>
            <p:txBody>
              <a:bodyPr/>
              <a:lstStyle/>
              <a:p>
                <a:r>
                  <a:rPr lang="en-IN">
                    <a:noFill/>
                  </a:rPr>
                  <a:t> </a:t>
                </a:r>
              </a:p>
            </p:txBody>
          </p:sp>
        </mc:Fallback>
      </mc:AlternateContent>
      <p:sp>
        <p:nvSpPr>
          <p:cNvPr id="5" name="Text Placeholder 4">
            <a:extLst>
              <a:ext uri="{FF2B5EF4-FFF2-40B4-BE49-F238E27FC236}">
                <a16:creationId xmlns:a16="http://schemas.microsoft.com/office/drawing/2014/main" id="{EDBDC017-2772-C964-4525-B3198470B4C1}"/>
              </a:ext>
            </a:extLst>
          </p:cNvPr>
          <p:cNvSpPr>
            <a:spLocks noGrp="1"/>
          </p:cNvSpPr>
          <p:nvPr>
            <p:ph type="body" sz="quarter" idx="3"/>
          </p:nvPr>
        </p:nvSpPr>
        <p:spPr/>
        <p:txBody>
          <a:bodyPr/>
          <a:lstStyle/>
          <a:p>
            <a:r>
              <a:rPr lang="en-IN" dirty="0"/>
              <a:t>Z-Score Scaling</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F138BB56-F3E6-4A31-99A4-5DF9E5370A14}"/>
                  </a:ext>
                </a:extLst>
              </p:cNvPr>
              <p:cNvSpPr>
                <a:spLocks noGrp="1"/>
              </p:cNvSpPr>
              <p:nvPr>
                <p:ph sz="quarter" idx="4"/>
              </p:nvPr>
            </p:nvSpPr>
            <p:spPr/>
            <p:txBody>
              <a:bodyPr>
                <a:noAutofit/>
              </a:bodyPr>
              <a:lstStyle/>
              <a:p>
                <a:r>
                  <a:rPr lang="en-US" sz="1600" dirty="0"/>
                  <a:t>Z-score scaling is a transformation that standardizes the data by centering it around the mean (µ) and scaling it based on the standard deviation (σ).</a:t>
                </a:r>
              </a:p>
              <a:p>
                <a:r>
                  <a:rPr lang="en-US" sz="1600" dirty="0"/>
                  <a:t>After applying this transformation, the mean of the scaled data becomes 0, and the standard deviation becomes 1.</a:t>
                </a:r>
              </a:p>
              <a:p>
                <a:pPr marL="0" indent="0">
                  <a:buNone/>
                </a:pPr>
                <a14:m>
                  <m:oMathPara xmlns:m="http://schemas.openxmlformats.org/officeDocument/2006/math">
                    <m:oMathParaPr>
                      <m:jc m:val="centerGroup"/>
                    </m:oMathParaPr>
                    <m:oMath xmlns:m="http://schemas.openxmlformats.org/officeDocument/2006/math">
                      <m:sSup>
                        <m:sSupPr>
                          <m:ctrlPr>
                            <a:rPr lang="en-IN" sz="1600" b="0" i="1" smtClean="0">
                              <a:latin typeface="Cambria Math" panose="02040503050406030204" pitchFamily="18" charset="0"/>
                            </a:rPr>
                          </m:ctrlPr>
                        </m:sSupPr>
                        <m:e>
                          <m:r>
                            <a:rPr lang="en-IN" sz="1600" b="0" i="1" smtClean="0">
                              <a:latin typeface="Cambria Math" panose="02040503050406030204" pitchFamily="18" charset="0"/>
                            </a:rPr>
                            <m:t>𝑥</m:t>
                          </m:r>
                        </m:e>
                        <m:sup>
                          <m:r>
                            <a:rPr lang="en-IN" sz="1600" b="0" i="1" smtClean="0">
                              <a:latin typeface="Cambria Math" panose="02040503050406030204" pitchFamily="18" charset="0"/>
                            </a:rPr>
                            <m:t>′</m:t>
                          </m:r>
                        </m:sup>
                      </m:sSup>
                      <m:r>
                        <a:rPr lang="en-IN" sz="1600" b="0" i="1" smtClean="0">
                          <a:latin typeface="Cambria Math" panose="02040503050406030204" pitchFamily="18" charset="0"/>
                        </a:rPr>
                        <m:t>=</m:t>
                      </m:r>
                      <m:f>
                        <m:fPr>
                          <m:ctrlPr>
                            <a:rPr lang="en-IN" sz="1600" b="0" i="1" smtClean="0">
                              <a:latin typeface="Cambria Math" panose="02040503050406030204" pitchFamily="18" charset="0"/>
                            </a:rPr>
                          </m:ctrlPr>
                        </m:fPr>
                        <m:num>
                          <m:r>
                            <a:rPr lang="en-IN" sz="1600" b="0" i="1" smtClean="0">
                              <a:latin typeface="Cambria Math" panose="02040503050406030204" pitchFamily="18" charset="0"/>
                            </a:rPr>
                            <m:t>𝑥</m:t>
                          </m:r>
                          <m:r>
                            <a:rPr lang="en-IN" sz="1600" b="0" i="1" smtClean="0">
                              <a:latin typeface="Cambria Math" panose="02040503050406030204" pitchFamily="18" charset="0"/>
                            </a:rPr>
                            <m:t>−µ</m:t>
                          </m:r>
                        </m:num>
                        <m:den>
                          <m:r>
                            <m:rPr>
                              <m:nor/>
                            </m:rPr>
                            <a:rPr lang="en-US" sz="1600" dirty="0"/>
                            <m:t>σ</m:t>
                          </m:r>
                        </m:den>
                      </m:f>
                    </m:oMath>
                  </m:oMathPara>
                </a14:m>
                <a:endParaRPr lang="en-IN" sz="1600" dirty="0"/>
              </a:p>
              <a:p>
                <a14:m>
                  <m:oMath xmlns:m="http://schemas.openxmlformats.org/officeDocument/2006/math">
                    <m:r>
                      <a:rPr lang="en-IN" sz="1600" b="0" i="1" smtClean="0">
                        <a:latin typeface="Cambria Math" panose="02040503050406030204" pitchFamily="18" charset="0"/>
                      </a:rPr>
                      <m:t>𝑠𝑖𝑔𝑚𝑎</m:t>
                    </m:r>
                  </m:oMath>
                </a14:m>
                <a:endParaRPr lang="en-IN" sz="1600" dirty="0"/>
              </a:p>
              <a:p>
                <a:r>
                  <a:rPr lang="en-US" sz="1600" dirty="0"/>
                  <a:t>To reverse the transformation, the mean and standard deviation of the original data must be recorded.</a:t>
                </a:r>
              </a:p>
              <a:p>
                <a:pPr marL="0" indent="0">
                  <a:buNone/>
                </a:pPr>
                <a:endParaRPr lang="en-IN" sz="18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800" b="0" i="1" smtClean="0">
                          <a:latin typeface="Cambria Math" panose="02040503050406030204" pitchFamily="18" charset="0"/>
                        </a:rPr>
                        <m:t>𝑥</m:t>
                      </m:r>
                      <m:r>
                        <a:rPr lang="en-IN" sz="1800" b="0" i="1" smtClean="0">
                          <a:latin typeface="Cambria Math" panose="02040503050406030204" pitchFamily="18" charset="0"/>
                        </a:rPr>
                        <m:t>=</m:t>
                      </m:r>
                      <m:r>
                        <a:rPr lang="en-IN" sz="1800" b="0" i="1" smtClean="0">
                          <a:latin typeface="Cambria Math" panose="02040503050406030204" pitchFamily="18" charset="0"/>
                        </a:rPr>
                        <m:t>𝑥</m:t>
                      </m:r>
                      <m:r>
                        <a:rPr lang="en-IN" sz="1800" b="0" i="1" smtClean="0">
                          <a:latin typeface="Cambria Math" panose="02040503050406030204" pitchFamily="18" charset="0"/>
                        </a:rPr>
                        <m:t>′</m:t>
                      </m:r>
                      <m:r>
                        <m:rPr>
                          <m:nor/>
                        </m:rPr>
                        <a:rPr lang="en-US" sz="1800" dirty="0"/>
                        <m:t>σ</m:t>
                      </m:r>
                      <m:r>
                        <a:rPr lang="en-IN" sz="1800" b="0" i="1" dirty="0" smtClean="0">
                          <a:latin typeface="Cambria Math" panose="02040503050406030204" pitchFamily="18" charset="0"/>
                        </a:rPr>
                        <m:t>+</m:t>
                      </m:r>
                      <m:r>
                        <m:rPr>
                          <m:nor/>
                        </m:rPr>
                        <a:rPr lang="en-US" sz="1800" dirty="0"/>
                        <m:t>µ</m:t>
                      </m:r>
                    </m:oMath>
                  </m:oMathPara>
                </a14:m>
                <a:endParaRPr lang="en-IN" sz="1800" dirty="0"/>
              </a:p>
              <a:p>
                <a:endParaRPr lang="en-IN" sz="1800" dirty="0"/>
              </a:p>
            </p:txBody>
          </p:sp>
        </mc:Choice>
        <mc:Fallback xmlns="">
          <p:sp>
            <p:nvSpPr>
              <p:cNvPr id="6" name="Content Placeholder 5">
                <a:extLst>
                  <a:ext uri="{FF2B5EF4-FFF2-40B4-BE49-F238E27FC236}">
                    <a16:creationId xmlns:a16="http://schemas.microsoft.com/office/drawing/2014/main" id="{F138BB56-F3E6-4A31-99A4-5DF9E5370A14}"/>
                  </a:ext>
                </a:extLst>
              </p:cNvPr>
              <p:cNvSpPr>
                <a:spLocks noGrp="1" noRot="1" noChangeAspect="1" noMove="1" noResize="1" noEditPoints="1" noAdjustHandles="1" noChangeArrowheads="1" noChangeShapeType="1" noTextEdit="1"/>
              </p:cNvSpPr>
              <p:nvPr>
                <p:ph sz="quarter" idx="4"/>
              </p:nvPr>
            </p:nvSpPr>
            <p:spPr>
              <a:blipFill>
                <a:blip r:embed="rId4"/>
                <a:stretch>
                  <a:fillRect l="-471" t="-1159"/>
                </a:stretch>
              </a:blipFill>
            </p:spPr>
            <p:txBody>
              <a:bodyPr/>
              <a:lstStyle/>
              <a:p>
                <a:r>
                  <a:rPr lang="en-IN">
                    <a:noFill/>
                  </a:rPr>
                  <a:t> </a:t>
                </a:r>
              </a:p>
            </p:txBody>
          </p:sp>
        </mc:Fallback>
      </mc:AlternateContent>
      <p:sp>
        <p:nvSpPr>
          <p:cNvPr id="7" name="Footer Placeholder 6">
            <a:extLst>
              <a:ext uri="{FF2B5EF4-FFF2-40B4-BE49-F238E27FC236}">
                <a16:creationId xmlns:a16="http://schemas.microsoft.com/office/drawing/2014/main" id="{B4CB03D8-9D4A-C0BD-5ED6-6BCAF031950D}"/>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62B8120F-2370-6E36-00E8-5A344FB28467}"/>
              </a:ext>
            </a:extLst>
          </p:cNvPr>
          <p:cNvSpPr>
            <a:spLocks noGrp="1"/>
          </p:cNvSpPr>
          <p:nvPr>
            <p:ph type="sldNum" sz="quarter" idx="12"/>
          </p:nvPr>
        </p:nvSpPr>
        <p:spPr/>
        <p:txBody>
          <a:bodyPr/>
          <a:lstStyle/>
          <a:p>
            <a:fld id="{0541023B-0DCA-4467-9EB4-7DB5EBA0C709}" type="slidenum">
              <a:rPr lang="en-IN" smtClean="0"/>
              <a:t>8</a:t>
            </a:fld>
            <a:endParaRPr lang="en-IN"/>
          </a:p>
        </p:txBody>
      </p:sp>
    </p:spTree>
    <p:extLst>
      <p:ext uri="{BB962C8B-B14F-4D97-AF65-F5344CB8AC3E}">
        <p14:creationId xmlns:p14="http://schemas.microsoft.com/office/powerpoint/2010/main" val="103718772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4674B-FECC-01F4-0FC0-8CC9EB463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E277D-4ACB-E6EA-C0B4-0F804228B0D9}"/>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Performance Metrices</a:t>
            </a:r>
            <a:endParaRPr lang="en-IN" dirty="0"/>
          </a:p>
        </p:txBody>
      </p:sp>
      <p:sp>
        <p:nvSpPr>
          <p:cNvPr id="3" name="Text Placeholder 2">
            <a:extLst>
              <a:ext uri="{FF2B5EF4-FFF2-40B4-BE49-F238E27FC236}">
                <a16:creationId xmlns:a16="http://schemas.microsoft.com/office/drawing/2014/main" id="{6B66170A-1F09-1403-864E-202F6FB7D04B}"/>
              </a:ext>
            </a:extLst>
          </p:cNvPr>
          <p:cNvSpPr>
            <a:spLocks noGrp="1"/>
          </p:cNvSpPr>
          <p:nvPr>
            <p:ph type="body" idx="1"/>
          </p:nvPr>
        </p:nvSpPr>
        <p:spPr/>
        <p:txBody>
          <a:bodyPr/>
          <a:lstStyle/>
          <a:p>
            <a:r>
              <a:rPr lang="en-IN" dirty="0"/>
              <a:t>F</a:t>
            </a:r>
            <a:r>
              <a:rPr lang="el-GR" baseline="-25000" dirty="0"/>
              <a:t>β</a:t>
            </a:r>
            <a:r>
              <a:rPr lang="en-IN" dirty="0"/>
              <a:t> Score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D8CFE2C-42C2-4A63-4D07-E2A471D701AD}"/>
                  </a:ext>
                </a:extLst>
              </p:cNvPr>
              <p:cNvSpPr>
                <a:spLocks noGrp="1"/>
              </p:cNvSpPr>
              <p:nvPr>
                <p:ph sz="half" idx="2"/>
              </p:nvPr>
            </p:nvSpPr>
            <p:spPr/>
            <p:txBody>
              <a:bodyPr>
                <a:noAutofit/>
              </a:bodyPr>
              <a:lstStyle/>
              <a:p>
                <a:r>
                  <a:rPr lang="en-US" sz="1300" dirty="0"/>
                  <a:t>In binary classification tasks the F</a:t>
                </a:r>
                <a:r>
                  <a:rPr lang="en-US" sz="1300" baseline="-25000" dirty="0"/>
                  <a:t>β</a:t>
                </a:r>
                <a:r>
                  <a:rPr lang="en-US" sz="1300" dirty="0"/>
                  <a:t> score is a family of metrics used to evaluate a set of predictions.</a:t>
                </a:r>
              </a:p>
              <a:p>
                <a:r>
                  <a:rPr lang="en-US" sz="1300" b="1" dirty="0"/>
                  <a:t>Prediction Types</a:t>
                </a:r>
                <a:r>
                  <a:rPr lang="en-US" sz="1300" dirty="0"/>
                  <a:t> – True Positives (TP), True Negatives (TN), False Positives (FP) &amp; False Negatives (FN)</a:t>
                </a:r>
              </a:p>
              <a:p>
                <a:r>
                  <a:rPr lang="en-US" sz="1300" b="1" dirty="0"/>
                  <a:t>Recall</a:t>
                </a:r>
                <a:r>
                  <a:rPr lang="en-US" sz="1300" dirty="0"/>
                  <a:t> – quantifies the proportion of actual anomalies correctly identified by the classifier. </a:t>
                </a:r>
              </a:p>
              <a:p>
                <a:r>
                  <a:rPr lang="en-US" sz="1300" b="1" dirty="0"/>
                  <a:t>Precision</a:t>
                </a:r>
                <a:r>
                  <a:rPr lang="en-US" sz="1300" dirty="0"/>
                  <a:t> – measures how many elements classified as anomalies are true anomalies. </a:t>
                </a:r>
              </a:p>
              <a:p>
                <a:r>
                  <a:rPr lang="en-US" sz="1300" b="1" dirty="0"/>
                  <a:t>F</a:t>
                </a:r>
                <a:r>
                  <a:rPr lang="en-US" sz="1300" b="1" baseline="-25000" dirty="0"/>
                  <a:t>β</a:t>
                </a:r>
                <a:r>
                  <a:rPr lang="en-US" sz="1300" b="1" dirty="0"/>
                  <a:t> score</a:t>
                </a:r>
                <a:r>
                  <a:rPr lang="en-US" sz="1300" dirty="0"/>
                  <a:t> – balances recall and precision.</a:t>
                </a:r>
              </a:p>
              <a:p>
                <a:endParaRPr lang="en-IN" sz="13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300" b="0" i="1" smtClean="0">
                          <a:latin typeface="Cambria Math" panose="02040503050406030204" pitchFamily="18" charset="0"/>
                        </a:rPr>
                        <m:t>𝑅𝑒𝑐𝑎𝑙𝑙</m:t>
                      </m:r>
                      <m:r>
                        <a:rPr lang="en-IN" sz="1300" b="0" i="1" smtClean="0">
                          <a:latin typeface="Cambria Math" panose="02040503050406030204" pitchFamily="18" charset="0"/>
                        </a:rPr>
                        <m:t>=</m:t>
                      </m:r>
                      <m:f>
                        <m:fPr>
                          <m:ctrlPr>
                            <a:rPr lang="en-IN" sz="1300" b="0" i="1" smtClean="0">
                              <a:latin typeface="Cambria Math" panose="02040503050406030204" pitchFamily="18" charset="0"/>
                            </a:rPr>
                          </m:ctrlPr>
                        </m:fPr>
                        <m:num>
                          <m:r>
                            <a:rPr lang="en-IN" sz="1300" b="0" i="1" smtClean="0">
                              <a:latin typeface="Cambria Math" panose="02040503050406030204" pitchFamily="18" charset="0"/>
                            </a:rPr>
                            <m:t>𝑇𝑃</m:t>
                          </m:r>
                        </m:num>
                        <m:den>
                          <m:r>
                            <a:rPr lang="en-IN" sz="1300" b="0" i="1" smtClean="0">
                              <a:latin typeface="Cambria Math" panose="02040503050406030204" pitchFamily="18" charset="0"/>
                            </a:rPr>
                            <m:t>𝑇𝑃</m:t>
                          </m:r>
                          <m:r>
                            <a:rPr lang="en-IN" sz="1300" b="0" i="1" smtClean="0">
                              <a:latin typeface="Cambria Math" panose="02040503050406030204" pitchFamily="18" charset="0"/>
                            </a:rPr>
                            <m:t>+</m:t>
                          </m:r>
                          <m:r>
                            <a:rPr lang="en-IN" sz="1300" b="0" i="1" smtClean="0">
                              <a:latin typeface="Cambria Math" panose="02040503050406030204" pitchFamily="18" charset="0"/>
                            </a:rPr>
                            <m:t>𝐹𝑁</m:t>
                          </m:r>
                        </m:den>
                      </m:f>
                      <m:r>
                        <a:rPr lang="en-IN" sz="1300" b="0" i="1" smtClean="0">
                          <a:latin typeface="Cambria Math" panose="02040503050406030204" pitchFamily="18" charset="0"/>
                        </a:rPr>
                        <m:t>             </m:t>
                      </m:r>
                      <m:r>
                        <a:rPr lang="en-IN" sz="1300" b="0" i="1" smtClean="0">
                          <a:latin typeface="Cambria Math" panose="02040503050406030204" pitchFamily="18" charset="0"/>
                        </a:rPr>
                        <m:t>𝑃𝑟𝑒𝑐𝑖𝑠𝑖𝑜𝑛</m:t>
                      </m:r>
                      <m:r>
                        <a:rPr lang="en-IN" sz="1300" b="0" i="1" smtClean="0">
                          <a:latin typeface="Cambria Math" panose="02040503050406030204" pitchFamily="18" charset="0"/>
                        </a:rPr>
                        <m:t>=</m:t>
                      </m:r>
                      <m:f>
                        <m:fPr>
                          <m:ctrlPr>
                            <a:rPr lang="en-IN" sz="1300" b="0" i="1" smtClean="0">
                              <a:latin typeface="Cambria Math" panose="02040503050406030204" pitchFamily="18" charset="0"/>
                            </a:rPr>
                          </m:ctrlPr>
                        </m:fPr>
                        <m:num>
                          <m:r>
                            <a:rPr lang="en-IN" sz="1300" b="0" i="1" smtClean="0">
                              <a:latin typeface="Cambria Math" panose="02040503050406030204" pitchFamily="18" charset="0"/>
                            </a:rPr>
                            <m:t>𝑇𝑃</m:t>
                          </m:r>
                        </m:num>
                        <m:den>
                          <m:r>
                            <a:rPr lang="en-IN" sz="1300" b="0" i="1" smtClean="0">
                              <a:latin typeface="Cambria Math" panose="02040503050406030204" pitchFamily="18" charset="0"/>
                            </a:rPr>
                            <m:t>𝑇𝑃</m:t>
                          </m:r>
                          <m:r>
                            <a:rPr lang="en-IN" sz="1300" b="0" i="1" smtClean="0">
                              <a:latin typeface="Cambria Math" panose="02040503050406030204" pitchFamily="18" charset="0"/>
                            </a:rPr>
                            <m:t>+</m:t>
                          </m:r>
                          <m:r>
                            <a:rPr lang="en-IN" sz="1300" b="0" i="1" smtClean="0">
                              <a:latin typeface="Cambria Math" panose="02040503050406030204" pitchFamily="18" charset="0"/>
                            </a:rPr>
                            <m:t>𝐹𝑃</m:t>
                          </m:r>
                        </m:den>
                      </m:f>
                    </m:oMath>
                  </m:oMathPara>
                </a14:m>
                <a:endParaRPr lang="en-US" sz="1300" dirty="0"/>
              </a:p>
              <a:p>
                <a:endParaRPr lang="en-IN" sz="13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300" b="0" i="1" smtClean="0">
                          <a:latin typeface="Cambria Math" panose="02040503050406030204" pitchFamily="18" charset="0"/>
                        </a:rPr>
                        <m:t>𝐹</m:t>
                      </m:r>
                      <m:r>
                        <m:rPr>
                          <m:sty m:val="p"/>
                        </m:rPr>
                        <a:rPr lang="el-GR" sz="1300" b="0" i="1" baseline="-25000" smtClean="0">
                          <a:latin typeface="Cambria Math" panose="02040503050406030204" pitchFamily="18" charset="0"/>
                        </a:rPr>
                        <m:t>β</m:t>
                      </m:r>
                      <m:r>
                        <a:rPr lang="en-IN" sz="1300" b="0" i="1" smtClean="0">
                          <a:latin typeface="Cambria Math" panose="02040503050406030204" pitchFamily="18" charset="0"/>
                        </a:rPr>
                        <m:t>=</m:t>
                      </m:r>
                      <m:f>
                        <m:fPr>
                          <m:ctrlPr>
                            <a:rPr lang="en-IN" sz="1300" b="0" i="1" smtClean="0">
                              <a:latin typeface="Cambria Math" panose="02040503050406030204" pitchFamily="18" charset="0"/>
                            </a:rPr>
                          </m:ctrlPr>
                        </m:fPr>
                        <m:num>
                          <m:d>
                            <m:dPr>
                              <m:ctrlPr>
                                <a:rPr lang="en-IN" sz="1300" b="0" i="1" smtClean="0">
                                  <a:latin typeface="Cambria Math" panose="02040503050406030204" pitchFamily="18" charset="0"/>
                                </a:rPr>
                              </m:ctrlPr>
                            </m:dPr>
                            <m:e>
                              <m:r>
                                <a:rPr lang="en-IN" sz="1300" b="0" i="1" smtClean="0">
                                  <a:latin typeface="Cambria Math" panose="02040503050406030204" pitchFamily="18" charset="0"/>
                                </a:rPr>
                                <m:t>1+</m:t>
                              </m:r>
                              <m:r>
                                <m:rPr>
                                  <m:sty m:val="p"/>
                                </m:rPr>
                                <a:rPr lang="el-GR" sz="1300" b="0" i="1" smtClean="0">
                                  <a:latin typeface="Cambria Math" panose="02040503050406030204" pitchFamily="18" charset="0"/>
                                </a:rPr>
                                <m:t>β</m:t>
                              </m:r>
                              <m:r>
                                <a:rPr lang="en-IN" sz="1300" b="0" i="1" baseline="30000" smtClean="0">
                                  <a:latin typeface="Cambria Math" panose="02040503050406030204" pitchFamily="18" charset="0"/>
                                </a:rPr>
                                <m:t>2</m:t>
                              </m:r>
                            </m:e>
                          </m:d>
                          <m:d>
                            <m:dPr>
                              <m:ctrlPr>
                                <a:rPr lang="en-IN" sz="1300" b="0" i="1" smtClean="0">
                                  <a:latin typeface="Cambria Math" panose="02040503050406030204" pitchFamily="18" charset="0"/>
                                </a:rPr>
                              </m:ctrlPr>
                            </m:dPr>
                            <m:e>
                              <m:r>
                                <a:rPr lang="en-IN" sz="1300" i="1">
                                  <a:latin typeface="Cambria Math" panose="02040503050406030204" pitchFamily="18" charset="0"/>
                                </a:rPr>
                                <m:t>𝑃𝑟𝑒𝑐𝑖𝑠𝑖𝑜𝑛</m:t>
                              </m:r>
                              <m:r>
                                <a:rPr lang="en-IN" sz="1300" i="1">
                                  <a:latin typeface="Cambria Math" panose="02040503050406030204" pitchFamily="18" charset="0"/>
                                </a:rPr>
                                <m:t>∙</m:t>
                              </m:r>
                              <m:r>
                                <a:rPr lang="en-IN" sz="1300" i="1">
                                  <a:latin typeface="Cambria Math" panose="02040503050406030204" pitchFamily="18" charset="0"/>
                                </a:rPr>
                                <m:t>𝑅𝑒𝑐𝑎𝑙𝑙</m:t>
                              </m:r>
                            </m:e>
                          </m:d>
                        </m:num>
                        <m:den>
                          <m:r>
                            <m:rPr>
                              <m:sty m:val="p"/>
                            </m:rPr>
                            <a:rPr lang="el-GR" sz="1300" b="0" i="1" smtClean="0">
                              <a:latin typeface="Cambria Math" panose="02040503050406030204" pitchFamily="18" charset="0"/>
                            </a:rPr>
                            <m:t>β</m:t>
                          </m:r>
                          <m:r>
                            <a:rPr lang="en-IN" sz="1300" b="0" i="1" baseline="30000" smtClean="0">
                              <a:latin typeface="Cambria Math" panose="02040503050406030204" pitchFamily="18" charset="0"/>
                            </a:rPr>
                            <m:t>2</m:t>
                          </m:r>
                          <m:r>
                            <a:rPr lang="en-IN" sz="1300" b="0" i="1" smtClean="0">
                              <a:latin typeface="Cambria Math" panose="02040503050406030204" pitchFamily="18" charset="0"/>
                            </a:rPr>
                            <m:t>∙</m:t>
                          </m:r>
                          <m:r>
                            <a:rPr lang="en-IN" sz="1300" b="0" i="1" smtClean="0">
                              <a:latin typeface="Cambria Math" panose="02040503050406030204" pitchFamily="18" charset="0"/>
                            </a:rPr>
                            <m:t>𝑃𝑟𝑒𝑐𝑖𝑠𝑖𝑜𝑛</m:t>
                          </m:r>
                          <m:r>
                            <a:rPr lang="en-IN" sz="1300" b="0" i="1" smtClean="0">
                              <a:latin typeface="Cambria Math" panose="02040503050406030204" pitchFamily="18" charset="0"/>
                            </a:rPr>
                            <m:t>+</m:t>
                          </m:r>
                          <m:r>
                            <a:rPr lang="en-IN" sz="1300" b="0" i="1" smtClean="0">
                              <a:latin typeface="Cambria Math" panose="02040503050406030204" pitchFamily="18" charset="0"/>
                            </a:rPr>
                            <m:t>𝑅𝑒𝑐𝑎𝑙𝑙</m:t>
                          </m:r>
                        </m:den>
                      </m:f>
                    </m:oMath>
                  </m:oMathPara>
                </a14:m>
                <a:endParaRPr lang="en-IN" sz="1300" b="0" dirty="0"/>
              </a:p>
              <a:p>
                <a:endParaRPr lang="en-IN" sz="1200" dirty="0"/>
              </a:p>
            </p:txBody>
          </p:sp>
        </mc:Choice>
        <mc:Fallback xmlns="">
          <p:sp>
            <p:nvSpPr>
              <p:cNvPr id="4" name="Content Placeholder 3">
                <a:extLst>
                  <a:ext uri="{FF2B5EF4-FFF2-40B4-BE49-F238E27FC236}">
                    <a16:creationId xmlns:a16="http://schemas.microsoft.com/office/drawing/2014/main" id="{1D8CFE2C-42C2-4A63-4D07-E2A471D701AD}"/>
                  </a:ext>
                </a:extLst>
              </p:cNvPr>
              <p:cNvSpPr>
                <a:spLocks noGrp="1" noRot="1" noChangeAspect="1" noMove="1" noResize="1" noEditPoints="1" noAdjustHandles="1" noChangeArrowheads="1" noChangeShapeType="1" noTextEdit="1"/>
              </p:cNvSpPr>
              <p:nvPr>
                <p:ph sz="half" idx="2"/>
              </p:nvPr>
            </p:nvSpPr>
            <p:spPr>
              <a:blipFill>
                <a:blip r:embed="rId3"/>
                <a:stretch>
                  <a:fillRect l="-118" t="-662"/>
                </a:stretch>
              </a:blipFill>
            </p:spPr>
            <p:txBody>
              <a:bodyPr/>
              <a:lstStyle/>
              <a:p>
                <a:r>
                  <a:rPr lang="en-IN">
                    <a:noFill/>
                  </a:rPr>
                  <a:t> </a:t>
                </a:r>
              </a:p>
            </p:txBody>
          </p:sp>
        </mc:Fallback>
      </mc:AlternateContent>
      <p:sp>
        <p:nvSpPr>
          <p:cNvPr id="5" name="Text Placeholder 4">
            <a:extLst>
              <a:ext uri="{FF2B5EF4-FFF2-40B4-BE49-F238E27FC236}">
                <a16:creationId xmlns:a16="http://schemas.microsoft.com/office/drawing/2014/main" id="{CA79976C-2313-0C07-1BFE-601BEC9070F8}"/>
              </a:ext>
            </a:extLst>
          </p:cNvPr>
          <p:cNvSpPr>
            <a:spLocks noGrp="1"/>
          </p:cNvSpPr>
          <p:nvPr>
            <p:ph type="body" sz="quarter" idx="3"/>
          </p:nvPr>
        </p:nvSpPr>
        <p:spPr/>
        <p:txBody>
          <a:bodyPr/>
          <a:lstStyle/>
          <a:p>
            <a:r>
              <a:rPr lang="en-IN" dirty="0"/>
              <a:t>Reconstruction Metrics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038B642D-7A3D-FEC6-753C-746BDAC6CD15}"/>
                  </a:ext>
                </a:extLst>
              </p:cNvPr>
              <p:cNvSpPr>
                <a:spLocks noGrp="1"/>
              </p:cNvSpPr>
              <p:nvPr>
                <p:ph sz="quarter" idx="4"/>
              </p:nvPr>
            </p:nvSpPr>
            <p:spPr/>
            <p:txBody>
              <a:bodyPr>
                <a:noAutofit/>
              </a:bodyPr>
              <a:lstStyle/>
              <a:p>
                <a:r>
                  <a:rPr lang="en-US" sz="1300" dirty="0"/>
                  <a:t>There are numerous metrics for calculating the difference between a tensor and its reconstruction.</a:t>
                </a:r>
              </a:p>
              <a:p>
                <a:r>
                  <a:rPr lang="en-US" sz="1300" b="1" dirty="0"/>
                  <a:t>Mean Absolute Error</a:t>
                </a:r>
                <a:r>
                  <a:rPr lang="en-US" sz="1300" dirty="0"/>
                  <a:t> – measures the average absolute difference between predicted and true values.</a:t>
                </a:r>
              </a:p>
              <a:p>
                <a:r>
                  <a:rPr lang="en-US" sz="1300" b="1" dirty="0"/>
                  <a:t>Mean Squared Error</a:t>
                </a:r>
                <a:r>
                  <a:rPr lang="en-US" sz="1300" dirty="0"/>
                  <a:t> – calculates the mean square difference between predicted and true values.</a:t>
                </a:r>
                <a:endParaRPr lang="en-IN" sz="1300" dirty="0"/>
              </a:p>
              <a:p>
                <a:r>
                  <a:rPr lang="en-US" sz="1300" b="1" dirty="0"/>
                  <a:t>Mean Absolute Percentage Error</a:t>
                </a:r>
                <a:r>
                  <a:rPr lang="en-US" sz="1300" dirty="0"/>
                  <a:t> – quantifies the percentage difference between predicted and true values.</a:t>
                </a:r>
              </a:p>
              <a:p>
                <a:endParaRPr lang="en-IN" sz="13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300" i="1">
                          <a:latin typeface="Cambria Math" panose="02040503050406030204" pitchFamily="18" charset="0"/>
                        </a:rPr>
                        <m:t>𝑀𝐴𝐸</m:t>
                      </m:r>
                      <m:r>
                        <a:rPr lang="en-IN" sz="1300" i="1">
                          <a:latin typeface="Cambria Math" panose="02040503050406030204" pitchFamily="18" charset="0"/>
                        </a:rPr>
                        <m:t>=</m:t>
                      </m:r>
                      <m:f>
                        <m:fPr>
                          <m:ctrlPr>
                            <a:rPr lang="en-IN" sz="1300" i="1">
                              <a:latin typeface="Cambria Math" panose="02040503050406030204" pitchFamily="18" charset="0"/>
                            </a:rPr>
                          </m:ctrlPr>
                        </m:fPr>
                        <m:num>
                          <m:r>
                            <a:rPr lang="en-IN" sz="1300" i="1">
                              <a:latin typeface="Cambria Math" panose="02040503050406030204" pitchFamily="18" charset="0"/>
                            </a:rPr>
                            <m:t>1</m:t>
                          </m:r>
                        </m:num>
                        <m:den>
                          <m:r>
                            <a:rPr lang="en-IN" sz="1300" i="1">
                              <a:latin typeface="Cambria Math" panose="02040503050406030204" pitchFamily="18" charset="0"/>
                            </a:rPr>
                            <m:t>𝑛</m:t>
                          </m:r>
                        </m:den>
                      </m:f>
                      <m:nary>
                        <m:naryPr>
                          <m:chr m:val="∑"/>
                          <m:ctrlPr>
                            <a:rPr lang="en-IN" sz="1300" i="1">
                              <a:latin typeface="Cambria Math" panose="02040503050406030204" pitchFamily="18" charset="0"/>
                            </a:rPr>
                          </m:ctrlPr>
                        </m:naryPr>
                        <m:sub>
                          <m:r>
                            <m:rPr>
                              <m:brk m:alnAt="23"/>
                            </m:rPr>
                            <a:rPr lang="en-IN" sz="1300" i="1">
                              <a:latin typeface="Cambria Math" panose="02040503050406030204" pitchFamily="18" charset="0"/>
                            </a:rPr>
                            <m:t>𝑖</m:t>
                          </m:r>
                          <m:r>
                            <a:rPr lang="en-IN" sz="1300" i="1">
                              <a:latin typeface="Cambria Math" panose="02040503050406030204" pitchFamily="18" charset="0"/>
                            </a:rPr>
                            <m:t>=1</m:t>
                          </m:r>
                        </m:sub>
                        <m:sup>
                          <m:r>
                            <a:rPr lang="en-IN" sz="1300" i="1">
                              <a:latin typeface="Cambria Math" panose="02040503050406030204" pitchFamily="18" charset="0"/>
                            </a:rPr>
                            <m:t>𝑛</m:t>
                          </m:r>
                        </m:sup>
                        <m:e>
                          <m:r>
                            <a:rPr lang="en-IN" sz="1300" i="1">
                              <a:latin typeface="Cambria Math" panose="02040503050406030204" pitchFamily="18" charset="0"/>
                            </a:rPr>
                            <m:t>|</m:t>
                          </m:r>
                          <m:r>
                            <a:rPr lang="en-IN" sz="1300" i="1">
                              <a:latin typeface="Cambria Math" panose="02040503050406030204" pitchFamily="18" charset="0"/>
                            </a:rPr>
                            <m:t>𝑥𝑖</m:t>
                          </m:r>
                          <m:r>
                            <a:rPr lang="en-IN" sz="1300" i="1">
                              <a:latin typeface="Cambria Math" panose="02040503050406030204" pitchFamily="18" charset="0"/>
                            </a:rPr>
                            <m:t>−</m:t>
                          </m:r>
                          <m:acc>
                            <m:accPr>
                              <m:chr m:val="̂"/>
                              <m:ctrlPr>
                                <a:rPr lang="en-IN" sz="1300" i="1">
                                  <a:latin typeface="Cambria Math" panose="02040503050406030204" pitchFamily="18" charset="0"/>
                                </a:rPr>
                              </m:ctrlPr>
                            </m:accPr>
                            <m:e>
                              <m:r>
                                <a:rPr lang="en-IN" sz="1300" i="1">
                                  <a:latin typeface="Cambria Math" panose="02040503050406030204" pitchFamily="18" charset="0"/>
                                </a:rPr>
                                <m:t>𝑥</m:t>
                              </m:r>
                            </m:e>
                          </m:acc>
                          <m:r>
                            <a:rPr lang="en-IN" sz="1300" i="1" baseline="-25000">
                              <a:latin typeface="Cambria Math" panose="02040503050406030204" pitchFamily="18" charset="0"/>
                            </a:rPr>
                            <m:t>𝑖</m:t>
                          </m:r>
                          <m:r>
                            <a:rPr lang="en-IN" sz="1300" i="1">
                              <a:latin typeface="Cambria Math" panose="02040503050406030204" pitchFamily="18" charset="0"/>
                            </a:rPr>
                            <m:t>|</m:t>
                          </m:r>
                        </m:e>
                      </m:nary>
                      <m:r>
                        <a:rPr lang="en-IN" sz="1300" i="1">
                          <a:latin typeface="Cambria Math" panose="02040503050406030204" pitchFamily="18" charset="0"/>
                        </a:rPr>
                        <m:t>        </m:t>
                      </m:r>
                      <m:r>
                        <a:rPr lang="en-IN" sz="1300" i="1">
                          <a:latin typeface="Cambria Math" panose="02040503050406030204" pitchFamily="18" charset="0"/>
                        </a:rPr>
                        <m:t>𝑀𝑆𝐸</m:t>
                      </m:r>
                      <m:r>
                        <a:rPr lang="en-IN" sz="1300" i="1">
                          <a:latin typeface="Cambria Math" panose="02040503050406030204" pitchFamily="18" charset="0"/>
                        </a:rPr>
                        <m:t>= </m:t>
                      </m:r>
                      <m:f>
                        <m:fPr>
                          <m:ctrlPr>
                            <a:rPr lang="en-IN" sz="1300" i="1">
                              <a:latin typeface="Cambria Math" panose="02040503050406030204" pitchFamily="18" charset="0"/>
                            </a:rPr>
                          </m:ctrlPr>
                        </m:fPr>
                        <m:num>
                          <m:r>
                            <a:rPr lang="en-IN" sz="1300" i="1">
                              <a:latin typeface="Cambria Math" panose="02040503050406030204" pitchFamily="18" charset="0"/>
                            </a:rPr>
                            <m:t>1</m:t>
                          </m:r>
                        </m:num>
                        <m:den>
                          <m:r>
                            <a:rPr lang="en-IN" sz="1300" i="1">
                              <a:latin typeface="Cambria Math" panose="02040503050406030204" pitchFamily="18" charset="0"/>
                            </a:rPr>
                            <m:t>𝑛</m:t>
                          </m:r>
                        </m:den>
                      </m:f>
                      <m:nary>
                        <m:naryPr>
                          <m:chr m:val="∑"/>
                          <m:ctrlPr>
                            <a:rPr lang="en-IN" sz="1300" i="1">
                              <a:latin typeface="Cambria Math" panose="02040503050406030204" pitchFamily="18" charset="0"/>
                            </a:rPr>
                          </m:ctrlPr>
                        </m:naryPr>
                        <m:sub>
                          <m:r>
                            <m:rPr>
                              <m:brk m:alnAt="23"/>
                            </m:rPr>
                            <a:rPr lang="en-IN" sz="1300" i="1">
                              <a:latin typeface="Cambria Math" panose="02040503050406030204" pitchFamily="18" charset="0"/>
                            </a:rPr>
                            <m:t>𝑖</m:t>
                          </m:r>
                          <m:r>
                            <a:rPr lang="en-IN" sz="1300" i="1">
                              <a:latin typeface="Cambria Math" panose="02040503050406030204" pitchFamily="18" charset="0"/>
                            </a:rPr>
                            <m:t>=1</m:t>
                          </m:r>
                        </m:sub>
                        <m:sup>
                          <m:r>
                            <a:rPr lang="en-IN" sz="1300" i="1">
                              <a:latin typeface="Cambria Math" panose="02040503050406030204" pitchFamily="18" charset="0"/>
                            </a:rPr>
                            <m:t>𝑛</m:t>
                          </m:r>
                        </m:sup>
                        <m:e>
                          <m:d>
                            <m:dPr>
                              <m:ctrlPr>
                                <a:rPr lang="en-IN" sz="1300" i="1">
                                  <a:latin typeface="Cambria Math" panose="02040503050406030204" pitchFamily="18" charset="0"/>
                                </a:rPr>
                              </m:ctrlPr>
                            </m:dPr>
                            <m:e>
                              <m:r>
                                <a:rPr lang="en-IN" sz="1300" i="1">
                                  <a:latin typeface="Cambria Math" panose="02040503050406030204" pitchFamily="18" charset="0"/>
                                </a:rPr>
                                <m:t>𝑥</m:t>
                              </m:r>
                              <m:r>
                                <a:rPr lang="en-IN" sz="1300" i="1" baseline="-25000">
                                  <a:latin typeface="Cambria Math" panose="02040503050406030204" pitchFamily="18" charset="0"/>
                                </a:rPr>
                                <m:t>𝑖</m:t>
                              </m:r>
                              <m:r>
                                <a:rPr lang="en-IN" sz="1300" i="1">
                                  <a:latin typeface="Cambria Math" panose="02040503050406030204" pitchFamily="18" charset="0"/>
                                </a:rPr>
                                <m:t>−</m:t>
                              </m:r>
                              <m:acc>
                                <m:accPr>
                                  <m:chr m:val="̂"/>
                                  <m:ctrlPr>
                                    <a:rPr lang="en-IN" sz="1300" i="1">
                                      <a:latin typeface="Cambria Math" panose="02040503050406030204" pitchFamily="18" charset="0"/>
                                    </a:rPr>
                                  </m:ctrlPr>
                                </m:accPr>
                                <m:e>
                                  <m:r>
                                    <a:rPr lang="en-IN" sz="1300" i="1">
                                      <a:latin typeface="Cambria Math" panose="02040503050406030204" pitchFamily="18" charset="0"/>
                                    </a:rPr>
                                    <m:t>𝑥</m:t>
                                  </m:r>
                                  <m:r>
                                    <a:rPr lang="en-IN" sz="1300" i="1" baseline="-25000">
                                      <a:latin typeface="Cambria Math" panose="02040503050406030204" pitchFamily="18" charset="0"/>
                                    </a:rPr>
                                    <m:t>𝑖</m:t>
                                  </m:r>
                                </m:e>
                              </m:acc>
                            </m:e>
                          </m:d>
                          <m:r>
                            <a:rPr lang="en-IN" sz="1300" i="1" baseline="30000">
                              <a:latin typeface="Cambria Math" panose="02040503050406030204" pitchFamily="18" charset="0"/>
                            </a:rPr>
                            <m:t>2</m:t>
                          </m:r>
                        </m:e>
                      </m:nary>
                    </m:oMath>
                  </m:oMathPara>
                </a14:m>
                <a:endParaRPr lang="en-IN" sz="1300" dirty="0"/>
              </a:p>
              <a:p>
                <a:pPr marL="0" indent="0">
                  <a:buNone/>
                </a:pPr>
                <a:endParaRPr lang="en-IN" sz="13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300" b="0" i="1" smtClean="0">
                          <a:latin typeface="Cambria Math" panose="02040503050406030204" pitchFamily="18" charset="0"/>
                        </a:rPr>
                        <m:t>𝑀𝐴𝑃𝐸</m:t>
                      </m:r>
                      <m:r>
                        <a:rPr lang="en-IN" sz="1300" b="0" i="1" smtClean="0">
                          <a:latin typeface="Cambria Math" panose="02040503050406030204" pitchFamily="18" charset="0"/>
                        </a:rPr>
                        <m:t>=100% ×</m:t>
                      </m:r>
                      <m:f>
                        <m:fPr>
                          <m:ctrlPr>
                            <a:rPr lang="en-IN" sz="1300" b="0" i="1" smtClean="0">
                              <a:latin typeface="Cambria Math" panose="02040503050406030204" pitchFamily="18" charset="0"/>
                              <a:ea typeface="Cambria Math" panose="02040503050406030204" pitchFamily="18" charset="0"/>
                            </a:rPr>
                          </m:ctrlPr>
                        </m:fPr>
                        <m:num>
                          <m:r>
                            <a:rPr lang="en-IN" sz="1300" b="0" i="1" smtClean="0">
                              <a:latin typeface="Cambria Math" panose="02040503050406030204" pitchFamily="18" charset="0"/>
                              <a:ea typeface="Cambria Math" panose="02040503050406030204" pitchFamily="18" charset="0"/>
                            </a:rPr>
                            <m:t>1</m:t>
                          </m:r>
                        </m:num>
                        <m:den>
                          <m:r>
                            <a:rPr lang="en-IN" sz="1300" b="0" i="1" smtClean="0">
                              <a:latin typeface="Cambria Math" panose="02040503050406030204" pitchFamily="18" charset="0"/>
                              <a:ea typeface="Cambria Math" panose="02040503050406030204" pitchFamily="18" charset="0"/>
                            </a:rPr>
                            <m:t>𝑛</m:t>
                          </m:r>
                        </m:den>
                      </m:f>
                      <m:nary>
                        <m:naryPr>
                          <m:chr m:val="∑"/>
                          <m:ctrlPr>
                            <a:rPr lang="en-IN" sz="1300" b="0" i="1" smtClean="0">
                              <a:latin typeface="Cambria Math" panose="02040503050406030204" pitchFamily="18" charset="0"/>
                              <a:ea typeface="Cambria Math" panose="02040503050406030204" pitchFamily="18" charset="0"/>
                            </a:rPr>
                          </m:ctrlPr>
                        </m:naryPr>
                        <m:sub>
                          <m:r>
                            <m:rPr>
                              <m:brk m:alnAt="23"/>
                            </m:rPr>
                            <a:rPr lang="en-IN" sz="1300" b="0" i="1" smtClean="0">
                              <a:latin typeface="Cambria Math" panose="02040503050406030204" pitchFamily="18" charset="0"/>
                              <a:ea typeface="Cambria Math" panose="02040503050406030204" pitchFamily="18" charset="0"/>
                            </a:rPr>
                            <m:t>𝑖</m:t>
                          </m:r>
                          <m:r>
                            <a:rPr lang="en-IN" sz="1300" b="0" i="1" smtClean="0">
                              <a:latin typeface="Cambria Math" panose="02040503050406030204" pitchFamily="18" charset="0"/>
                              <a:ea typeface="Cambria Math" panose="02040503050406030204" pitchFamily="18" charset="0"/>
                            </a:rPr>
                            <m:t>=1</m:t>
                          </m:r>
                        </m:sub>
                        <m:sup>
                          <m:r>
                            <a:rPr lang="en-IN" sz="1300" b="0" i="1" smtClean="0">
                              <a:latin typeface="Cambria Math" panose="02040503050406030204" pitchFamily="18" charset="0"/>
                              <a:ea typeface="Cambria Math" panose="02040503050406030204" pitchFamily="18" charset="0"/>
                            </a:rPr>
                            <m:t>𝑛</m:t>
                          </m:r>
                        </m:sup>
                        <m:e>
                          <m:r>
                            <a:rPr lang="en-IN" sz="1300" b="0" i="1" smtClean="0">
                              <a:latin typeface="Cambria Math" panose="02040503050406030204" pitchFamily="18" charset="0"/>
                              <a:ea typeface="Cambria Math" panose="02040503050406030204" pitchFamily="18" charset="0"/>
                            </a:rPr>
                            <m:t>|</m:t>
                          </m:r>
                          <m:f>
                            <m:fPr>
                              <m:ctrlPr>
                                <a:rPr lang="en-IN" sz="1300" b="0" i="1" smtClean="0">
                                  <a:latin typeface="Cambria Math" panose="02040503050406030204" pitchFamily="18" charset="0"/>
                                  <a:ea typeface="Cambria Math" panose="02040503050406030204" pitchFamily="18" charset="0"/>
                                </a:rPr>
                              </m:ctrlPr>
                            </m:fPr>
                            <m:num>
                              <m:r>
                                <a:rPr lang="en-IN" sz="1300" b="0" i="1" smtClean="0">
                                  <a:latin typeface="Cambria Math" panose="02040503050406030204" pitchFamily="18" charset="0"/>
                                  <a:ea typeface="Cambria Math" panose="02040503050406030204" pitchFamily="18" charset="0"/>
                                </a:rPr>
                                <m:t>𝑥</m:t>
                              </m:r>
                              <m:r>
                                <a:rPr lang="en-IN" sz="1300" b="0" i="1" baseline="-25000" smtClean="0">
                                  <a:latin typeface="Cambria Math" panose="02040503050406030204" pitchFamily="18" charset="0"/>
                                  <a:ea typeface="Cambria Math" panose="02040503050406030204" pitchFamily="18" charset="0"/>
                                </a:rPr>
                                <m:t>𝑖</m:t>
                              </m:r>
                              <m:r>
                                <a:rPr lang="en-IN" sz="1300" b="0" i="1" smtClean="0">
                                  <a:latin typeface="Cambria Math" panose="02040503050406030204" pitchFamily="18" charset="0"/>
                                  <a:ea typeface="Cambria Math" panose="02040503050406030204" pitchFamily="18" charset="0"/>
                                </a:rPr>
                                <m:t>−</m:t>
                              </m:r>
                              <m:acc>
                                <m:accPr>
                                  <m:chr m:val="̂"/>
                                  <m:ctrlPr>
                                    <a:rPr lang="en-IN" sz="1300" b="0" i="1" smtClean="0">
                                      <a:latin typeface="Cambria Math" panose="02040503050406030204" pitchFamily="18" charset="0"/>
                                      <a:ea typeface="Cambria Math" panose="02040503050406030204" pitchFamily="18" charset="0"/>
                                    </a:rPr>
                                  </m:ctrlPr>
                                </m:accPr>
                                <m:e>
                                  <m:r>
                                    <a:rPr lang="en-IN" sz="1300" b="0" i="1" smtClean="0">
                                      <a:latin typeface="Cambria Math" panose="02040503050406030204" pitchFamily="18" charset="0"/>
                                      <a:ea typeface="Cambria Math" panose="02040503050406030204" pitchFamily="18" charset="0"/>
                                    </a:rPr>
                                    <m:t>𝑥</m:t>
                                  </m:r>
                                  <m:r>
                                    <a:rPr lang="en-IN" sz="1300" b="0" i="1" baseline="-25000" smtClean="0">
                                      <a:latin typeface="Cambria Math" panose="02040503050406030204" pitchFamily="18" charset="0"/>
                                      <a:ea typeface="Cambria Math" panose="02040503050406030204" pitchFamily="18" charset="0"/>
                                    </a:rPr>
                                    <m:t>𝑖</m:t>
                                  </m:r>
                                </m:e>
                              </m:acc>
                            </m:num>
                            <m:den>
                              <m:r>
                                <a:rPr lang="en-IN" sz="1300" b="0" i="1" smtClean="0">
                                  <a:latin typeface="Cambria Math" panose="02040503050406030204" pitchFamily="18" charset="0"/>
                                </a:rPr>
                                <m:t>𝑥</m:t>
                              </m:r>
                              <m:r>
                                <a:rPr lang="en-IN" sz="1300" b="0" i="1" baseline="-25000" smtClean="0">
                                  <a:latin typeface="Cambria Math" panose="02040503050406030204" pitchFamily="18" charset="0"/>
                                </a:rPr>
                                <m:t>𝑖</m:t>
                              </m:r>
                            </m:den>
                          </m:f>
                          <m:r>
                            <a:rPr lang="en-IN" sz="1300" b="0" i="1" smtClean="0">
                              <a:latin typeface="Cambria Math" panose="02040503050406030204" pitchFamily="18" charset="0"/>
                            </a:rPr>
                            <m:t>|</m:t>
                          </m:r>
                        </m:e>
                      </m:nary>
                    </m:oMath>
                  </m:oMathPara>
                </a14:m>
                <a:endParaRPr lang="en-IN" sz="1300" b="0" dirty="0">
                  <a:ea typeface="Cambria Math" panose="02040503050406030204" pitchFamily="18" charset="0"/>
                </a:endParaRPr>
              </a:p>
            </p:txBody>
          </p:sp>
        </mc:Choice>
        <mc:Fallback xmlns="">
          <p:sp>
            <p:nvSpPr>
              <p:cNvPr id="6" name="Content Placeholder 5">
                <a:extLst>
                  <a:ext uri="{FF2B5EF4-FFF2-40B4-BE49-F238E27FC236}">
                    <a16:creationId xmlns:a16="http://schemas.microsoft.com/office/drawing/2014/main" id="{038B642D-7A3D-FEC6-753C-746BDAC6CD15}"/>
                  </a:ext>
                </a:extLst>
              </p:cNvPr>
              <p:cNvSpPr>
                <a:spLocks noGrp="1" noRot="1" noChangeAspect="1" noMove="1" noResize="1" noEditPoints="1" noAdjustHandles="1" noChangeArrowheads="1" noChangeShapeType="1" noTextEdit="1"/>
              </p:cNvSpPr>
              <p:nvPr>
                <p:ph sz="quarter" idx="4"/>
              </p:nvPr>
            </p:nvSpPr>
            <p:spPr>
              <a:blipFill>
                <a:blip r:embed="rId4"/>
                <a:stretch>
                  <a:fillRect l="-118" t="-662" r="-118" b="-20695"/>
                </a:stretch>
              </a:blipFill>
            </p:spPr>
            <p:txBody>
              <a:bodyPr/>
              <a:lstStyle/>
              <a:p>
                <a:r>
                  <a:rPr lang="en-IN">
                    <a:noFill/>
                  </a:rPr>
                  <a:t> </a:t>
                </a:r>
              </a:p>
            </p:txBody>
          </p:sp>
        </mc:Fallback>
      </mc:AlternateContent>
      <p:sp>
        <p:nvSpPr>
          <p:cNvPr id="7" name="Footer Placeholder 6">
            <a:extLst>
              <a:ext uri="{FF2B5EF4-FFF2-40B4-BE49-F238E27FC236}">
                <a16:creationId xmlns:a16="http://schemas.microsoft.com/office/drawing/2014/main" id="{7E817CF5-30C7-C762-FE92-A0B3B8C58FCB}"/>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B45ADF19-2AB3-E7D9-AD0A-E2E89CD7D36F}"/>
              </a:ext>
            </a:extLst>
          </p:cNvPr>
          <p:cNvSpPr>
            <a:spLocks noGrp="1"/>
          </p:cNvSpPr>
          <p:nvPr>
            <p:ph type="sldNum" sz="quarter" idx="12"/>
          </p:nvPr>
        </p:nvSpPr>
        <p:spPr/>
        <p:txBody>
          <a:bodyPr/>
          <a:lstStyle/>
          <a:p>
            <a:fld id="{0541023B-0DCA-4467-9EB4-7DB5EBA0C709}" type="slidenum">
              <a:rPr lang="en-IN" smtClean="0"/>
              <a:t>9</a:t>
            </a:fld>
            <a:endParaRPr lang="en-IN"/>
          </a:p>
        </p:txBody>
      </p:sp>
    </p:spTree>
    <p:extLst>
      <p:ext uri="{BB962C8B-B14F-4D97-AF65-F5344CB8AC3E}">
        <p14:creationId xmlns:p14="http://schemas.microsoft.com/office/powerpoint/2010/main" val="148860838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1165-8866-9EA4-97D0-89A5FD144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6AF952-6583-87A6-867E-3FB1821918E1}"/>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Performance Metrices (contd.)</a:t>
            </a:r>
            <a:endParaRPr lang="en-IN" dirty="0"/>
          </a:p>
        </p:txBody>
      </p:sp>
      <p:sp>
        <p:nvSpPr>
          <p:cNvPr id="3" name="Text Placeholder 2">
            <a:extLst>
              <a:ext uri="{FF2B5EF4-FFF2-40B4-BE49-F238E27FC236}">
                <a16:creationId xmlns:a16="http://schemas.microsoft.com/office/drawing/2014/main" id="{AF343572-9798-A015-4533-F3455AF1C3F9}"/>
              </a:ext>
            </a:extLst>
          </p:cNvPr>
          <p:cNvSpPr>
            <a:spLocks noGrp="1"/>
          </p:cNvSpPr>
          <p:nvPr>
            <p:ph type="body" idx="1"/>
          </p:nvPr>
        </p:nvSpPr>
        <p:spPr/>
        <p:txBody>
          <a:bodyPr/>
          <a:lstStyle/>
          <a:p>
            <a:r>
              <a:rPr lang="en-IN" dirty="0"/>
              <a:t>ROC-AUC</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06EF340-BBF5-C4C6-654E-13070E5B109A}"/>
                  </a:ext>
                </a:extLst>
              </p:cNvPr>
              <p:cNvSpPr>
                <a:spLocks noGrp="1"/>
              </p:cNvSpPr>
              <p:nvPr>
                <p:ph sz="half" idx="2"/>
              </p:nvPr>
            </p:nvSpPr>
            <p:spPr/>
            <p:txBody>
              <a:bodyPr>
                <a:noAutofit/>
              </a:bodyPr>
              <a:lstStyle/>
              <a:p>
                <a:r>
                  <a:rPr lang="en-US" sz="1600" b="1" dirty="0"/>
                  <a:t>Receiver Operating Characteristic (ROC) curve</a:t>
                </a:r>
                <a:r>
                  <a:rPr lang="en-US" sz="1600" dirty="0"/>
                  <a:t> – A graphical representation of the performance of a binary classification model, displaying the trade-off between the true positive rate (sensitivity) and the false positive rate (1-specificity) for different classification thresholds.</a:t>
                </a:r>
              </a:p>
              <a:p>
                <a:endParaRPr lang="en-IN" sz="16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600" b="0" i="1" smtClean="0">
                          <a:latin typeface="Cambria Math" panose="02040503050406030204" pitchFamily="18" charset="0"/>
                        </a:rPr>
                        <m:t>𝑇𝑃𝑅</m:t>
                      </m:r>
                      <m:r>
                        <a:rPr lang="en-IN" sz="1600" b="0" i="1" smtClean="0">
                          <a:latin typeface="Cambria Math" panose="02040503050406030204" pitchFamily="18" charset="0"/>
                        </a:rPr>
                        <m:t>=</m:t>
                      </m:r>
                      <m:f>
                        <m:fPr>
                          <m:ctrlPr>
                            <a:rPr lang="en-IN" sz="1600" b="0" i="1" smtClean="0">
                              <a:latin typeface="Cambria Math" panose="02040503050406030204" pitchFamily="18" charset="0"/>
                            </a:rPr>
                          </m:ctrlPr>
                        </m:fPr>
                        <m:num>
                          <m:r>
                            <a:rPr lang="en-IN" sz="1600" b="0" i="1" smtClean="0">
                              <a:latin typeface="Cambria Math" panose="02040503050406030204" pitchFamily="18" charset="0"/>
                            </a:rPr>
                            <m:t>𝑇𝑃</m:t>
                          </m:r>
                        </m:num>
                        <m:den>
                          <m:r>
                            <a:rPr lang="en-IN" sz="1600" b="0" i="1" smtClean="0">
                              <a:latin typeface="Cambria Math" panose="02040503050406030204" pitchFamily="18" charset="0"/>
                            </a:rPr>
                            <m:t>𝑇𝑃</m:t>
                          </m:r>
                          <m:r>
                            <a:rPr lang="en-IN" sz="1600" b="0" i="1" smtClean="0">
                              <a:latin typeface="Cambria Math" panose="02040503050406030204" pitchFamily="18" charset="0"/>
                            </a:rPr>
                            <m:t>+</m:t>
                          </m:r>
                          <m:r>
                            <a:rPr lang="en-IN" sz="1600" b="0" i="1" smtClean="0">
                              <a:latin typeface="Cambria Math" panose="02040503050406030204" pitchFamily="18" charset="0"/>
                            </a:rPr>
                            <m:t>𝐹𝑁</m:t>
                          </m:r>
                        </m:den>
                      </m:f>
                    </m:oMath>
                  </m:oMathPara>
                </a14:m>
                <a:endParaRPr lang="en-IN" sz="1600" b="0" dirty="0"/>
              </a:p>
              <a:p>
                <a:pPr marL="0" indent="0">
                  <a:buNone/>
                </a:pPr>
                <a:endParaRPr lang="en-IN" sz="16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600" b="0" i="1" smtClean="0">
                          <a:latin typeface="Cambria Math" panose="02040503050406030204" pitchFamily="18" charset="0"/>
                        </a:rPr>
                        <m:t>𝐹𝑃𝑅</m:t>
                      </m:r>
                      <m:r>
                        <a:rPr lang="en-IN" sz="1600" b="0" i="1" smtClean="0">
                          <a:latin typeface="Cambria Math" panose="02040503050406030204" pitchFamily="18" charset="0"/>
                        </a:rPr>
                        <m:t>=</m:t>
                      </m:r>
                      <m:f>
                        <m:fPr>
                          <m:ctrlPr>
                            <a:rPr lang="en-IN" sz="1600" b="0" i="1" smtClean="0">
                              <a:latin typeface="Cambria Math" panose="02040503050406030204" pitchFamily="18" charset="0"/>
                            </a:rPr>
                          </m:ctrlPr>
                        </m:fPr>
                        <m:num>
                          <m:r>
                            <a:rPr lang="en-IN" sz="1600" b="0" i="1" smtClean="0">
                              <a:latin typeface="Cambria Math" panose="02040503050406030204" pitchFamily="18" charset="0"/>
                            </a:rPr>
                            <m:t>𝐹𝑃</m:t>
                          </m:r>
                        </m:num>
                        <m:den>
                          <m:r>
                            <a:rPr lang="en-IN" sz="1600" b="0" i="1" smtClean="0">
                              <a:latin typeface="Cambria Math" panose="02040503050406030204" pitchFamily="18" charset="0"/>
                            </a:rPr>
                            <m:t>𝐹𝑃</m:t>
                          </m:r>
                          <m:r>
                            <a:rPr lang="en-IN" sz="1600" b="0" i="1" smtClean="0">
                              <a:latin typeface="Cambria Math" panose="02040503050406030204" pitchFamily="18" charset="0"/>
                            </a:rPr>
                            <m:t>+</m:t>
                          </m:r>
                          <m:r>
                            <a:rPr lang="en-IN" sz="1600" b="0" i="1" smtClean="0">
                              <a:latin typeface="Cambria Math" panose="02040503050406030204" pitchFamily="18" charset="0"/>
                            </a:rPr>
                            <m:t>𝑇𝑁</m:t>
                          </m:r>
                        </m:den>
                      </m:f>
                    </m:oMath>
                  </m:oMathPara>
                </a14:m>
                <a:endParaRPr lang="en-IN" sz="1600" b="0" dirty="0"/>
              </a:p>
            </p:txBody>
          </p:sp>
        </mc:Choice>
        <mc:Fallback xmlns="">
          <p:sp>
            <p:nvSpPr>
              <p:cNvPr id="4" name="Content Placeholder 3">
                <a:extLst>
                  <a:ext uri="{FF2B5EF4-FFF2-40B4-BE49-F238E27FC236}">
                    <a16:creationId xmlns:a16="http://schemas.microsoft.com/office/drawing/2014/main" id="{506EF340-BBF5-C4C6-654E-13070E5B109A}"/>
                  </a:ext>
                </a:extLst>
              </p:cNvPr>
              <p:cNvSpPr>
                <a:spLocks noGrp="1" noRot="1" noChangeAspect="1" noMove="1" noResize="1" noEditPoints="1" noAdjustHandles="1" noChangeArrowheads="1" noChangeShapeType="1" noTextEdit="1"/>
              </p:cNvSpPr>
              <p:nvPr>
                <p:ph sz="half" idx="2"/>
              </p:nvPr>
            </p:nvSpPr>
            <p:spPr>
              <a:blipFill>
                <a:blip r:embed="rId3"/>
                <a:stretch>
                  <a:fillRect l="-473" t="-1159" r="-1182"/>
                </a:stretch>
              </a:blipFill>
            </p:spPr>
            <p:txBody>
              <a:bodyPr/>
              <a:lstStyle/>
              <a:p>
                <a:r>
                  <a:rPr lang="en-IN">
                    <a:noFill/>
                  </a:rPr>
                  <a:t> </a:t>
                </a:r>
              </a:p>
            </p:txBody>
          </p:sp>
        </mc:Fallback>
      </mc:AlternateContent>
      <p:sp>
        <p:nvSpPr>
          <p:cNvPr id="5" name="Text Placeholder 4">
            <a:extLst>
              <a:ext uri="{FF2B5EF4-FFF2-40B4-BE49-F238E27FC236}">
                <a16:creationId xmlns:a16="http://schemas.microsoft.com/office/drawing/2014/main" id="{930FFD12-D770-3879-174B-566533D60C2F}"/>
              </a:ext>
            </a:extLst>
          </p:cNvPr>
          <p:cNvSpPr>
            <a:spLocks noGrp="1"/>
          </p:cNvSpPr>
          <p:nvPr>
            <p:ph type="body" sz="quarter" idx="3"/>
          </p:nvPr>
        </p:nvSpPr>
        <p:spPr/>
        <p:txBody>
          <a:bodyPr/>
          <a:lstStyle/>
          <a:p>
            <a:r>
              <a:rPr lang="en-IN" dirty="0"/>
              <a:t>PR-AUC</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AA9B734-0D8F-504C-3475-D6D3809F7DB8}"/>
                  </a:ext>
                </a:extLst>
              </p:cNvPr>
              <p:cNvSpPr>
                <a:spLocks noGrp="1"/>
              </p:cNvSpPr>
              <p:nvPr>
                <p:ph sz="quarter" idx="4"/>
              </p:nvPr>
            </p:nvSpPr>
            <p:spPr/>
            <p:txBody>
              <a:bodyPr>
                <a:noAutofit/>
              </a:bodyPr>
              <a:lstStyle/>
              <a:p>
                <a:r>
                  <a:rPr lang="en-US" sz="1600" b="1" dirty="0"/>
                  <a:t>Precision Recall (PR) curve</a:t>
                </a:r>
                <a:r>
                  <a:rPr lang="en-US" sz="1600" dirty="0"/>
                  <a:t> – A graphical representation of a binary classification model's performance, specifically illustrating the trade-off between precision and recall at different classification thresholds.</a:t>
                </a:r>
              </a:p>
              <a:p>
                <a:endParaRPr lang="en-IN" sz="16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𝑅𝑒𝑐𝑎𝑙𝑙</m:t>
                      </m:r>
                      <m:r>
                        <a:rPr lang="en-IN" sz="1600" i="1">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𝑇𝑃</m:t>
                          </m:r>
                        </m:num>
                        <m:den>
                          <m:r>
                            <a:rPr lang="en-IN" sz="1600" i="1">
                              <a:latin typeface="Cambria Math" panose="02040503050406030204" pitchFamily="18" charset="0"/>
                            </a:rPr>
                            <m:t>𝑇𝑃</m:t>
                          </m:r>
                          <m:r>
                            <a:rPr lang="en-IN" sz="1600" i="1">
                              <a:latin typeface="Cambria Math" panose="02040503050406030204" pitchFamily="18" charset="0"/>
                            </a:rPr>
                            <m:t>+</m:t>
                          </m:r>
                          <m:r>
                            <a:rPr lang="en-IN" sz="1600" i="1">
                              <a:latin typeface="Cambria Math" panose="02040503050406030204" pitchFamily="18" charset="0"/>
                            </a:rPr>
                            <m:t>𝐹𝑁</m:t>
                          </m:r>
                        </m:den>
                      </m:f>
                    </m:oMath>
                  </m:oMathPara>
                </a14:m>
                <a:endParaRPr lang="en-IN" sz="1600" i="1" dirty="0">
                  <a:latin typeface="Cambria Math" panose="02040503050406030204" pitchFamily="18" charset="0"/>
                </a:endParaRPr>
              </a:p>
              <a:p>
                <a:pPr marL="0" indent="0">
                  <a:buNone/>
                </a:pPr>
                <a:endParaRPr lang="en-IN" sz="16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𝑃𝑟𝑒𝑐𝑖𝑠𝑖𝑜𝑛</m:t>
                      </m:r>
                      <m:r>
                        <a:rPr lang="en-IN" sz="1600" i="1">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𝑇𝑃</m:t>
                          </m:r>
                        </m:num>
                        <m:den>
                          <m:r>
                            <a:rPr lang="en-IN" sz="1600" i="1">
                              <a:latin typeface="Cambria Math" panose="02040503050406030204" pitchFamily="18" charset="0"/>
                            </a:rPr>
                            <m:t>𝑇𝑃</m:t>
                          </m:r>
                          <m:r>
                            <a:rPr lang="en-IN" sz="1600" i="1">
                              <a:latin typeface="Cambria Math" panose="02040503050406030204" pitchFamily="18" charset="0"/>
                            </a:rPr>
                            <m:t>+</m:t>
                          </m:r>
                          <m:r>
                            <a:rPr lang="en-IN" sz="1600" i="1">
                              <a:latin typeface="Cambria Math" panose="02040503050406030204" pitchFamily="18" charset="0"/>
                            </a:rPr>
                            <m:t>𝐹𝑃</m:t>
                          </m:r>
                        </m:den>
                      </m:f>
                    </m:oMath>
                  </m:oMathPara>
                </a14:m>
                <a:endParaRPr lang="en-US" sz="1600" dirty="0"/>
              </a:p>
            </p:txBody>
          </p:sp>
        </mc:Choice>
        <mc:Fallback xmlns="">
          <p:sp>
            <p:nvSpPr>
              <p:cNvPr id="6" name="Content Placeholder 5">
                <a:extLst>
                  <a:ext uri="{FF2B5EF4-FFF2-40B4-BE49-F238E27FC236}">
                    <a16:creationId xmlns:a16="http://schemas.microsoft.com/office/drawing/2014/main" id="{7AA9B734-0D8F-504C-3475-D6D3809F7DB8}"/>
                  </a:ext>
                </a:extLst>
              </p:cNvPr>
              <p:cNvSpPr>
                <a:spLocks noGrp="1" noRot="1" noChangeAspect="1" noMove="1" noResize="1" noEditPoints="1" noAdjustHandles="1" noChangeArrowheads="1" noChangeShapeType="1" noTextEdit="1"/>
              </p:cNvSpPr>
              <p:nvPr>
                <p:ph sz="quarter" idx="4"/>
              </p:nvPr>
            </p:nvSpPr>
            <p:spPr>
              <a:blipFill>
                <a:blip r:embed="rId4"/>
                <a:stretch>
                  <a:fillRect l="-471" t="-1159"/>
                </a:stretch>
              </a:blipFill>
            </p:spPr>
            <p:txBody>
              <a:bodyPr/>
              <a:lstStyle/>
              <a:p>
                <a:r>
                  <a:rPr lang="en-IN">
                    <a:noFill/>
                  </a:rPr>
                  <a:t> </a:t>
                </a:r>
              </a:p>
            </p:txBody>
          </p:sp>
        </mc:Fallback>
      </mc:AlternateContent>
      <p:sp>
        <p:nvSpPr>
          <p:cNvPr id="7" name="Footer Placeholder 6">
            <a:extLst>
              <a:ext uri="{FF2B5EF4-FFF2-40B4-BE49-F238E27FC236}">
                <a16:creationId xmlns:a16="http://schemas.microsoft.com/office/drawing/2014/main" id="{CEDB267B-9545-F3CA-AB6F-D7CBAE0831BE}"/>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97C7FE95-9701-A4E3-48E7-F10642FB689B}"/>
              </a:ext>
            </a:extLst>
          </p:cNvPr>
          <p:cNvSpPr>
            <a:spLocks noGrp="1"/>
          </p:cNvSpPr>
          <p:nvPr>
            <p:ph type="sldNum" sz="quarter" idx="12"/>
          </p:nvPr>
        </p:nvSpPr>
        <p:spPr/>
        <p:txBody>
          <a:bodyPr/>
          <a:lstStyle/>
          <a:p>
            <a:fld id="{0541023B-0DCA-4467-9EB4-7DB5EBA0C709}" type="slidenum">
              <a:rPr lang="en-IN" smtClean="0"/>
              <a:t>10</a:t>
            </a:fld>
            <a:endParaRPr lang="en-IN"/>
          </a:p>
        </p:txBody>
      </p:sp>
    </p:spTree>
    <p:extLst>
      <p:ext uri="{BB962C8B-B14F-4D97-AF65-F5344CB8AC3E}">
        <p14:creationId xmlns:p14="http://schemas.microsoft.com/office/powerpoint/2010/main" val="183500257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5DB8D-ACD3-4954-917C-71EE98596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04F80-4862-B9C8-F6A9-8A5C2306396B}"/>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Learning Paradigms</a:t>
            </a:r>
            <a:endParaRPr lang="en-IN" dirty="0"/>
          </a:p>
        </p:txBody>
      </p:sp>
      <p:sp>
        <p:nvSpPr>
          <p:cNvPr id="3" name="Text Placeholder 2">
            <a:extLst>
              <a:ext uri="{FF2B5EF4-FFF2-40B4-BE49-F238E27FC236}">
                <a16:creationId xmlns:a16="http://schemas.microsoft.com/office/drawing/2014/main" id="{17AB62C7-C55A-0954-0D01-151935618F07}"/>
              </a:ext>
            </a:extLst>
          </p:cNvPr>
          <p:cNvSpPr>
            <a:spLocks noGrp="1"/>
          </p:cNvSpPr>
          <p:nvPr>
            <p:ph type="body" idx="1"/>
          </p:nvPr>
        </p:nvSpPr>
        <p:spPr/>
        <p:txBody>
          <a:bodyPr/>
          <a:lstStyle/>
          <a:p>
            <a:r>
              <a:rPr lang="en-IN" dirty="0"/>
              <a:t>Supervised Learning</a:t>
            </a:r>
          </a:p>
        </p:txBody>
      </p:sp>
      <p:sp>
        <p:nvSpPr>
          <p:cNvPr id="4" name="Content Placeholder 3">
            <a:extLst>
              <a:ext uri="{FF2B5EF4-FFF2-40B4-BE49-F238E27FC236}">
                <a16:creationId xmlns:a16="http://schemas.microsoft.com/office/drawing/2014/main" id="{C75450C4-EA0A-B74E-5330-A4258D410624}"/>
              </a:ext>
            </a:extLst>
          </p:cNvPr>
          <p:cNvSpPr>
            <a:spLocks noGrp="1"/>
          </p:cNvSpPr>
          <p:nvPr>
            <p:ph sz="half" idx="2"/>
          </p:nvPr>
        </p:nvSpPr>
        <p:spPr/>
        <p:txBody>
          <a:bodyPr>
            <a:normAutofit/>
          </a:bodyPr>
          <a:lstStyle/>
          <a:p>
            <a:r>
              <a:rPr lang="en-US" sz="1600" dirty="0"/>
              <a:t>Supervised learning is a type of machine learning where the algorithm learns from labelled examples.</a:t>
            </a:r>
          </a:p>
          <a:p>
            <a:r>
              <a:rPr lang="en-US" sz="1600" dirty="0"/>
              <a:t>Supervised models performs regression or classification tasks on new, unseen data. </a:t>
            </a:r>
          </a:p>
          <a:p>
            <a:r>
              <a:rPr lang="en-US" sz="1600" dirty="0"/>
              <a:t>In the context of deep neural networks, it involves training a model using input-output pairs, where the inputs are the features or attributes of the data, and the outputs are the corresponding labels or target values. </a:t>
            </a:r>
          </a:p>
          <a:p>
            <a:r>
              <a:rPr lang="en-US" sz="1600" dirty="0"/>
              <a:t>The goal is to teach a function f(x) that maps the input features to the correct output labels.</a:t>
            </a:r>
            <a:endParaRPr lang="en-IN" sz="1600" dirty="0"/>
          </a:p>
        </p:txBody>
      </p:sp>
      <p:sp>
        <p:nvSpPr>
          <p:cNvPr id="5" name="Text Placeholder 4">
            <a:extLst>
              <a:ext uri="{FF2B5EF4-FFF2-40B4-BE49-F238E27FC236}">
                <a16:creationId xmlns:a16="http://schemas.microsoft.com/office/drawing/2014/main" id="{537DB434-3750-6504-F8E4-1AD49D4EE8E1}"/>
              </a:ext>
            </a:extLst>
          </p:cNvPr>
          <p:cNvSpPr>
            <a:spLocks noGrp="1"/>
          </p:cNvSpPr>
          <p:nvPr>
            <p:ph type="body" sz="quarter" idx="3"/>
          </p:nvPr>
        </p:nvSpPr>
        <p:spPr/>
        <p:txBody>
          <a:bodyPr/>
          <a:lstStyle/>
          <a:p>
            <a:r>
              <a:rPr lang="en-IN" dirty="0"/>
              <a:t>Unsupervised Learning</a:t>
            </a:r>
          </a:p>
        </p:txBody>
      </p:sp>
      <p:sp>
        <p:nvSpPr>
          <p:cNvPr id="6" name="Content Placeholder 5">
            <a:extLst>
              <a:ext uri="{FF2B5EF4-FFF2-40B4-BE49-F238E27FC236}">
                <a16:creationId xmlns:a16="http://schemas.microsoft.com/office/drawing/2014/main" id="{5A9E4DBC-5A72-A64E-25C1-E5AB6B29A017}"/>
              </a:ext>
            </a:extLst>
          </p:cNvPr>
          <p:cNvSpPr>
            <a:spLocks noGrp="1"/>
          </p:cNvSpPr>
          <p:nvPr>
            <p:ph sz="quarter" idx="4"/>
          </p:nvPr>
        </p:nvSpPr>
        <p:spPr/>
        <p:txBody>
          <a:bodyPr>
            <a:noAutofit/>
          </a:bodyPr>
          <a:lstStyle/>
          <a:p>
            <a:r>
              <a:rPr lang="en-US" sz="1600" dirty="0"/>
              <a:t>Unsupervised learning is a type of machine learning where the algorithm learns patterns or structures in the input data without explicit labels or target values.</a:t>
            </a:r>
          </a:p>
          <a:p>
            <a:r>
              <a:rPr lang="en-US" sz="1600" dirty="0"/>
              <a:t>Unlike supervised learning, it does not rely on explicit labels or target values. Instead, it focuses on finding patterns or organizing the data to capture meaningful information without specific guidance.</a:t>
            </a:r>
            <a:endParaRPr lang="en-IN" sz="1600" dirty="0"/>
          </a:p>
          <a:p>
            <a:r>
              <a:rPr lang="en-US" sz="1600" dirty="0"/>
              <a:t>In the context of deep neural networks, it is often used for clustering, dimensionality reduction, or generative modelling tasks.</a:t>
            </a:r>
          </a:p>
          <a:p>
            <a:r>
              <a:rPr lang="en-US" sz="1600" dirty="0"/>
              <a:t>The goal is to discover inherent structures, relationships, or representations within the data.</a:t>
            </a:r>
            <a:endParaRPr lang="en-IN" sz="1600" dirty="0"/>
          </a:p>
          <a:p>
            <a:endParaRPr lang="en-IN" sz="1800" dirty="0"/>
          </a:p>
        </p:txBody>
      </p:sp>
      <p:sp>
        <p:nvSpPr>
          <p:cNvPr id="7" name="Footer Placeholder 6">
            <a:extLst>
              <a:ext uri="{FF2B5EF4-FFF2-40B4-BE49-F238E27FC236}">
                <a16:creationId xmlns:a16="http://schemas.microsoft.com/office/drawing/2014/main" id="{B2A5FBC7-FA14-CC14-5E9F-7A0DDBB94DE3}"/>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B4FB0839-7584-8379-1C4D-C47E700B8395}"/>
              </a:ext>
            </a:extLst>
          </p:cNvPr>
          <p:cNvSpPr>
            <a:spLocks noGrp="1"/>
          </p:cNvSpPr>
          <p:nvPr>
            <p:ph type="sldNum" sz="quarter" idx="12"/>
          </p:nvPr>
        </p:nvSpPr>
        <p:spPr/>
        <p:txBody>
          <a:bodyPr/>
          <a:lstStyle/>
          <a:p>
            <a:fld id="{0541023B-0DCA-4467-9EB4-7DB5EBA0C709}" type="slidenum">
              <a:rPr lang="en-IN" smtClean="0"/>
              <a:t>11</a:t>
            </a:fld>
            <a:endParaRPr lang="en-IN"/>
          </a:p>
        </p:txBody>
      </p:sp>
    </p:spTree>
    <p:extLst>
      <p:ext uri="{BB962C8B-B14F-4D97-AF65-F5344CB8AC3E}">
        <p14:creationId xmlns:p14="http://schemas.microsoft.com/office/powerpoint/2010/main" val="223595660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75740-F06B-F728-39CD-9612E7D2C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EFEF6F-F7B2-6E04-F6CA-C9F77FB0E457}"/>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Dataset</a:t>
            </a:r>
          </a:p>
        </p:txBody>
      </p:sp>
      <p:sp>
        <p:nvSpPr>
          <p:cNvPr id="4" name="Footer Placeholder 3">
            <a:extLst>
              <a:ext uri="{FF2B5EF4-FFF2-40B4-BE49-F238E27FC236}">
                <a16:creationId xmlns:a16="http://schemas.microsoft.com/office/drawing/2014/main" id="{42ADD6A3-39F7-C386-58DA-18A9F456642B}"/>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B77AC351-479C-8CCD-FCED-FD8EC958C159}"/>
              </a:ext>
            </a:extLst>
          </p:cNvPr>
          <p:cNvSpPr>
            <a:spLocks noGrp="1"/>
          </p:cNvSpPr>
          <p:nvPr>
            <p:ph type="sldNum" sz="quarter" idx="12"/>
          </p:nvPr>
        </p:nvSpPr>
        <p:spPr/>
        <p:txBody>
          <a:bodyPr/>
          <a:lstStyle/>
          <a:p>
            <a:fld id="{0541023B-0DCA-4467-9EB4-7DB5EBA0C709}" type="slidenum">
              <a:rPr lang="en-IN" smtClean="0"/>
              <a:t>12</a:t>
            </a:fld>
            <a:endParaRPr lang="en-IN"/>
          </a:p>
        </p:txBody>
      </p:sp>
    </p:spTree>
    <p:extLst>
      <p:ext uri="{BB962C8B-B14F-4D97-AF65-F5344CB8AC3E}">
        <p14:creationId xmlns:p14="http://schemas.microsoft.com/office/powerpoint/2010/main" val="136170769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054BA-C310-9ACF-D047-5BFC62D92433}"/>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Dataset</a:t>
            </a:r>
          </a:p>
        </p:txBody>
      </p:sp>
      <p:sp>
        <p:nvSpPr>
          <p:cNvPr id="3" name="Content Placeholder 2">
            <a:extLst>
              <a:ext uri="{FF2B5EF4-FFF2-40B4-BE49-F238E27FC236}">
                <a16:creationId xmlns:a16="http://schemas.microsoft.com/office/drawing/2014/main" id="{19ADD5D6-3FD0-4059-6B8F-DD11FAB0572D}"/>
              </a:ext>
            </a:extLst>
          </p:cNvPr>
          <p:cNvSpPr>
            <a:spLocks noGrp="1"/>
          </p:cNvSpPr>
          <p:nvPr>
            <p:ph idx="1"/>
          </p:nvPr>
        </p:nvSpPr>
        <p:spPr>
          <a:xfrm>
            <a:off x="838200" y="941561"/>
            <a:ext cx="10515600" cy="1530036"/>
          </a:xfrm>
        </p:spPr>
        <p:txBody>
          <a:bodyPr>
            <a:normAutofit/>
          </a:bodyPr>
          <a:lstStyle/>
          <a:p>
            <a:pPr marL="0" indent="0">
              <a:buNone/>
            </a:pPr>
            <a:r>
              <a:rPr lang="en-IN" sz="2000" b="1" dirty="0"/>
              <a:t>Skoltech Anomaly Benchmark (SKAB)</a:t>
            </a:r>
            <a:r>
              <a:rPr lang="en-IN" sz="2000" dirty="0"/>
              <a:t> </a:t>
            </a:r>
            <a:r>
              <a:rPr lang="en-US" sz="2000" i="1" dirty="0"/>
              <a:t>SKAB is a benchmark designed for evaluating anomaly detection algorithms using time-series data. It contains datasets with collective and point anomalies, which are often rare events in real-world industrial processes. The dataset is multivariate, collected from sensors installed on a testbed.</a:t>
            </a:r>
            <a:r>
              <a:rPr lang="en-US" sz="2000" dirty="0"/>
              <a:t> </a:t>
            </a:r>
          </a:p>
          <a:p>
            <a:pPr marL="457200" lvl="1" indent="0">
              <a:buNone/>
            </a:pPr>
            <a:r>
              <a:rPr lang="en-US" sz="1600" dirty="0">
                <a:hlinkClick r:id="rId3"/>
              </a:rPr>
              <a:t>Download Link</a:t>
            </a:r>
            <a:endParaRPr lang="en-US" sz="1600" dirty="0"/>
          </a:p>
        </p:txBody>
      </p:sp>
      <p:sp>
        <p:nvSpPr>
          <p:cNvPr id="4" name="Footer Placeholder 3">
            <a:extLst>
              <a:ext uri="{FF2B5EF4-FFF2-40B4-BE49-F238E27FC236}">
                <a16:creationId xmlns:a16="http://schemas.microsoft.com/office/drawing/2014/main" id="{4BDE0F0A-25D2-C691-9173-D6FB8A8FE346}"/>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FD96A3D7-F3B0-B70A-5DA0-0BD0BC324C12}"/>
              </a:ext>
            </a:extLst>
          </p:cNvPr>
          <p:cNvSpPr>
            <a:spLocks noGrp="1"/>
          </p:cNvSpPr>
          <p:nvPr>
            <p:ph type="sldNum" sz="quarter" idx="12"/>
          </p:nvPr>
        </p:nvSpPr>
        <p:spPr/>
        <p:txBody>
          <a:bodyPr/>
          <a:lstStyle/>
          <a:p>
            <a:fld id="{0541023B-0DCA-4467-9EB4-7DB5EBA0C709}" type="slidenum">
              <a:rPr lang="en-IN" smtClean="0"/>
              <a:t>13</a:t>
            </a:fld>
            <a:endParaRPr lang="en-IN"/>
          </a:p>
        </p:txBody>
      </p:sp>
      <p:sp>
        <p:nvSpPr>
          <p:cNvPr id="8" name="TextBox 7">
            <a:extLst>
              <a:ext uri="{FF2B5EF4-FFF2-40B4-BE49-F238E27FC236}">
                <a16:creationId xmlns:a16="http://schemas.microsoft.com/office/drawing/2014/main" id="{13D27B52-F034-C5A2-03B0-C457F926DC6C}"/>
              </a:ext>
            </a:extLst>
          </p:cNvPr>
          <p:cNvSpPr txBox="1"/>
          <p:nvPr/>
        </p:nvSpPr>
        <p:spPr>
          <a:xfrm>
            <a:off x="838199" y="2471597"/>
            <a:ext cx="10515601" cy="3416320"/>
          </a:xfrm>
          <a:prstGeom prst="rect">
            <a:avLst/>
          </a:prstGeom>
          <a:noFill/>
        </p:spPr>
        <p:txBody>
          <a:bodyPr wrap="square" rtlCol="0">
            <a:spAutoFit/>
          </a:bodyPr>
          <a:lstStyle/>
          <a:p>
            <a:r>
              <a:rPr lang="en-IN" b="1" u="sng" dirty="0"/>
              <a:t>Column Description</a:t>
            </a:r>
          </a:p>
          <a:p>
            <a:r>
              <a:rPr lang="en-US" dirty="0"/>
              <a:t>• </a:t>
            </a:r>
            <a:r>
              <a:rPr lang="en-US" b="1" dirty="0"/>
              <a:t>datetime :</a:t>
            </a:r>
            <a:r>
              <a:rPr lang="en-US" dirty="0"/>
              <a:t> Dates and times of data points (YYYY-MM-DD hh:mm:ss).</a:t>
            </a:r>
          </a:p>
          <a:p>
            <a:r>
              <a:rPr lang="en-US" dirty="0"/>
              <a:t>• </a:t>
            </a:r>
            <a:r>
              <a:rPr lang="en-US" b="1" dirty="0"/>
              <a:t>Accelerometer1RMS :</a:t>
            </a:r>
            <a:r>
              <a:rPr lang="en-US" dirty="0"/>
              <a:t> Vibration acceleration along the x-axis.</a:t>
            </a:r>
          </a:p>
          <a:p>
            <a:r>
              <a:rPr lang="en-US" dirty="0"/>
              <a:t>• </a:t>
            </a:r>
            <a:r>
              <a:rPr lang="en-US" b="1" dirty="0"/>
              <a:t>Accelerometer2RMS :</a:t>
            </a:r>
            <a:r>
              <a:rPr lang="en-US" dirty="0"/>
              <a:t> Vibration acceleration along the y-axis.</a:t>
            </a:r>
          </a:p>
          <a:p>
            <a:r>
              <a:rPr lang="en-US" dirty="0"/>
              <a:t>• </a:t>
            </a:r>
            <a:r>
              <a:rPr lang="en-US" b="1" dirty="0"/>
              <a:t>Current :</a:t>
            </a:r>
            <a:r>
              <a:rPr lang="en-US" dirty="0"/>
              <a:t> Current strength on electric motors (Amperes).</a:t>
            </a:r>
          </a:p>
          <a:p>
            <a:r>
              <a:rPr lang="en-US" dirty="0"/>
              <a:t>• </a:t>
            </a:r>
            <a:r>
              <a:rPr lang="en-US" b="1" dirty="0"/>
              <a:t>Pressure :</a:t>
            </a:r>
            <a:r>
              <a:rPr lang="en-US" dirty="0"/>
              <a:t> Pressure in the circuit after the water pump (Bar).</a:t>
            </a:r>
          </a:p>
          <a:p>
            <a:r>
              <a:rPr lang="en-US" dirty="0"/>
              <a:t>• </a:t>
            </a:r>
            <a:r>
              <a:rPr lang="en-US" b="1" dirty="0"/>
              <a:t>Temperature :</a:t>
            </a:r>
            <a:r>
              <a:rPr lang="en-US" dirty="0"/>
              <a:t> Temperature of the engine housing (◦C).</a:t>
            </a:r>
          </a:p>
          <a:p>
            <a:r>
              <a:rPr lang="en-US" dirty="0"/>
              <a:t>• </a:t>
            </a:r>
            <a:r>
              <a:rPr lang="en-US" b="1" dirty="0"/>
              <a:t>Thermocouple :</a:t>
            </a:r>
            <a:r>
              <a:rPr lang="en-US" dirty="0"/>
              <a:t> Temperature of the liquid in the circulation circuit (◦C).</a:t>
            </a:r>
          </a:p>
          <a:p>
            <a:r>
              <a:rPr lang="en-US" dirty="0"/>
              <a:t>• </a:t>
            </a:r>
            <a:r>
              <a:rPr lang="en-US" b="1" dirty="0"/>
              <a:t>Voltage :</a:t>
            </a:r>
            <a:r>
              <a:rPr lang="en-US" dirty="0"/>
              <a:t> Voltage on electric motors (Volts).</a:t>
            </a:r>
          </a:p>
          <a:p>
            <a:r>
              <a:rPr lang="en-US" dirty="0"/>
              <a:t>• </a:t>
            </a:r>
            <a:r>
              <a:rPr lang="en-US" b="1" dirty="0"/>
              <a:t>Volume Flow RateRMS :</a:t>
            </a:r>
            <a:r>
              <a:rPr lang="en-US" dirty="0"/>
              <a:t> The circulation flow rate of the fluid inside the loop (Liter per minute).</a:t>
            </a:r>
          </a:p>
          <a:p>
            <a:r>
              <a:rPr lang="en-US" dirty="0"/>
              <a:t>• </a:t>
            </a:r>
            <a:r>
              <a:rPr lang="en-US" b="1" dirty="0"/>
              <a:t>anomaly :</a:t>
            </a:r>
            <a:r>
              <a:rPr lang="en-US" dirty="0"/>
              <a:t> Shows whether the point is anomalous (0 or 1).</a:t>
            </a:r>
          </a:p>
          <a:p>
            <a:r>
              <a:rPr lang="en-US" dirty="0"/>
              <a:t>• </a:t>
            </a:r>
            <a:r>
              <a:rPr lang="en-US" b="1" dirty="0"/>
              <a:t>changepoint :</a:t>
            </a:r>
            <a:r>
              <a:rPr lang="en-US" dirty="0"/>
              <a:t> Shows whether the point is the point of change of state (0 or 1).</a:t>
            </a:r>
            <a:endParaRPr lang="en-IN" dirty="0"/>
          </a:p>
        </p:txBody>
      </p:sp>
    </p:spTree>
    <p:extLst>
      <p:ext uri="{BB962C8B-B14F-4D97-AF65-F5344CB8AC3E}">
        <p14:creationId xmlns:p14="http://schemas.microsoft.com/office/powerpoint/2010/main" val="65499968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3EF6F-939E-C799-5AFF-47E93C3B3C12}"/>
              </a:ext>
            </a:extLst>
          </p:cNvPr>
          <p:cNvSpPr>
            <a:spLocks noGrp="1"/>
          </p:cNvSpPr>
          <p:nvPr>
            <p:ph type="title"/>
          </p:nvPr>
        </p:nvSpPr>
        <p:spPr/>
        <p:txBody>
          <a:bodyPr/>
          <a:lstStyle/>
          <a:p>
            <a:r>
              <a:rPr lang="en-US" dirty="0">
                <a:effectLst>
                  <a:outerShdw blurRad="38100" dist="38100" dir="2700000" algn="tl">
                    <a:srgbClr val="000000">
                      <a:alpha val="43137"/>
                    </a:srgbClr>
                  </a:outerShdw>
                </a:effectLst>
              </a:rPr>
              <a:t>Data Proportion </a:t>
            </a:r>
            <a:endParaRPr lang="en-IN" dirty="0">
              <a:effectLst>
                <a:outerShdw blurRad="38100" dist="38100" dir="2700000" algn="tl">
                  <a:srgbClr val="000000">
                    <a:alpha val="43137"/>
                  </a:srgbClr>
                </a:outerShdw>
              </a:effectLst>
            </a:endParaRPr>
          </a:p>
        </p:txBody>
      </p:sp>
      <p:pic>
        <p:nvPicPr>
          <p:cNvPr id="10" name="Content Placeholder 9">
            <a:extLst>
              <a:ext uri="{FF2B5EF4-FFF2-40B4-BE49-F238E27FC236}">
                <a16:creationId xmlns:a16="http://schemas.microsoft.com/office/drawing/2014/main" id="{BB2ABE4B-E1A0-F621-C202-0625E257C99F}"/>
              </a:ext>
            </a:extLst>
          </p:cNvPr>
          <p:cNvPicPr>
            <a:picLocks noGrp="1" noChangeAspect="1"/>
          </p:cNvPicPr>
          <p:nvPr>
            <p:ph idx="1"/>
          </p:nvPr>
        </p:nvPicPr>
        <p:blipFill>
          <a:blip r:embed="rId2"/>
          <a:stretch>
            <a:fillRect/>
          </a:stretch>
        </p:blipFill>
        <p:spPr>
          <a:xfrm>
            <a:off x="4871257" y="2057400"/>
            <a:ext cx="6999317" cy="3811588"/>
          </a:xfrm>
          <a:prstGeom prst="rect">
            <a:avLst/>
          </a:prstGeom>
          <a:ln>
            <a:noFill/>
          </a:ln>
          <a:effectLst>
            <a:outerShdw blurRad="190500" algn="tl" rotWithShape="0">
              <a:srgbClr val="000000">
                <a:alpha val="70000"/>
              </a:srgbClr>
            </a:outerShdw>
          </a:effectLst>
        </p:spPr>
      </p:pic>
      <p:sp>
        <p:nvSpPr>
          <p:cNvPr id="4" name="Text Placeholder 3">
            <a:extLst>
              <a:ext uri="{FF2B5EF4-FFF2-40B4-BE49-F238E27FC236}">
                <a16:creationId xmlns:a16="http://schemas.microsoft.com/office/drawing/2014/main" id="{12469D63-E744-303B-3AE0-9575076DCD6E}"/>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dirty="0"/>
              <a:t>A severe class imbalance within the dataset.</a:t>
            </a:r>
          </a:p>
          <a:p>
            <a:pPr marL="285750" indent="-285750">
              <a:buFont typeface="Arial" panose="020B0604020202020204" pitchFamily="34" charset="0"/>
              <a:buChar char="•"/>
            </a:pPr>
            <a:r>
              <a:rPr lang="en-US" dirty="0"/>
              <a:t>“No Anomaly” instances constitute a dominant 71.46%.</a:t>
            </a:r>
          </a:p>
          <a:p>
            <a:pPr marL="285750" indent="-285750">
              <a:buFont typeface="Arial" panose="020B0604020202020204" pitchFamily="34" charset="0"/>
              <a:buChar char="•"/>
            </a:pPr>
            <a:r>
              <a:rPr lang="en-US" dirty="0"/>
              <a:t>Anomalous data points are less than 30%. </a:t>
            </a:r>
          </a:p>
        </p:txBody>
      </p:sp>
      <p:sp>
        <p:nvSpPr>
          <p:cNvPr id="5" name="Footer Placeholder 4">
            <a:extLst>
              <a:ext uri="{FF2B5EF4-FFF2-40B4-BE49-F238E27FC236}">
                <a16:creationId xmlns:a16="http://schemas.microsoft.com/office/drawing/2014/main" id="{E7DA5A47-B496-A248-802A-E1069F9BE5A8}"/>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36ABC9B4-8B85-8AB3-DA7F-EE878F16E309}"/>
              </a:ext>
            </a:extLst>
          </p:cNvPr>
          <p:cNvSpPr>
            <a:spLocks noGrp="1"/>
          </p:cNvSpPr>
          <p:nvPr>
            <p:ph type="sldNum" sz="quarter" idx="12"/>
          </p:nvPr>
        </p:nvSpPr>
        <p:spPr/>
        <p:txBody>
          <a:bodyPr/>
          <a:lstStyle/>
          <a:p>
            <a:fld id="{0541023B-0DCA-4467-9EB4-7DB5EBA0C709}" type="slidenum">
              <a:rPr lang="en-IN" smtClean="0"/>
              <a:t>14</a:t>
            </a:fld>
            <a:endParaRPr lang="en-IN"/>
          </a:p>
        </p:txBody>
      </p:sp>
    </p:spTree>
    <p:extLst>
      <p:ext uri="{BB962C8B-B14F-4D97-AF65-F5344CB8AC3E}">
        <p14:creationId xmlns:p14="http://schemas.microsoft.com/office/powerpoint/2010/main" val="1996826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71A06-2721-581E-0728-8DDFFF846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72B41-DF80-FCCD-5A6A-BB5625288EE6}"/>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Data Preprocessing</a:t>
            </a:r>
          </a:p>
        </p:txBody>
      </p:sp>
      <p:sp>
        <p:nvSpPr>
          <p:cNvPr id="4" name="Footer Placeholder 3">
            <a:extLst>
              <a:ext uri="{FF2B5EF4-FFF2-40B4-BE49-F238E27FC236}">
                <a16:creationId xmlns:a16="http://schemas.microsoft.com/office/drawing/2014/main" id="{0647663E-69A7-3904-A6B8-2E2AB744AA44}"/>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CB85ADB4-2B43-3964-E9C5-B134151C179A}"/>
              </a:ext>
            </a:extLst>
          </p:cNvPr>
          <p:cNvSpPr>
            <a:spLocks noGrp="1"/>
          </p:cNvSpPr>
          <p:nvPr>
            <p:ph type="sldNum" sz="quarter" idx="12"/>
          </p:nvPr>
        </p:nvSpPr>
        <p:spPr/>
        <p:txBody>
          <a:bodyPr/>
          <a:lstStyle/>
          <a:p>
            <a:fld id="{0541023B-0DCA-4467-9EB4-7DB5EBA0C709}" type="slidenum">
              <a:rPr lang="en-IN" smtClean="0"/>
              <a:t>15</a:t>
            </a:fld>
            <a:endParaRPr lang="en-IN"/>
          </a:p>
        </p:txBody>
      </p:sp>
    </p:spTree>
    <p:extLst>
      <p:ext uri="{BB962C8B-B14F-4D97-AF65-F5344CB8AC3E}">
        <p14:creationId xmlns:p14="http://schemas.microsoft.com/office/powerpoint/2010/main" val="373476977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21F34-F468-799A-FCCF-A096545D4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E783E7-F8BD-A6F3-D60D-18E07957025B}"/>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Data Sampling &amp; Merging</a:t>
            </a:r>
          </a:p>
        </p:txBody>
      </p:sp>
      <p:sp>
        <p:nvSpPr>
          <p:cNvPr id="4" name="Footer Placeholder 3">
            <a:extLst>
              <a:ext uri="{FF2B5EF4-FFF2-40B4-BE49-F238E27FC236}">
                <a16:creationId xmlns:a16="http://schemas.microsoft.com/office/drawing/2014/main" id="{5CE212E0-8A9A-B34E-3AD7-09BD55624F6B}"/>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3820AF9E-07FB-C176-492D-8ADC0C6AAA61}"/>
              </a:ext>
            </a:extLst>
          </p:cNvPr>
          <p:cNvSpPr>
            <a:spLocks noGrp="1"/>
          </p:cNvSpPr>
          <p:nvPr>
            <p:ph type="sldNum" sz="quarter" idx="12"/>
          </p:nvPr>
        </p:nvSpPr>
        <p:spPr/>
        <p:txBody>
          <a:bodyPr/>
          <a:lstStyle/>
          <a:p>
            <a:fld id="{0541023B-0DCA-4467-9EB4-7DB5EBA0C709}" type="slidenum">
              <a:rPr lang="en-IN" smtClean="0"/>
              <a:t>16</a:t>
            </a:fld>
            <a:endParaRPr lang="en-IN" dirty="0"/>
          </a:p>
        </p:txBody>
      </p:sp>
      <p:sp>
        <p:nvSpPr>
          <p:cNvPr id="7" name="Content Placeholder 6">
            <a:extLst>
              <a:ext uri="{FF2B5EF4-FFF2-40B4-BE49-F238E27FC236}">
                <a16:creationId xmlns:a16="http://schemas.microsoft.com/office/drawing/2014/main" id="{9533F052-573C-D078-8539-5AA210D19D1D}"/>
              </a:ext>
            </a:extLst>
          </p:cNvPr>
          <p:cNvSpPr>
            <a:spLocks noGrp="1"/>
          </p:cNvSpPr>
          <p:nvPr>
            <p:ph idx="1"/>
          </p:nvPr>
        </p:nvSpPr>
        <p:spPr>
          <a:xfrm>
            <a:off x="196736" y="3429000"/>
            <a:ext cx="5789198" cy="2583872"/>
          </a:xfrm>
        </p:spPr>
        <p:txBody>
          <a:bodyPr>
            <a:normAutofit/>
          </a:bodyPr>
          <a:lstStyle/>
          <a:p>
            <a:r>
              <a:rPr lang="en-US" sz="1200" dirty="0"/>
              <a:t>Time series plots of the data set shows that the pump can operate at various operational states.</a:t>
            </a:r>
          </a:p>
          <a:p>
            <a:r>
              <a:rPr lang="en-US" sz="1200" dirty="0"/>
              <a:t>Various operational status can host different types of anomalies.</a:t>
            </a:r>
          </a:p>
          <a:p>
            <a:r>
              <a:rPr lang="en-US" sz="1200" dirty="0"/>
              <a:t>Not all features are shows significant deviation or spikes during anomalies.</a:t>
            </a:r>
            <a:endParaRPr lang="en-IN" sz="1200" dirty="0"/>
          </a:p>
        </p:txBody>
      </p:sp>
      <p:pic>
        <p:nvPicPr>
          <p:cNvPr id="10" name="Picture 9">
            <a:extLst>
              <a:ext uri="{FF2B5EF4-FFF2-40B4-BE49-F238E27FC236}">
                <a16:creationId xmlns:a16="http://schemas.microsoft.com/office/drawing/2014/main" id="{689A364E-501F-EFE4-6898-454D4E470D47}"/>
              </a:ext>
            </a:extLst>
          </p:cNvPr>
          <p:cNvPicPr>
            <a:picLocks noChangeAspect="1"/>
          </p:cNvPicPr>
          <p:nvPr/>
        </p:nvPicPr>
        <p:blipFill>
          <a:blip r:embed="rId3"/>
          <a:stretch>
            <a:fillRect/>
          </a:stretch>
        </p:blipFill>
        <p:spPr>
          <a:xfrm>
            <a:off x="222133" y="925295"/>
            <a:ext cx="5789198" cy="2388293"/>
          </a:xfrm>
          <a:prstGeom prst="rect">
            <a:avLst/>
          </a:prstGeom>
          <a:ln>
            <a:noFill/>
          </a:ln>
          <a:effectLst>
            <a:outerShdw blurRad="190500" algn="tl" rotWithShape="0">
              <a:srgbClr val="000000">
                <a:alpha val="70000"/>
              </a:srgbClr>
            </a:outerShdw>
          </a:effectLst>
        </p:spPr>
      </p:pic>
      <p:pic>
        <p:nvPicPr>
          <p:cNvPr id="12" name="Picture 11">
            <a:extLst>
              <a:ext uri="{FF2B5EF4-FFF2-40B4-BE49-F238E27FC236}">
                <a16:creationId xmlns:a16="http://schemas.microsoft.com/office/drawing/2014/main" id="{EE49681B-63C4-63B9-7568-A3F00EEBF6C6}"/>
              </a:ext>
            </a:extLst>
          </p:cNvPr>
          <p:cNvPicPr>
            <a:picLocks noChangeAspect="1"/>
          </p:cNvPicPr>
          <p:nvPr/>
        </p:nvPicPr>
        <p:blipFill>
          <a:blip r:embed="rId4"/>
          <a:stretch>
            <a:fillRect/>
          </a:stretch>
        </p:blipFill>
        <p:spPr>
          <a:xfrm>
            <a:off x="6138335" y="925295"/>
            <a:ext cx="5789198" cy="2388293"/>
          </a:xfrm>
          <a:prstGeom prst="rect">
            <a:avLst/>
          </a:prstGeom>
          <a:ln>
            <a:noFill/>
          </a:ln>
          <a:effectLst>
            <a:outerShdw blurRad="190500" algn="tl" rotWithShape="0">
              <a:srgbClr val="000000">
                <a:alpha val="70000"/>
              </a:srgbClr>
            </a:outerShdw>
          </a:effectLst>
        </p:spPr>
      </p:pic>
      <p:pic>
        <p:nvPicPr>
          <p:cNvPr id="14" name="Picture 13">
            <a:extLst>
              <a:ext uri="{FF2B5EF4-FFF2-40B4-BE49-F238E27FC236}">
                <a16:creationId xmlns:a16="http://schemas.microsoft.com/office/drawing/2014/main" id="{2DB47703-D222-6EE5-6E2E-5DCBFB74422A}"/>
              </a:ext>
            </a:extLst>
          </p:cNvPr>
          <p:cNvPicPr>
            <a:picLocks noChangeAspect="1"/>
          </p:cNvPicPr>
          <p:nvPr/>
        </p:nvPicPr>
        <p:blipFill>
          <a:blip r:embed="rId5"/>
          <a:stretch>
            <a:fillRect/>
          </a:stretch>
        </p:blipFill>
        <p:spPr>
          <a:xfrm>
            <a:off x="6138335" y="3429000"/>
            <a:ext cx="5789198" cy="23879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3586314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97EBB-487B-9E0C-EEF1-87780048A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06BBE5-4FB6-8C97-5368-9EDF5468F5FA}"/>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Exploratory Data Analysis</a:t>
            </a:r>
          </a:p>
        </p:txBody>
      </p:sp>
      <p:sp>
        <p:nvSpPr>
          <p:cNvPr id="4" name="Footer Placeholder 3">
            <a:extLst>
              <a:ext uri="{FF2B5EF4-FFF2-40B4-BE49-F238E27FC236}">
                <a16:creationId xmlns:a16="http://schemas.microsoft.com/office/drawing/2014/main" id="{E9C8246E-DFFA-9CC1-42DD-975C21A8AD34}"/>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F40B3991-9142-F21F-F0D9-3E03D26C747C}"/>
              </a:ext>
            </a:extLst>
          </p:cNvPr>
          <p:cNvSpPr>
            <a:spLocks noGrp="1"/>
          </p:cNvSpPr>
          <p:nvPr>
            <p:ph type="sldNum" sz="quarter" idx="12"/>
          </p:nvPr>
        </p:nvSpPr>
        <p:spPr/>
        <p:txBody>
          <a:bodyPr/>
          <a:lstStyle/>
          <a:p>
            <a:fld id="{0541023B-0DCA-4467-9EB4-7DB5EBA0C709}" type="slidenum">
              <a:rPr lang="en-IN" smtClean="0"/>
              <a:t>17</a:t>
            </a:fld>
            <a:endParaRPr lang="en-IN"/>
          </a:p>
        </p:txBody>
      </p:sp>
    </p:spTree>
    <p:extLst>
      <p:ext uri="{BB962C8B-B14F-4D97-AF65-F5344CB8AC3E}">
        <p14:creationId xmlns:p14="http://schemas.microsoft.com/office/powerpoint/2010/main" val="204486531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55FDC-0506-AE79-A976-94A6B1901C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9636E1-D325-66EA-E6E1-34E333833CE2}"/>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Univariate Analysis</a:t>
            </a:r>
          </a:p>
        </p:txBody>
      </p:sp>
      <p:sp>
        <p:nvSpPr>
          <p:cNvPr id="4" name="Footer Placeholder 3">
            <a:extLst>
              <a:ext uri="{FF2B5EF4-FFF2-40B4-BE49-F238E27FC236}">
                <a16:creationId xmlns:a16="http://schemas.microsoft.com/office/drawing/2014/main" id="{114DD411-3ADE-3849-1914-5E5BC6E8DF38}"/>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FD177147-F546-A6CE-8B30-004DAEA968C5}"/>
              </a:ext>
            </a:extLst>
          </p:cNvPr>
          <p:cNvSpPr>
            <a:spLocks noGrp="1"/>
          </p:cNvSpPr>
          <p:nvPr>
            <p:ph type="sldNum" sz="quarter" idx="12"/>
          </p:nvPr>
        </p:nvSpPr>
        <p:spPr/>
        <p:txBody>
          <a:bodyPr/>
          <a:lstStyle/>
          <a:p>
            <a:fld id="{0541023B-0DCA-4467-9EB4-7DB5EBA0C709}" type="slidenum">
              <a:rPr lang="en-IN" smtClean="0"/>
              <a:t>18</a:t>
            </a:fld>
            <a:endParaRPr lang="en-IN"/>
          </a:p>
        </p:txBody>
      </p:sp>
      <p:sp>
        <p:nvSpPr>
          <p:cNvPr id="7" name="Content Placeholder 6">
            <a:extLst>
              <a:ext uri="{FF2B5EF4-FFF2-40B4-BE49-F238E27FC236}">
                <a16:creationId xmlns:a16="http://schemas.microsoft.com/office/drawing/2014/main" id="{A4B9689D-8C97-2E41-8CAE-8AB9F553D3A1}"/>
              </a:ext>
            </a:extLst>
          </p:cNvPr>
          <p:cNvSpPr>
            <a:spLocks noGrp="1"/>
          </p:cNvSpPr>
          <p:nvPr>
            <p:ph idx="1"/>
          </p:nvPr>
        </p:nvSpPr>
        <p:spPr>
          <a:xfrm>
            <a:off x="216707" y="3300153"/>
            <a:ext cx="5611089" cy="2712719"/>
          </a:xfrm>
        </p:spPr>
        <p:txBody>
          <a:bodyPr>
            <a:normAutofit/>
          </a:bodyPr>
          <a:lstStyle/>
          <a:p>
            <a:r>
              <a:rPr lang="en-US" sz="1400" dirty="0"/>
              <a:t>Histogram of most of the features during anomalies differ from each other.</a:t>
            </a:r>
          </a:p>
          <a:p>
            <a:r>
              <a:rPr lang="en-US" sz="1400" dirty="0"/>
              <a:t>For some anomalies like Inlet &amp; Outlet Valve Malfunction the histograms are overlapping with the normal data points.</a:t>
            </a:r>
            <a:endParaRPr lang="en-IN" sz="1400" dirty="0"/>
          </a:p>
        </p:txBody>
      </p:sp>
      <p:pic>
        <p:nvPicPr>
          <p:cNvPr id="9" name="Picture 8">
            <a:extLst>
              <a:ext uri="{FF2B5EF4-FFF2-40B4-BE49-F238E27FC236}">
                <a16:creationId xmlns:a16="http://schemas.microsoft.com/office/drawing/2014/main" id="{7BF67D98-5DE7-D740-1110-DCEB074823CA}"/>
              </a:ext>
            </a:extLst>
          </p:cNvPr>
          <p:cNvPicPr>
            <a:picLocks noChangeAspect="1"/>
          </p:cNvPicPr>
          <p:nvPr/>
        </p:nvPicPr>
        <p:blipFill>
          <a:blip r:embed="rId3"/>
          <a:stretch>
            <a:fillRect/>
          </a:stretch>
        </p:blipFill>
        <p:spPr>
          <a:xfrm>
            <a:off x="6096000" y="559437"/>
            <a:ext cx="5611090" cy="5540599"/>
          </a:xfrm>
          <a:prstGeom prst="rect">
            <a:avLst/>
          </a:prstGeom>
          <a:ln>
            <a:noFill/>
          </a:ln>
          <a:effectLst>
            <a:outerShdw blurRad="190500" algn="tl" rotWithShape="0">
              <a:srgbClr val="000000">
                <a:alpha val="70000"/>
              </a:srgbClr>
            </a:outerShdw>
          </a:effectLst>
        </p:spPr>
      </p:pic>
      <p:pic>
        <p:nvPicPr>
          <p:cNvPr id="13" name="Picture 12">
            <a:extLst>
              <a:ext uri="{FF2B5EF4-FFF2-40B4-BE49-F238E27FC236}">
                <a16:creationId xmlns:a16="http://schemas.microsoft.com/office/drawing/2014/main" id="{BF5174BF-84D5-2EDA-BA12-B0EC3A89F15F}"/>
              </a:ext>
            </a:extLst>
          </p:cNvPr>
          <p:cNvPicPr>
            <a:picLocks noChangeAspect="1"/>
          </p:cNvPicPr>
          <p:nvPr/>
        </p:nvPicPr>
        <p:blipFill>
          <a:blip r:embed="rId4"/>
          <a:srcRect l="-102" t="75603" r="102" b="12082"/>
          <a:stretch>
            <a:fillRect/>
          </a:stretch>
        </p:blipFill>
        <p:spPr>
          <a:xfrm>
            <a:off x="216707" y="934574"/>
            <a:ext cx="5611090" cy="221595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66808445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48A25-5BF2-7237-1EE9-E42BF87AEE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6C3C7-6A8D-C043-453B-62AEC8F9DA30}"/>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Bivariate Analysis</a:t>
            </a:r>
          </a:p>
        </p:txBody>
      </p:sp>
      <p:sp>
        <p:nvSpPr>
          <p:cNvPr id="4" name="Footer Placeholder 3">
            <a:extLst>
              <a:ext uri="{FF2B5EF4-FFF2-40B4-BE49-F238E27FC236}">
                <a16:creationId xmlns:a16="http://schemas.microsoft.com/office/drawing/2014/main" id="{4C82B659-E071-A866-FBEF-21B0A3C5FCBC}"/>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F7143E1A-CC1C-3983-B1EF-44FB14BFC4DE}"/>
              </a:ext>
            </a:extLst>
          </p:cNvPr>
          <p:cNvSpPr>
            <a:spLocks noGrp="1"/>
          </p:cNvSpPr>
          <p:nvPr>
            <p:ph type="sldNum" sz="quarter" idx="12"/>
          </p:nvPr>
        </p:nvSpPr>
        <p:spPr/>
        <p:txBody>
          <a:bodyPr/>
          <a:lstStyle/>
          <a:p>
            <a:fld id="{0541023B-0DCA-4467-9EB4-7DB5EBA0C709}" type="slidenum">
              <a:rPr lang="en-IN" smtClean="0"/>
              <a:t>19</a:t>
            </a:fld>
            <a:endParaRPr lang="en-IN"/>
          </a:p>
        </p:txBody>
      </p:sp>
      <p:pic>
        <p:nvPicPr>
          <p:cNvPr id="9" name="Picture 8">
            <a:extLst>
              <a:ext uri="{FF2B5EF4-FFF2-40B4-BE49-F238E27FC236}">
                <a16:creationId xmlns:a16="http://schemas.microsoft.com/office/drawing/2014/main" id="{F39D0697-3BDE-5F09-FBCC-55A11AFAA360}"/>
              </a:ext>
            </a:extLst>
          </p:cNvPr>
          <p:cNvPicPr>
            <a:picLocks noChangeAspect="1"/>
          </p:cNvPicPr>
          <p:nvPr/>
        </p:nvPicPr>
        <p:blipFill>
          <a:blip r:embed="rId3"/>
          <a:stretch>
            <a:fillRect/>
          </a:stretch>
        </p:blipFill>
        <p:spPr>
          <a:xfrm>
            <a:off x="6863544" y="673331"/>
            <a:ext cx="5115096" cy="5339542"/>
          </a:xfrm>
          <a:prstGeom prst="rect">
            <a:avLst/>
          </a:prstGeom>
          <a:effectLst>
            <a:outerShdw blurRad="63500" sx="102000" sy="102000" algn="ctr" rotWithShape="0">
              <a:prstClr val="black">
                <a:alpha val="40000"/>
              </a:prstClr>
            </a:outerShdw>
          </a:effectLst>
        </p:spPr>
      </p:pic>
      <p:pic>
        <p:nvPicPr>
          <p:cNvPr id="15" name="Picture 14">
            <a:extLst>
              <a:ext uri="{FF2B5EF4-FFF2-40B4-BE49-F238E27FC236}">
                <a16:creationId xmlns:a16="http://schemas.microsoft.com/office/drawing/2014/main" id="{151C7773-8C3D-E117-D679-E864ED029DC2}"/>
              </a:ext>
            </a:extLst>
          </p:cNvPr>
          <p:cNvPicPr>
            <a:picLocks noChangeAspect="1"/>
          </p:cNvPicPr>
          <p:nvPr/>
        </p:nvPicPr>
        <p:blipFill>
          <a:blip r:embed="rId4"/>
          <a:stretch>
            <a:fillRect/>
          </a:stretch>
        </p:blipFill>
        <p:spPr>
          <a:xfrm>
            <a:off x="134868" y="673330"/>
            <a:ext cx="6650184" cy="5339541"/>
          </a:xfrm>
          <a:prstGeom prst="rect">
            <a:avLst/>
          </a:prstGeom>
          <a:effectLst>
            <a:outerShdw blurRad="63500" sx="102000" sy="102000" algn="ctr" rotWithShape="0">
              <a:prstClr val="black">
                <a:alpha val="40000"/>
              </a:prstClr>
            </a:outerShdw>
          </a:effectLst>
        </p:spPr>
      </p:pic>
      <p:sp>
        <p:nvSpPr>
          <p:cNvPr id="16" name="Content Placeholder 6">
            <a:extLst>
              <a:ext uri="{FF2B5EF4-FFF2-40B4-BE49-F238E27FC236}">
                <a16:creationId xmlns:a16="http://schemas.microsoft.com/office/drawing/2014/main" id="{5BA50965-A855-5D71-211F-9F0466D59352}"/>
              </a:ext>
            </a:extLst>
          </p:cNvPr>
          <p:cNvSpPr txBox="1">
            <a:spLocks/>
          </p:cNvSpPr>
          <p:nvPr/>
        </p:nvSpPr>
        <p:spPr>
          <a:xfrm>
            <a:off x="2445904" y="1302327"/>
            <a:ext cx="4215322" cy="25838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The normal data points have proper correlation among features.</a:t>
            </a:r>
          </a:p>
          <a:p>
            <a:r>
              <a:rPr lang="en-US" sz="1600" dirty="0"/>
              <a:t>Significant deviation in feature correlation can be observed for anomalies</a:t>
            </a:r>
          </a:p>
        </p:txBody>
      </p:sp>
    </p:spTree>
    <p:extLst>
      <p:ext uri="{BB962C8B-B14F-4D97-AF65-F5344CB8AC3E}">
        <p14:creationId xmlns:p14="http://schemas.microsoft.com/office/powerpoint/2010/main" val="168794646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802DA-25C5-0144-2B82-E60C7EB1F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0AE89-1FF9-CCAC-97D9-42295EF56B42}"/>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Multivariate Analysis</a:t>
            </a:r>
          </a:p>
        </p:txBody>
      </p:sp>
      <p:sp>
        <p:nvSpPr>
          <p:cNvPr id="4" name="Footer Placeholder 3">
            <a:extLst>
              <a:ext uri="{FF2B5EF4-FFF2-40B4-BE49-F238E27FC236}">
                <a16:creationId xmlns:a16="http://schemas.microsoft.com/office/drawing/2014/main" id="{5E3429B8-2F3C-4F83-A9FD-1796D28AE3B1}"/>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AA07939E-E332-40ED-02D2-8ADF33CF6B4F}"/>
              </a:ext>
            </a:extLst>
          </p:cNvPr>
          <p:cNvSpPr>
            <a:spLocks noGrp="1"/>
          </p:cNvSpPr>
          <p:nvPr>
            <p:ph type="sldNum" sz="quarter" idx="12"/>
          </p:nvPr>
        </p:nvSpPr>
        <p:spPr/>
        <p:txBody>
          <a:bodyPr/>
          <a:lstStyle/>
          <a:p>
            <a:fld id="{0541023B-0DCA-4467-9EB4-7DB5EBA0C709}" type="slidenum">
              <a:rPr lang="en-IN" smtClean="0"/>
              <a:t>20</a:t>
            </a:fld>
            <a:endParaRPr lang="en-IN"/>
          </a:p>
        </p:txBody>
      </p:sp>
      <p:pic>
        <p:nvPicPr>
          <p:cNvPr id="6" name="Picture 5">
            <a:extLst>
              <a:ext uri="{FF2B5EF4-FFF2-40B4-BE49-F238E27FC236}">
                <a16:creationId xmlns:a16="http://schemas.microsoft.com/office/drawing/2014/main" id="{F20A00EC-8255-E597-F779-2708452FB078}"/>
              </a:ext>
            </a:extLst>
          </p:cNvPr>
          <p:cNvPicPr>
            <a:picLocks noChangeAspect="1"/>
          </p:cNvPicPr>
          <p:nvPr/>
        </p:nvPicPr>
        <p:blipFill>
          <a:blip r:embed="rId3">
            <a:extLst>
              <a:ext uri="{28A0092B-C50C-407E-A947-70E740481C1C}">
                <a14:useLocalDpi xmlns:a14="http://schemas.microsoft.com/office/drawing/2010/main" val="0"/>
              </a:ext>
            </a:extLst>
          </a:blip>
          <a:srcRect t="9563"/>
          <a:stretch>
            <a:fillRect/>
          </a:stretch>
        </p:blipFill>
        <p:spPr>
          <a:xfrm>
            <a:off x="134867" y="704851"/>
            <a:ext cx="11919568" cy="5198052"/>
          </a:xfrm>
          <a:prstGeom prst="rect">
            <a:avLst/>
          </a:prstGeom>
        </p:spPr>
      </p:pic>
      <p:sp>
        <p:nvSpPr>
          <p:cNvPr id="7" name="Content Placeholder 6">
            <a:extLst>
              <a:ext uri="{FF2B5EF4-FFF2-40B4-BE49-F238E27FC236}">
                <a16:creationId xmlns:a16="http://schemas.microsoft.com/office/drawing/2014/main" id="{652E769F-22D3-8721-1EDA-36BD21EBBF98}"/>
              </a:ext>
            </a:extLst>
          </p:cNvPr>
          <p:cNvSpPr>
            <a:spLocks noGrp="1"/>
          </p:cNvSpPr>
          <p:nvPr>
            <p:ph idx="1"/>
          </p:nvPr>
        </p:nvSpPr>
        <p:spPr>
          <a:xfrm>
            <a:off x="8390139" y="3429000"/>
            <a:ext cx="3573261" cy="2289175"/>
          </a:xfrm>
        </p:spPr>
        <p:txBody>
          <a:bodyPr>
            <a:normAutofit/>
          </a:bodyPr>
          <a:lstStyle/>
          <a:p>
            <a:r>
              <a:rPr lang="en-US" sz="1400" dirty="0">
                <a:solidFill>
                  <a:schemeClr val="bg1"/>
                </a:solidFill>
              </a:rPr>
              <a:t>3D scatter plot shows unique cluster formations in comparison to normal data points and anomalies.</a:t>
            </a:r>
            <a:endParaRPr lang="en-IN" sz="1400" dirty="0">
              <a:solidFill>
                <a:schemeClr val="bg1"/>
              </a:solidFill>
            </a:endParaRPr>
          </a:p>
          <a:p>
            <a:endParaRPr lang="en-IN" sz="1400" dirty="0">
              <a:solidFill>
                <a:schemeClr val="bg1"/>
              </a:solidFill>
            </a:endParaRPr>
          </a:p>
          <a:p>
            <a:r>
              <a:rPr lang="en-IN" sz="1400" dirty="0">
                <a:solidFill>
                  <a:schemeClr val="bg1"/>
                </a:solidFill>
              </a:rPr>
              <a:t>For some features these clusters are overlapping – difficult to distinguish</a:t>
            </a:r>
            <a:endParaRPr lang="en-US" sz="1400" dirty="0">
              <a:solidFill>
                <a:schemeClr val="bg1"/>
              </a:solidFill>
            </a:endParaRPr>
          </a:p>
        </p:txBody>
      </p:sp>
    </p:spTree>
    <p:extLst>
      <p:ext uri="{BB962C8B-B14F-4D97-AF65-F5344CB8AC3E}">
        <p14:creationId xmlns:p14="http://schemas.microsoft.com/office/powerpoint/2010/main" val="299132817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1B73F-C8EE-49DF-AFB8-FE4876452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2BAE6-F463-16CB-F458-E52253025E57}"/>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Time-series Analysis</a:t>
            </a:r>
          </a:p>
        </p:txBody>
      </p:sp>
      <p:sp>
        <p:nvSpPr>
          <p:cNvPr id="4" name="Footer Placeholder 3">
            <a:extLst>
              <a:ext uri="{FF2B5EF4-FFF2-40B4-BE49-F238E27FC236}">
                <a16:creationId xmlns:a16="http://schemas.microsoft.com/office/drawing/2014/main" id="{B70FEB83-3F6C-3D19-94E2-6FC7A0BDE450}"/>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F0DE4389-A667-3291-A3CA-A503B8A747E9}"/>
              </a:ext>
            </a:extLst>
          </p:cNvPr>
          <p:cNvSpPr>
            <a:spLocks noGrp="1"/>
          </p:cNvSpPr>
          <p:nvPr>
            <p:ph type="sldNum" sz="quarter" idx="12"/>
          </p:nvPr>
        </p:nvSpPr>
        <p:spPr/>
        <p:txBody>
          <a:bodyPr/>
          <a:lstStyle/>
          <a:p>
            <a:fld id="{0541023B-0DCA-4467-9EB4-7DB5EBA0C709}" type="slidenum">
              <a:rPr lang="en-IN" smtClean="0"/>
              <a:t>21</a:t>
            </a:fld>
            <a:endParaRPr lang="en-IN"/>
          </a:p>
        </p:txBody>
      </p:sp>
      <p:sp>
        <p:nvSpPr>
          <p:cNvPr id="7" name="Content Placeholder 6">
            <a:extLst>
              <a:ext uri="{FF2B5EF4-FFF2-40B4-BE49-F238E27FC236}">
                <a16:creationId xmlns:a16="http://schemas.microsoft.com/office/drawing/2014/main" id="{F8CCFE04-A33C-823F-47C8-BAE53A7223B3}"/>
              </a:ext>
            </a:extLst>
          </p:cNvPr>
          <p:cNvSpPr>
            <a:spLocks noGrp="1"/>
          </p:cNvSpPr>
          <p:nvPr>
            <p:ph idx="1"/>
          </p:nvPr>
        </p:nvSpPr>
        <p:spPr>
          <a:xfrm>
            <a:off x="838200" y="2865119"/>
            <a:ext cx="4573385" cy="3147753"/>
          </a:xfrm>
        </p:spPr>
        <p:txBody>
          <a:bodyPr>
            <a:normAutofit/>
          </a:bodyPr>
          <a:lstStyle/>
          <a:p>
            <a:r>
              <a:rPr lang="en-US" sz="1400" dirty="0"/>
              <a:t>Vibrational Features occasionally shows spikes during anomalies.</a:t>
            </a:r>
          </a:p>
          <a:p>
            <a:r>
              <a:rPr lang="en-US" sz="1400" dirty="0"/>
              <a:t>Temperature Features do not show any significant variation for anomalies. </a:t>
            </a:r>
          </a:p>
          <a:p>
            <a:r>
              <a:rPr lang="en-US" sz="1400" dirty="0"/>
              <a:t>Voltage, Current &amp; Pressure do not show any significant variation for anomalies</a:t>
            </a:r>
          </a:p>
          <a:p>
            <a:r>
              <a:rPr lang="en-US" sz="1400" dirty="0"/>
              <a:t>Rate of flow of Fluid occasionally shows downward spikes during anomalies.</a:t>
            </a:r>
            <a:endParaRPr lang="en-IN" sz="1400" dirty="0"/>
          </a:p>
        </p:txBody>
      </p:sp>
      <p:pic>
        <p:nvPicPr>
          <p:cNvPr id="8" name="Picture 7">
            <a:extLst>
              <a:ext uri="{FF2B5EF4-FFF2-40B4-BE49-F238E27FC236}">
                <a16:creationId xmlns:a16="http://schemas.microsoft.com/office/drawing/2014/main" id="{FBCF8E86-365A-0020-506F-C2D9896D8DA3}"/>
              </a:ext>
            </a:extLst>
          </p:cNvPr>
          <p:cNvPicPr>
            <a:picLocks noChangeAspect="1"/>
          </p:cNvPicPr>
          <p:nvPr/>
        </p:nvPicPr>
        <p:blipFill>
          <a:blip r:embed="rId3"/>
          <a:srcRect t="3151" b="84485"/>
          <a:stretch>
            <a:fillRect/>
          </a:stretch>
        </p:blipFill>
        <p:spPr>
          <a:xfrm>
            <a:off x="374774" y="1013016"/>
            <a:ext cx="5568826" cy="1422696"/>
          </a:xfrm>
          <a:prstGeom prst="rect">
            <a:avLst/>
          </a:prstGeom>
          <a:ln>
            <a:no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90F98F0E-1308-2597-EB73-2194C2156879}"/>
              </a:ext>
            </a:extLst>
          </p:cNvPr>
          <p:cNvPicPr>
            <a:picLocks noChangeAspect="1"/>
          </p:cNvPicPr>
          <p:nvPr/>
        </p:nvPicPr>
        <p:blipFill>
          <a:blip r:embed="rId3"/>
          <a:srcRect t="51403" b="36233"/>
          <a:stretch>
            <a:fillRect/>
          </a:stretch>
        </p:blipFill>
        <p:spPr>
          <a:xfrm>
            <a:off x="6248402" y="1013016"/>
            <a:ext cx="5568824" cy="1422696"/>
          </a:xfrm>
          <a:prstGeom prst="rect">
            <a:avLst/>
          </a:prstGeom>
          <a:ln>
            <a:noFill/>
          </a:ln>
          <a:effectLst>
            <a:outerShdw blurRad="190500" algn="tl" rotWithShape="0">
              <a:srgbClr val="000000">
                <a:alpha val="70000"/>
              </a:srgbClr>
            </a:outerShdw>
          </a:effectLst>
        </p:spPr>
      </p:pic>
      <p:pic>
        <p:nvPicPr>
          <p:cNvPr id="12" name="Picture 11">
            <a:extLst>
              <a:ext uri="{FF2B5EF4-FFF2-40B4-BE49-F238E27FC236}">
                <a16:creationId xmlns:a16="http://schemas.microsoft.com/office/drawing/2014/main" id="{FE6683C5-98A8-E095-1BF0-F843AF39D60C}"/>
              </a:ext>
            </a:extLst>
          </p:cNvPr>
          <p:cNvPicPr>
            <a:picLocks noChangeAspect="1"/>
          </p:cNvPicPr>
          <p:nvPr/>
        </p:nvPicPr>
        <p:blipFill>
          <a:blip r:embed="rId3"/>
          <a:srcRect t="75694" b="11942"/>
          <a:stretch>
            <a:fillRect/>
          </a:stretch>
        </p:blipFill>
        <p:spPr>
          <a:xfrm>
            <a:off x="6248402" y="2528263"/>
            <a:ext cx="5568824" cy="1422695"/>
          </a:xfrm>
          <a:prstGeom prst="rect">
            <a:avLst/>
          </a:prstGeom>
          <a:ln>
            <a:noFill/>
          </a:ln>
          <a:effectLst>
            <a:outerShdw blurRad="190500" algn="tl" rotWithShape="0">
              <a:srgbClr val="000000">
                <a:alpha val="70000"/>
              </a:srgbClr>
            </a:outerShdw>
          </a:effectLst>
        </p:spPr>
      </p:pic>
      <p:pic>
        <p:nvPicPr>
          <p:cNvPr id="16" name="Picture 15">
            <a:extLst>
              <a:ext uri="{FF2B5EF4-FFF2-40B4-BE49-F238E27FC236}">
                <a16:creationId xmlns:a16="http://schemas.microsoft.com/office/drawing/2014/main" id="{2FE42EE3-A598-E53C-82C0-B5B54AFBA673}"/>
              </a:ext>
            </a:extLst>
          </p:cNvPr>
          <p:cNvPicPr>
            <a:picLocks noChangeAspect="1"/>
          </p:cNvPicPr>
          <p:nvPr/>
        </p:nvPicPr>
        <p:blipFill>
          <a:blip r:embed="rId4"/>
          <a:srcRect t="87636"/>
          <a:stretch>
            <a:fillRect/>
          </a:stretch>
        </p:blipFill>
        <p:spPr>
          <a:xfrm>
            <a:off x="6248402" y="4129754"/>
            <a:ext cx="5568824" cy="142269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2705695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7F9C-F991-5BDC-4641-A39DB46B0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E4A28-9D1E-364E-2762-E34C2DE321C6}"/>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Feature Engineering</a:t>
            </a:r>
          </a:p>
        </p:txBody>
      </p:sp>
      <p:sp>
        <p:nvSpPr>
          <p:cNvPr id="4" name="Footer Placeholder 3">
            <a:extLst>
              <a:ext uri="{FF2B5EF4-FFF2-40B4-BE49-F238E27FC236}">
                <a16:creationId xmlns:a16="http://schemas.microsoft.com/office/drawing/2014/main" id="{22A3B863-C8B8-3A40-05C2-AB718191E6D7}"/>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E3F3556C-F9EB-83BB-24F3-74C6B33AC218}"/>
              </a:ext>
            </a:extLst>
          </p:cNvPr>
          <p:cNvSpPr>
            <a:spLocks noGrp="1"/>
          </p:cNvSpPr>
          <p:nvPr>
            <p:ph type="sldNum" sz="quarter" idx="12"/>
          </p:nvPr>
        </p:nvSpPr>
        <p:spPr/>
        <p:txBody>
          <a:bodyPr/>
          <a:lstStyle/>
          <a:p>
            <a:fld id="{0541023B-0DCA-4467-9EB4-7DB5EBA0C709}" type="slidenum">
              <a:rPr lang="en-IN" smtClean="0"/>
              <a:t>22</a:t>
            </a:fld>
            <a:endParaRPr lang="en-IN"/>
          </a:p>
        </p:txBody>
      </p:sp>
    </p:spTree>
    <p:extLst>
      <p:ext uri="{BB962C8B-B14F-4D97-AF65-F5344CB8AC3E}">
        <p14:creationId xmlns:p14="http://schemas.microsoft.com/office/powerpoint/2010/main" val="126186315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BD08A-9340-E722-1322-7D4B12B85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3360E-7BDB-FD12-E577-CA437063C1D8}"/>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Interaction Features</a:t>
            </a:r>
          </a:p>
        </p:txBody>
      </p:sp>
      <p:sp>
        <p:nvSpPr>
          <p:cNvPr id="4" name="Footer Placeholder 3">
            <a:extLst>
              <a:ext uri="{FF2B5EF4-FFF2-40B4-BE49-F238E27FC236}">
                <a16:creationId xmlns:a16="http://schemas.microsoft.com/office/drawing/2014/main" id="{C3C5978A-59F1-B9D7-0B31-479D648597C2}"/>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C29A2E05-00F4-5DAE-BFDE-76DD02A73D18}"/>
              </a:ext>
            </a:extLst>
          </p:cNvPr>
          <p:cNvSpPr>
            <a:spLocks noGrp="1"/>
          </p:cNvSpPr>
          <p:nvPr>
            <p:ph type="sldNum" sz="quarter" idx="12"/>
          </p:nvPr>
        </p:nvSpPr>
        <p:spPr/>
        <p:txBody>
          <a:bodyPr/>
          <a:lstStyle/>
          <a:p>
            <a:fld id="{0541023B-0DCA-4467-9EB4-7DB5EBA0C709}" type="slidenum">
              <a:rPr lang="en-IN" smtClean="0"/>
              <a:t>23</a:t>
            </a:fld>
            <a:endParaRPr lang="en-IN"/>
          </a:p>
        </p:txBody>
      </p:sp>
      <p:sp>
        <p:nvSpPr>
          <p:cNvPr id="7" name="Content Placeholder 6">
            <a:extLst>
              <a:ext uri="{FF2B5EF4-FFF2-40B4-BE49-F238E27FC236}">
                <a16:creationId xmlns:a16="http://schemas.microsoft.com/office/drawing/2014/main" id="{F06B5976-D77D-9BDF-3F0E-6EEAD9301301}"/>
              </a:ext>
            </a:extLst>
          </p:cNvPr>
          <p:cNvSpPr>
            <a:spLocks noGrp="1"/>
          </p:cNvSpPr>
          <p:nvPr>
            <p:ph idx="1"/>
          </p:nvPr>
        </p:nvSpPr>
        <p:spPr>
          <a:xfrm>
            <a:off x="838200" y="845127"/>
            <a:ext cx="9784080" cy="5167746"/>
          </a:xfrm>
        </p:spPr>
        <p:txBody>
          <a:bodyPr>
            <a:normAutofit/>
          </a:bodyPr>
          <a:lstStyle/>
          <a:p>
            <a:r>
              <a:rPr lang="en-US" sz="1400" b="1" u="sng" dirty="0"/>
              <a:t>Electrical Resistance</a:t>
            </a:r>
          </a:p>
          <a:p>
            <a:endParaRPr lang="en-US" sz="1400" dirty="0"/>
          </a:p>
          <a:p>
            <a:endParaRPr lang="en-US" sz="1400" dirty="0"/>
          </a:p>
          <a:p>
            <a:r>
              <a:rPr lang="en-IN" sz="1400" b="1" u="sng" dirty="0"/>
              <a:t>Flow Resistance</a:t>
            </a:r>
          </a:p>
          <a:p>
            <a:endParaRPr lang="en-IN" sz="1400" dirty="0"/>
          </a:p>
          <a:p>
            <a:endParaRPr lang="en-IN" sz="1400" dirty="0"/>
          </a:p>
          <a:p>
            <a:r>
              <a:rPr lang="en-IN" sz="1400" b="1" u="sng" dirty="0"/>
              <a:t>Operational Temperature Ratio</a:t>
            </a:r>
          </a:p>
          <a:p>
            <a:endParaRPr lang="en-IN" sz="1400" dirty="0"/>
          </a:p>
          <a:p>
            <a:endParaRPr lang="en-IN" sz="1400" dirty="0"/>
          </a:p>
          <a:p>
            <a:r>
              <a:rPr lang="en-IN" sz="1400" b="1" u="sng" dirty="0"/>
              <a:t>Operational Vibration</a:t>
            </a:r>
          </a:p>
          <a:p>
            <a:endParaRPr lang="en-IN" sz="1400" dirty="0"/>
          </a:p>
          <a:p>
            <a:endParaRPr lang="en-IN" sz="1400" dirty="0"/>
          </a:p>
          <a:p>
            <a:r>
              <a:rPr lang="en-IN" sz="1400" b="1" u="sng" dirty="0"/>
              <a:t>Specific Power</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913632A-D0F3-5520-31F6-BF4AAC5BB90A}"/>
                  </a:ext>
                </a:extLst>
              </p:cNvPr>
              <p:cNvSpPr txBox="1"/>
              <p:nvPr/>
            </p:nvSpPr>
            <p:spPr>
              <a:xfrm>
                <a:off x="2835594" y="1020842"/>
                <a:ext cx="3374706" cy="52591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𝐸𝑙𝑒𝑐𝑡𝑟𝑖𝑐𝑎𝑙</m:t>
                      </m:r>
                      <m:r>
                        <a:rPr lang="en-US" b="0" i="1" smtClean="0">
                          <a:latin typeface="Cambria Math" panose="02040503050406030204" pitchFamily="18" charset="0"/>
                        </a:rPr>
                        <m:t> </m:t>
                      </m:r>
                      <m:r>
                        <a:rPr lang="en-US" b="0" i="1" smtClean="0">
                          <a:latin typeface="Cambria Math" panose="02040503050406030204" pitchFamily="18" charset="0"/>
                        </a:rPr>
                        <m:t>𝑅𝑒𝑠𝑖𝑠𝑡𝑎𝑛𝑐𝑒</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𝑉𝑜𝑙𝑡𝑎𝑔𝑒</m:t>
                          </m:r>
                        </m:num>
                        <m:den>
                          <m:r>
                            <a:rPr lang="en-US" b="0" i="1" smtClean="0">
                              <a:latin typeface="Cambria Math" panose="02040503050406030204" pitchFamily="18" charset="0"/>
                            </a:rPr>
                            <m:t>𝐶𝑢𝑟𝑟𝑒𝑛𝑡</m:t>
                          </m:r>
                        </m:den>
                      </m:f>
                    </m:oMath>
                  </m:oMathPara>
                </a14:m>
                <a:endParaRPr lang="en-IN" dirty="0"/>
              </a:p>
            </p:txBody>
          </p:sp>
        </mc:Choice>
        <mc:Fallback>
          <p:sp>
            <p:nvSpPr>
              <p:cNvPr id="3" name="TextBox 2">
                <a:extLst>
                  <a:ext uri="{FF2B5EF4-FFF2-40B4-BE49-F238E27FC236}">
                    <a16:creationId xmlns:a16="http://schemas.microsoft.com/office/drawing/2014/main" id="{9913632A-D0F3-5520-31F6-BF4AAC5BB90A}"/>
                  </a:ext>
                </a:extLst>
              </p:cNvPr>
              <p:cNvSpPr txBox="1">
                <a:spLocks noRot="1" noChangeAspect="1" noMove="1" noResize="1" noEditPoints="1" noAdjustHandles="1" noChangeArrowheads="1" noChangeShapeType="1" noTextEdit="1"/>
              </p:cNvSpPr>
              <p:nvPr/>
            </p:nvSpPr>
            <p:spPr>
              <a:xfrm>
                <a:off x="2835594" y="1020842"/>
                <a:ext cx="3374706" cy="525913"/>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4CDD7C30-36A1-763B-50C2-8CB7CB86A30D}"/>
                  </a:ext>
                </a:extLst>
              </p:cNvPr>
              <p:cNvSpPr txBox="1"/>
              <p:nvPr/>
            </p:nvSpPr>
            <p:spPr>
              <a:xfrm>
                <a:off x="2774752" y="1964811"/>
                <a:ext cx="4309962" cy="56714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𝐹𝑙𝑜𝑤</m:t>
                      </m:r>
                      <m:r>
                        <a:rPr lang="en-US" b="0" i="1" smtClean="0">
                          <a:latin typeface="Cambria Math" panose="02040503050406030204" pitchFamily="18" charset="0"/>
                        </a:rPr>
                        <m:t> </m:t>
                      </m:r>
                      <m:r>
                        <a:rPr lang="en-US" b="0" i="1" smtClean="0">
                          <a:latin typeface="Cambria Math" panose="02040503050406030204" pitchFamily="18" charset="0"/>
                        </a:rPr>
                        <m:t>𝑅𝑒𝑠𝑖𝑠𝑡𝑎𝑛𝑐𝑒</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𝑃𝑟𝑒𝑠𝑠𝑢𝑟𝑒</m:t>
                          </m:r>
                        </m:num>
                        <m:den>
                          <m:r>
                            <a:rPr lang="en-US" b="0" i="1" smtClean="0">
                              <a:latin typeface="Cambria Math" panose="02040503050406030204" pitchFamily="18" charset="0"/>
                            </a:rPr>
                            <m:t>𝑅𝑎𝑡𝑒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𝑓𝑙𝑜𝑤</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𝐹𝑙𝑢𝑖𝑑</m:t>
                          </m:r>
                        </m:den>
                      </m:f>
                    </m:oMath>
                  </m:oMathPara>
                </a14:m>
                <a:endParaRPr lang="en-US" b="0" dirty="0"/>
              </a:p>
            </p:txBody>
          </p:sp>
        </mc:Choice>
        <mc:Fallback>
          <p:sp>
            <p:nvSpPr>
              <p:cNvPr id="6" name="TextBox 5">
                <a:extLst>
                  <a:ext uri="{FF2B5EF4-FFF2-40B4-BE49-F238E27FC236}">
                    <a16:creationId xmlns:a16="http://schemas.microsoft.com/office/drawing/2014/main" id="{4CDD7C30-36A1-763B-50C2-8CB7CB86A30D}"/>
                  </a:ext>
                </a:extLst>
              </p:cNvPr>
              <p:cNvSpPr txBox="1">
                <a:spLocks noRot="1" noChangeAspect="1" noMove="1" noResize="1" noEditPoints="1" noAdjustHandles="1" noChangeArrowheads="1" noChangeShapeType="1" noTextEdit="1"/>
              </p:cNvSpPr>
              <p:nvPr/>
            </p:nvSpPr>
            <p:spPr>
              <a:xfrm>
                <a:off x="2774752" y="1964811"/>
                <a:ext cx="4309962" cy="567143"/>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DA4AE162-75C4-D374-0FBC-814743B9B75B}"/>
                  </a:ext>
                </a:extLst>
              </p:cNvPr>
              <p:cNvSpPr txBox="1"/>
              <p:nvPr/>
            </p:nvSpPr>
            <p:spPr>
              <a:xfrm>
                <a:off x="2835594" y="3054323"/>
                <a:ext cx="6090129" cy="57515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𝑂𝑝𝑒𝑟𝑎𝑡𝑖𝑜𝑛𝑎𝑙</m:t>
                      </m:r>
                      <m:r>
                        <a:rPr lang="en-US" b="0" i="1" smtClean="0">
                          <a:latin typeface="Cambria Math" panose="02040503050406030204" pitchFamily="18" charset="0"/>
                        </a:rPr>
                        <m:t> </m:t>
                      </m:r>
                      <m:r>
                        <a:rPr lang="en-US" b="0" i="1" smtClean="0">
                          <a:latin typeface="Cambria Math" panose="02040503050406030204" pitchFamily="18" charset="0"/>
                        </a:rPr>
                        <m:t>𝑇𝑒𝑚𝑝𝑒𝑟𝑎𝑡𝑢𝑟𝑒</m:t>
                      </m:r>
                      <m:r>
                        <a:rPr lang="en-US" b="0" i="1" smtClean="0">
                          <a:latin typeface="Cambria Math" panose="02040503050406030204" pitchFamily="18" charset="0"/>
                        </a:rPr>
                        <m:t> </m:t>
                      </m:r>
                      <m:r>
                        <a:rPr lang="en-US" b="0" i="1" smtClean="0">
                          <a:latin typeface="Cambria Math" panose="02040503050406030204" pitchFamily="18" charset="0"/>
                        </a:rPr>
                        <m:t>𝑅𝑎𝑡𝑖𝑜</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𝑇𝑒𝑚𝑝𝑒𝑟𝑎𝑡𝑢𝑟𝑒</m:t>
                          </m:r>
                          <m:r>
                            <a:rPr lang="en-US" i="1">
                              <a:latin typeface="Cambria Math" panose="02040503050406030204" pitchFamily="18" charset="0"/>
                            </a:rPr>
                            <m:t> </m:t>
                          </m:r>
                          <m:r>
                            <a:rPr lang="en-US" i="1">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𝐸𝑛𝑔𝑖𝑛𝑒</m:t>
                          </m:r>
                        </m:num>
                        <m:den>
                          <m:r>
                            <a:rPr lang="en-US" b="0" i="1" smtClean="0">
                              <a:latin typeface="Cambria Math" panose="02040503050406030204" pitchFamily="18" charset="0"/>
                            </a:rPr>
                            <m:t>𝑇𝑒𝑚𝑝𝑒𝑟𝑎𝑡𝑢𝑟𝑒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𝐹𝑙𝑢𝑖𝑑</m:t>
                          </m:r>
                        </m:den>
                      </m:f>
                    </m:oMath>
                  </m:oMathPara>
                </a14:m>
                <a:endParaRPr lang="en-US" b="0" dirty="0"/>
              </a:p>
            </p:txBody>
          </p:sp>
        </mc:Choice>
        <mc:Fallback>
          <p:sp>
            <p:nvSpPr>
              <p:cNvPr id="8" name="TextBox 7">
                <a:extLst>
                  <a:ext uri="{FF2B5EF4-FFF2-40B4-BE49-F238E27FC236}">
                    <a16:creationId xmlns:a16="http://schemas.microsoft.com/office/drawing/2014/main" id="{DA4AE162-75C4-D374-0FBC-814743B9B75B}"/>
                  </a:ext>
                </a:extLst>
              </p:cNvPr>
              <p:cNvSpPr txBox="1">
                <a:spLocks noRot="1" noChangeAspect="1" noMove="1" noResize="1" noEditPoints="1" noAdjustHandles="1" noChangeArrowheads="1" noChangeShapeType="1" noTextEdit="1"/>
              </p:cNvSpPr>
              <p:nvPr/>
            </p:nvSpPr>
            <p:spPr>
              <a:xfrm>
                <a:off x="2835594" y="3054323"/>
                <a:ext cx="6090129" cy="57515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0F8185A-C04A-E67D-AFD9-6177CB0A1021}"/>
                  </a:ext>
                </a:extLst>
              </p:cNvPr>
              <p:cNvSpPr txBox="1"/>
              <p:nvPr/>
            </p:nvSpPr>
            <p:spPr>
              <a:xfrm>
                <a:off x="2835594" y="4039522"/>
                <a:ext cx="5232906" cy="59285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𝑂𝑝𝑒𝑟𝑎𝑡𝑖𝑜𝑛𝑎𝑙</m:t>
                      </m:r>
                      <m:r>
                        <a:rPr lang="en-US" b="0" i="1" smtClean="0">
                          <a:latin typeface="Cambria Math" panose="02040503050406030204" pitchFamily="18" charset="0"/>
                        </a:rPr>
                        <m:t> </m:t>
                      </m:r>
                      <m:r>
                        <a:rPr lang="en-US" b="0" i="1" smtClean="0">
                          <a:latin typeface="Cambria Math" panose="02040503050406030204" pitchFamily="18" charset="0"/>
                        </a:rPr>
                        <m:t>𝑉𝑖𝑏𝑟𝑎𝑡𝑖𝑜𝑛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𝑉𝑖𝑏𝑟𝑎𝑡𝑖𝑜𝑛</m:t>
                          </m:r>
                          <m:r>
                            <a:rPr lang="en-US" i="1">
                              <a:latin typeface="Cambria Math" panose="02040503050406030204" pitchFamily="18" charset="0"/>
                            </a:rPr>
                            <m:t> </m:t>
                          </m:r>
                          <m:r>
                            <a:rPr lang="en-US" i="1">
                              <a:latin typeface="Cambria Math" panose="02040503050406030204" pitchFamily="18" charset="0"/>
                            </a:rPr>
                            <m:t>𝑎𝑙𝑜𝑛𝑔</m:t>
                          </m:r>
                          <m:r>
                            <a:rPr lang="en-US" i="1">
                              <a:latin typeface="Cambria Math" panose="02040503050406030204" pitchFamily="18" charset="0"/>
                            </a:rPr>
                            <m:t> </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𝑎𝑥𝑖𝑠</m:t>
                          </m:r>
                        </m:num>
                        <m:den>
                          <m:r>
                            <a:rPr lang="en-US" b="0" i="1" smtClean="0">
                              <a:latin typeface="Cambria Math" panose="02040503050406030204" pitchFamily="18" charset="0"/>
                            </a:rPr>
                            <m:t>𝑉𝑖𝑏𝑟𝑎𝑡𝑖𝑜𝑛</m:t>
                          </m:r>
                          <m:r>
                            <a:rPr lang="en-US" b="0" i="1" smtClean="0">
                              <a:latin typeface="Cambria Math" panose="02040503050406030204" pitchFamily="18" charset="0"/>
                            </a:rPr>
                            <m:t> </m:t>
                          </m:r>
                          <m:r>
                            <a:rPr lang="en-US" b="0" i="1" smtClean="0">
                              <a:latin typeface="Cambria Math" panose="02040503050406030204" pitchFamily="18" charset="0"/>
                            </a:rPr>
                            <m:t>𝑎𝑙𝑜𝑛𝑔</m:t>
                          </m:r>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𝑎𝑥𝑖𝑠</m:t>
                          </m:r>
                        </m:den>
                      </m:f>
                    </m:oMath>
                  </m:oMathPara>
                </a14:m>
                <a:endParaRPr lang="en-IN" dirty="0"/>
              </a:p>
            </p:txBody>
          </p:sp>
        </mc:Choice>
        <mc:Fallback>
          <p:sp>
            <p:nvSpPr>
              <p:cNvPr id="9" name="TextBox 8">
                <a:extLst>
                  <a:ext uri="{FF2B5EF4-FFF2-40B4-BE49-F238E27FC236}">
                    <a16:creationId xmlns:a16="http://schemas.microsoft.com/office/drawing/2014/main" id="{80F8185A-C04A-E67D-AFD9-6177CB0A1021}"/>
                  </a:ext>
                </a:extLst>
              </p:cNvPr>
              <p:cNvSpPr txBox="1">
                <a:spLocks noRot="1" noChangeAspect="1" noMove="1" noResize="1" noEditPoints="1" noAdjustHandles="1" noChangeArrowheads="1" noChangeShapeType="1" noTextEdit="1"/>
              </p:cNvSpPr>
              <p:nvPr/>
            </p:nvSpPr>
            <p:spPr>
              <a:xfrm>
                <a:off x="2835594" y="4039522"/>
                <a:ext cx="5232906" cy="592855"/>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D85114E-EE68-5A40-F720-2CF2AE5DDCF5}"/>
                  </a:ext>
                </a:extLst>
              </p:cNvPr>
              <p:cNvSpPr txBox="1"/>
              <p:nvPr/>
            </p:nvSpPr>
            <p:spPr>
              <a:xfrm>
                <a:off x="2835594" y="4975854"/>
                <a:ext cx="4190314" cy="57451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𝑆𝑝𝑒𝑐𝑖𝑓𝑖𝑐</m:t>
                      </m:r>
                      <m:r>
                        <a:rPr lang="en-US" b="0" i="1" smtClean="0">
                          <a:latin typeface="Cambria Math" panose="02040503050406030204" pitchFamily="18" charset="0"/>
                        </a:rPr>
                        <m:t> </m:t>
                      </m:r>
                      <m:r>
                        <a:rPr lang="en-US" b="0" i="1" smtClean="0">
                          <a:latin typeface="Cambria Math" panose="02040503050406030204" pitchFamily="18" charset="0"/>
                        </a:rPr>
                        <m:t>𝑃𝑜𝑤𝑒𝑟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𝑉𝑜𝑙𝑡𝑎𝑔𝑒</m:t>
                          </m:r>
                          <m:r>
                            <a:rPr lang="en-US" b="0" i="1" smtClean="0">
                              <a:latin typeface="Cambria Math" panose="02040503050406030204" pitchFamily="18" charset="0"/>
                            </a:rPr>
                            <m:t> ∗</m:t>
                          </m:r>
                          <m:r>
                            <a:rPr lang="en-US" b="0" i="1" smtClean="0">
                              <a:latin typeface="Cambria Math" panose="02040503050406030204" pitchFamily="18" charset="0"/>
                            </a:rPr>
                            <m:t>𝐶𝑢𝑟𝑟𝑒𝑛𝑡</m:t>
                          </m:r>
                        </m:num>
                        <m:den>
                          <m:r>
                            <a:rPr lang="en-US" b="0" i="1" smtClean="0">
                              <a:latin typeface="Cambria Math" panose="02040503050406030204" pitchFamily="18" charset="0"/>
                            </a:rPr>
                            <m:t>𝑅𝑎𝑡𝑒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𝑓𝑙𝑜𝑤</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𝐹𝑙𝑢𝑖𝑑</m:t>
                          </m:r>
                        </m:den>
                      </m:f>
                    </m:oMath>
                  </m:oMathPara>
                </a14:m>
                <a:endParaRPr lang="en-IN" dirty="0"/>
              </a:p>
            </p:txBody>
          </p:sp>
        </mc:Choice>
        <mc:Fallback>
          <p:sp>
            <p:nvSpPr>
              <p:cNvPr id="10" name="TextBox 9">
                <a:extLst>
                  <a:ext uri="{FF2B5EF4-FFF2-40B4-BE49-F238E27FC236}">
                    <a16:creationId xmlns:a16="http://schemas.microsoft.com/office/drawing/2014/main" id="{0D85114E-EE68-5A40-F720-2CF2AE5DDCF5}"/>
                  </a:ext>
                </a:extLst>
              </p:cNvPr>
              <p:cNvSpPr txBox="1">
                <a:spLocks noRot="1" noChangeAspect="1" noMove="1" noResize="1" noEditPoints="1" noAdjustHandles="1" noChangeArrowheads="1" noChangeShapeType="1" noTextEdit="1"/>
              </p:cNvSpPr>
              <p:nvPr/>
            </p:nvSpPr>
            <p:spPr>
              <a:xfrm>
                <a:off x="2835594" y="4975854"/>
                <a:ext cx="4190314" cy="574516"/>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5263997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210FF-C9DE-4A84-09FC-7398F08F0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0C0E6-0563-94CE-BBAA-5C06E0789011}"/>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Difference Features</a:t>
            </a:r>
          </a:p>
        </p:txBody>
      </p:sp>
      <p:sp>
        <p:nvSpPr>
          <p:cNvPr id="4" name="Footer Placeholder 3">
            <a:extLst>
              <a:ext uri="{FF2B5EF4-FFF2-40B4-BE49-F238E27FC236}">
                <a16:creationId xmlns:a16="http://schemas.microsoft.com/office/drawing/2014/main" id="{7760F786-5FAA-B7AB-0A47-530D5CB79862}"/>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575C15C0-36A5-0735-5418-544D746BCCCB}"/>
              </a:ext>
            </a:extLst>
          </p:cNvPr>
          <p:cNvSpPr>
            <a:spLocks noGrp="1"/>
          </p:cNvSpPr>
          <p:nvPr>
            <p:ph type="sldNum" sz="quarter" idx="12"/>
          </p:nvPr>
        </p:nvSpPr>
        <p:spPr/>
        <p:txBody>
          <a:bodyPr/>
          <a:lstStyle/>
          <a:p>
            <a:fld id="{0541023B-0DCA-4467-9EB4-7DB5EBA0C709}" type="slidenum">
              <a:rPr lang="en-IN" smtClean="0"/>
              <a:t>24</a:t>
            </a:fld>
            <a:endParaRPr lang="en-IN"/>
          </a:p>
        </p:txBody>
      </p:sp>
      <p:sp>
        <p:nvSpPr>
          <p:cNvPr id="8" name="Content Placeholder 6">
            <a:extLst>
              <a:ext uri="{FF2B5EF4-FFF2-40B4-BE49-F238E27FC236}">
                <a16:creationId xmlns:a16="http://schemas.microsoft.com/office/drawing/2014/main" id="{60469EF7-B862-8DF6-8A8F-BF3055E2CE82}"/>
              </a:ext>
            </a:extLst>
          </p:cNvPr>
          <p:cNvSpPr txBox="1">
            <a:spLocks/>
          </p:cNvSpPr>
          <p:nvPr/>
        </p:nvSpPr>
        <p:spPr>
          <a:xfrm>
            <a:off x="838200" y="1825625"/>
            <a:ext cx="9784080" cy="41872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u="sng" dirty="0"/>
              <a:t>Vibrational Balance</a:t>
            </a:r>
          </a:p>
          <a:p>
            <a:endParaRPr lang="en-US" sz="1400" dirty="0"/>
          </a:p>
          <a:p>
            <a:endParaRPr lang="en-US" sz="1400" dirty="0"/>
          </a:p>
          <a:p>
            <a:r>
              <a:rPr lang="en-IN" sz="1400" b="1" u="sng" dirty="0"/>
              <a:t>Temperature Balance</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089D638-F9D5-7748-8515-52199B859708}"/>
                  </a:ext>
                </a:extLst>
              </p:cNvPr>
              <p:cNvSpPr txBox="1"/>
              <p:nvPr/>
            </p:nvSpPr>
            <p:spPr>
              <a:xfrm>
                <a:off x="2449830" y="2263140"/>
                <a:ext cx="8276946"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𝑉𝑖𝑏𝑟𝑎𝑡𝑖𝑜𝑛𝑎𝑙</m:t>
                      </m:r>
                      <m:r>
                        <a:rPr lang="en-US" b="0" i="1" smtClean="0">
                          <a:latin typeface="Cambria Math" panose="02040503050406030204" pitchFamily="18" charset="0"/>
                        </a:rPr>
                        <m:t> </m:t>
                      </m:r>
                      <m:r>
                        <a:rPr lang="en-US" b="0" i="1" smtClean="0">
                          <a:latin typeface="Cambria Math" panose="02040503050406030204" pitchFamily="18" charset="0"/>
                        </a:rPr>
                        <m:t>𝐵𝑎𝑙𝑎𝑛𝑐𝑒</m:t>
                      </m:r>
                      <m:r>
                        <a:rPr lang="en-US" b="0" i="1" smtClean="0">
                          <a:latin typeface="Cambria Math" panose="02040503050406030204" pitchFamily="18" charset="0"/>
                        </a:rPr>
                        <m:t>=</m:t>
                      </m:r>
                      <m:r>
                        <a:rPr lang="en-US" b="0" i="1" smtClean="0">
                          <a:latin typeface="Cambria Math" panose="02040503050406030204" pitchFamily="18" charset="0"/>
                        </a:rPr>
                        <m:t>𝑉𝑖𝑏𝑟𝑎𝑡𝑖𝑜𝑛</m:t>
                      </m:r>
                      <m:r>
                        <a:rPr lang="en-US" b="0" i="1" smtClean="0">
                          <a:latin typeface="Cambria Math" panose="02040503050406030204" pitchFamily="18" charset="0"/>
                        </a:rPr>
                        <m:t> (</m:t>
                      </m:r>
                      <m:r>
                        <a:rPr lang="en-US" b="0" i="1" smtClean="0">
                          <a:latin typeface="Cambria Math" panose="02040503050406030204" pitchFamily="18" charset="0"/>
                        </a:rPr>
                        <m:t>𝑎𝑙𝑜𝑛𝑔</m:t>
                      </m:r>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𝑎𝑥𝑖𝑠</m:t>
                      </m:r>
                      <m:r>
                        <a:rPr lang="en-US" b="0" i="1" smtClean="0">
                          <a:latin typeface="Cambria Math" panose="02040503050406030204" pitchFamily="18" charset="0"/>
                        </a:rPr>
                        <m:t>) −</m:t>
                      </m:r>
                      <m:r>
                        <a:rPr lang="en-US" b="0" i="1" smtClean="0">
                          <a:latin typeface="Cambria Math" panose="02040503050406030204" pitchFamily="18" charset="0"/>
                        </a:rPr>
                        <m:t>𝑉𝑖𝑏𝑟𝑎𝑡𝑖𝑜𝑛</m:t>
                      </m:r>
                      <m:r>
                        <a:rPr lang="en-US" b="0" i="1" smtClean="0">
                          <a:latin typeface="Cambria Math" panose="02040503050406030204" pitchFamily="18" charset="0"/>
                        </a:rPr>
                        <m:t> (</m:t>
                      </m:r>
                      <m:r>
                        <a:rPr lang="en-US" b="0" i="1" smtClean="0">
                          <a:latin typeface="Cambria Math" panose="02040503050406030204" pitchFamily="18" charset="0"/>
                        </a:rPr>
                        <m:t>𝑎𝑙𝑜𝑛𝑔</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𝑎𝑥𝑖𝑠</m:t>
                      </m:r>
                      <m:r>
                        <a:rPr lang="en-US" b="0" i="1" smtClean="0">
                          <a:latin typeface="Cambria Math" panose="02040503050406030204" pitchFamily="18" charset="0"/>
                        </a:rPr>
                        <m:t>)</m:t>
                      </m:r>
                    </m:oMath>
                  </m:oMathPara>
                </a14:m>
                <a:endParaRPr lang="en-IN" dirty="0"/>
              </a:p>
            </p:txBody>
          </p:sp>
        </mc:Choice>
        <mc:Fallback>
          <p:sp>
            <p:nvSpPr>
              <p:cNvPr id="9" name="TextBox 8">
                <a:extLst>
                  <a:ext uri="{FF2B5EF4-FFF2-40B4-BE49-F238E27FC236}">
                    <a16:creationId xmlns:a16="http://schemas.microsoft.com/office/drawing/2014/main" id="{2089D638-F9D5-7748-8515-52199B859708}"/>
                  </a:ext>
                </a:extLst>
              </p:cNvPr>
              <p:cNvSpPr txBox="1">
                <a:spLocks noRot="1" noChangeAspect="1" noMove="1" noResize="1" noEditPoints="1" noAdjustHandles="1" noChangeArrowheads="1" noChangeShapeType="1" noTextEdit="1"/>
              </p:cNvSpPr>
              <p:nvPr/>
            </p:nvSpPr>
            <p:spPr>
              <a:xfrm>
                <a:off x="2449830" y="2263140"/>
                <a:ext cx="8276946" cy="276999"/>
              </a:xfrm>
              <a:prstGeom prst="rect">
                <a:avLst/>
              </a:prstGeom>
              <a:blipFill>
                <a:blip r:embed="rId3"/>
                <a:stretch>
                  <a:fillRect l="-221" t="-2174" r="-515" b="-32609"/>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FA25492-4440-6A78-DA4C-76BBC6386E30}"/>
                  </a:ext>
                </a:extLst>
              </p:cNvPr>
              <p:cNvSpPr txBox="1"/>
              <p:nvPr/>
            </p:nvSpPr>
            <p:spPr>
              <a:xfrm>
                <a:off x="2449830" y="3382137"/>
                <a:ext cx="772608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𝑇𝑒𝑚𝑝𝑒𝑟𝑎𝑡𝑢𝑟𝑒</m:t>
                      </m:r>
                      <m:r>
                        <a:rPr lang="en-US" b="0" i="1" smtClean="0">
                          <a:latin typeface="Cambria Math" panose="02040503050406030204" pitchFamily="18" charset="0"/>
                        </a:rPr>
                        <m:t> </m:t>
                      </m:r>
                      <m:r>
                        <a:rPr lang="en-US" b="0" i="1" smtClean="0">
                          <a:latin typeface="Cambria Math" panose="02040503050406030204" pitchFamily="18" charset="0"/>
                        </a:rPr>
                        <m:t>𝐵𝑎𝑙𝑎𝑛𝑐𝑒</m:t>
                      </m:r>
                      <m:r>
                        <a:rPr lang="en-US" b="0" i="1" smtClean="0">
                          <a:latin typeface="Cambria Math" panose="02040503050406030204" pitchFamily="18" charset="0"/>
                        </a:rPr>
                        <m:t>=</m:t>
                      </m:r>
                      <m:r>
                        <a:rPr lang="en-US" b="0" i="1" smtClean="0">
                          <a:latin typeface="Cambria Math" panose="02040503050406030204" pitchFamily="18" charset="0"/>
                        </a:rPr>
                        <m:t>𝑇𝑒𝑚𝑝𝑒𝑟𝑎𝑡𝑢𝑟𝑒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𝐸𝑛𝑔𝑖𝑛𝑒</m:t>
                      </m:r>
                      <m:r>
                        <a:rPr lang="en-US" b="0" i="1" smtClean="0">
                          <a:latin typeface="Cambria Math" panose="02040503050406030204" pitchFamily="18" charset="0"/>
                        </a:rPr>
                        <m:t> −</m:t>
                      </m:r>
                      <m:r>
                        <a:rPr lang="en-US" b="0" i="1" smtClean="0">
                          <a:latin typeface="Cambria Math" panose="02040503050406030204" pitchFamily="18" charset="0"/>
                        </a:rPr>
                        <m:t>𝑇𝑒𝑚𝑝𝑒𝑟𝑎𝑡𝑢𝑟𝑒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𝐹𝑙𝑢𝑖𝑑</m:t>
                      </m:r>
                    </m:oMath>
                  </m:oMathPara>
                </a14:m>
                <a:endParaRPr lang="en-IN" dirty="0"/>
              </a:p>
            </p:txBody>
          </p:sp>
        </mc:Choice>
        <mc:Fallback>
          <p:sp>
            <p:nvSpPr>
              <p:cNvPr id="10" name="TextBox 9">
                <a:extLst>
                  <a:ext uri="{FF2B5EF4-FFF2-40B4-BE49-F238E27FC236}">
                    <a16:creationId xmlns:a16="http://schemas.microsoft.com/office/drawing/2014/main" id="{0FA25492-4440-6A78-DA4C-76BBC6386E30}"/>
                  </a:ext>
                </a:extLst>
              </p:cNvPr>
              <p:cNvSpPr txBox="1">
                <a:spLocks noRot="1" noChangeAspect="1" noMove="1" noResize="1" noEditPoints="1" noAdjustHandles="1" noChangeArrowheads="1" noChangeShapeType="1" noTextEdit="1"/>
              </p:cNvSpPr>
              <p:nvPr/>
            </p:nvSpPr>
            <p:spPr>
              <a:xfrm>
                <a:off x="2449830" y="3382137"/>
                <a:ext cx="7726089" cy="276999"/>
              </a:xfrm>
              <a:prstGeom prst="rect">
                <a:avLst/>
              </a:prstGeom>
              <a:blipFill>
                <a:blip r:embed="rId4"/>
                <a:stretch>
                  <a:fillRect l="-631" t="-2222" r="-316" b="-35556"/>
                </a:stretch>
              </a:blipFill>
            </p:spPr>
            <p:txBody>
              <a:bodyPr/>
              <a:lstStyle/>
              <a:p>
                <a:r>
                  <a:rPr lang="en-IN">
                    <a:noFill/>
                  </a:rPr>
                  <a:t> </a:t>
                </a:r>
              </a:p>
            </p:txBody>
          </p:sp>
        </mc:Fallback>
      </mc:AlternateContent>
    </p:spTree>
    <p:extLst>
      <p:ext uri="{BB962C8B-B14F-4D97-AF65-F5344CB8AC3E}">
        <p14:creationId xmlns:p14="http://schemas.microsoft.com/office/powerpoint/2010/main" val="217592669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B3264-BB4A-CB49-C311-4EDF8B0D9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799F9-7BC1-5A4C-BAE2-B81C7D403505}"/>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Efficiency &amp; Performance Features</a:t>
            </a:r>
          </a:p>
        </p:txBody>
      </p:sp>
      <p:sp>
        <p:nvSpPr>
          <p:cNvPr id="4" name="Footer Placeholder 3">
            <a:extLst>
              <a:ext uri="{FF2B5EF4-FFF2-40B4-BE49-F238E27FC236}">
                <a16:creationId xmlns:a16="http://schemas.microsoft.com/office/drawing/2014/main" id="{D8CA058D-A1AC-09CF-015C-1AC1BFCB2279}"/>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11AF54D5-13E0-CCA7-9093-BB9AA87DD0D1}"/>
              </a:ext>
            </a:extLst>
          </p:cNvPr>
          <p:cNvSpPr>
            <a:spLocks noGrp="1"/>
          </p:cNvSpPr>
          <p:nvPr>
            <p:ph type="sldNum" sz="quarter" idx="12"/>
          </p:nvPr>
        </p:nvSpPr>
        <p:spPr/>
        <p:txBody>
          <a:bodyPr/>
          <a:lstStyle/>
          <a:p>
            <a:fld id="{0541023B-0DCA-4467-9EB4-7DB5EBA0C709}" type="slidenum">
              <a:rPr lang="en-IN" smtClean="0"/>
              <a:t>25</a:t>
            </a:fld>
            <a:endParaRPr lang="en-IN"/>
          </a:p>
        </p:txBody>
      </p:sp>
      <p:sp>
        <p:nvSpPr>
          <p:cNvPr id="8" name="Content Placeholder 6">
            <a:extLst>
              <a:ext uri="{FF2B5EF4-FFF2-40B4-BE49-F238E27FC236}">
                <a16:creationId xmlns:a16="http://schemas.microsoft.com/office/drawing/2014/main" id="{9E753834-A828-B361-1611-F422EF4B7118}"/>
              </a:ext>
            </a:extLst>
          </p:cNvPr>
          <p:cNvSpPr>
            <a:spLocks noGrp="1"/>
          </p:cNvSpPr>
          <p:nvPr>
            <p:ph idx="1"/>
          </p:nvPr>
        </p:nvSpPr>
        <p:spPr>
          <a:xfrm>
            <a:off x="838200" y="1825625"/>
            <a:ext cx="9784080" cy="4187248"/>
          </a:xfrm>
        </p:spPr>
        <p:txBody>
          <a:bodyPr>
            <a:normAutofit/>
          </a:bodyPr>
          <a:lstStyle/>
          <a:p>
            <a:r>
              <a:rPr lang="en-US" sz="1400" b="1" u="sng" dirty="0"/>
              <a:t>Hydraulic Power</a:t>
            </a:r>
          </a:p>
          <a:p>
            <a:endParaRPr lang="en-US" sz="1400" dirty="0"/>
          </a:p>
          <a:p>
            <a:endParaRPr lang="en-US" sz="1400" dirty="0"/>
          </a:p>
          <a:p>
            <a:r>
              <a:rPr lang="en-IN" sz="1400" b="1" u="sng" dirty="0"/>
              <a:t>Electrical Power</a:t>
            </a:r>
          </a:p>
          <a:p>
            <a:endParaRPr lang="en-IN" sz="1400" dirty="0"/>
          </a:p>
          <a:p>
            <a:endParaRPr lang="en-IN" sz="1400" dirty="0"/>
          </a:p>
          <a:p>
            <a:r>
              <a:rPr lang="en-IN" sz="1400" b="1" u="sng" dirty="0"/>
              <a:t>Pump Efficiency</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D40D2F06-A2E3-3B23-4593-ABB7E51BE3BB}"/>
                  </a:ext>
                </a:extLst>
              </p:cNvPr>
              <p:cNvSpPr txBox="1"/>
              <p:nvPr/>
            </p:nvSpPr>
            <p:spPr>
              <a:xfrm>
                <a:off x="2295416" y="2125980"/>
                <a:ext cx="7686784" cy="53572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𝐻𝑦𝑑𝑟𝑎𝑢𝑙𝑖𝑐</m:t>
                      </m:r>
                      <m:r>
                        <a:rPr lang="en-US" b="0" i="1" smtClean="0">
                          <a:latin typeface="Cambria Math" panose="02040503050406030204" pitchFamily="18" charset="0"/>
                        </a:rPr>
                        <m:t> </m:t>
                      </m:r>
                      <m:r>
                        <a:rPr lang="en-US" b="0" i="1" smtClean="0">
                          <a:latin typeface="Cambria Math" panose="02040503050406030204" pitchFamily="18" charset="0"/>
                        </a:rPr>
                        <m:t>𝑃𝑜𝑤𝑒𝑟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𝐹𝑙𝑜𝑤</m:t>
                              </m:r>
                              <m:r>
                                <a:rPr lang="en-US" b="0" i="1" smtClean="0">
                                  <a:latin typeface="Cambria Math" panose="02040503050406030204" pitchFamily="18" charset="0"/>
                                </a:rPr>
                                <m:t> </m:t>
                              </m:r>
                              <m:r>
                                <a:rPr lang="en-US" b="0" i="1" smtClean="0">
                                  <a:latin typeface="Cambria Math" panose="02040503050406030204" pitchFamily="18" charset="0"/>
                                </a:rPr>
                                <m:t>𝑅𝑎𝑡𝑒</m:t>
                              </m:r>
                              <m:r>
                                <a:rPr lang="en-US" b="0" i="1" smtClean="0">
                                  <a:latin typeface="Cambria Math" panose="02040503050406030204" pitchFamily="18" charset="0"/>
                                </a:rPr>
                                <m:t> ∗</m:t>
                              </m:r>
                              <m:r>
                                <a:rPr lang="en-US" b="0" i="1" smtClean="0">
                                  <a:latin typeface="Cambria Math" panose="02040503050406030204" pitchFamily="18" charset="0"/>
                                </a:rPr>
                                <m:t>𝐹𝑙𝑢𝑖𝑑</m:t>
                              </m:r>
                              <m:r>
                                <a:rPr lang="en-US" b="0" i="1" smtClean="0">
                                  <a:latin typeface="Cambria Math" panose="02040503050406030204" pitchFamily="18" charset="0"/>
                                </a:rPr>
                                <m:t> </m:t>
                              </m:r>
                              <m:r>
                                <a:rPr lang="en-US" b="0" i="1" smtClean="0">
                                  <a:latin typeface="Cambria Math" panose="02040503050406030204" pitchFamily="18" charset="0"/>
                                </a:rPr>
                                <m:t>𝐷𝑒𝑛𝑠𝑖𝑡𝑦</m:t>
                              </m:r>
                              <m:r>
                                <a:rPr lang="en-US" b="0" i="1" smtClean="0">
                                  <a:latin typeface="Cambria Math" panose="02040503050406030204" pitchFamily="18" charset="0"/>
                                </a:rPr>
                                <m:t> ∗</m:t>
                              </m:r>
                              <m:r>
                                <a:rPr lang="en-US" b="0" i="1" smtClean="0">
                                  <a:latin typeface="Cambria Math" panose="02040503050406030204" pitchFamily="18" charset="0"/>
                                </a:rPr>
                                <m:t>𝑔</m:t>
                              </m:r>
                              <m:r>
                                <a:rPr lang="en-US" b="0" i="1" smtClean="0">
                                  <a:latin typeface="Cambria Math" panose="02040503050406030204" pitchFamily="18" charset="0"/>
                                </a:rPr>
                                <m:t> ∗</m:t>
                              </m:r>
                              <m:r>
                                <a:rPr lang="en-US" b="0" i="1" smtClean="0">
                                  <a:latin typeface="Cambria Math" panose="02040503050406030204" pitchFamily="18" charset="0"/>
                                </a:rPr>
                                <m:t>𝐷𝑖𝑓𝑓𝑒𝑟𝑒𝑛𝑐𝑖𝑎𝑙</m:t>
                              </m:r>
                              <m:r>
                                <a:rPr lang="en-US" b="0" i="1" smtClean="0">
                                  <a:latin typeface="Cambria Math" panose="02040503050406030204" pitchFamily="18" charset="0"/>
                                </a:rPr>
                                <m:t> </m:t>
                              </m:r>
                              <m:r>
                                <a:rPr lang="en-US" b="0" i="1" smtClean="0">
                                  <a:latin typeface="Cambria Math" panose="02040503050406030204" pitchFamily="18" charset="0"/>
                                </a:rPr>
                                <m:t>𝐻𝑒𝑎𝑑</m:t>
                              </m:r>
                            </m:e>
                          </m:d>
                        </m:num>
                        <m:den>
                          <m:r>
                            <a:rPr lang="en-US" b="0" i="1" smtClean="0">
                              <a:latin typeface="Cambria Math" panose="02040503050406030204" pitchFamily="18" charset="0"/>
                            </a:rPr>
                            <m:t>1000</m:t>
                          </m:r>
                        </m:den>
                      </m:f>
                    </m:oMath>
                  </m:oMathPara>
                </a14:m>
                <a:endParaRPr lang="en-IN" dirty="0"/>
              </a:p>
            </p:txBody>
          </p:sp>
        </mc:Choice>
        <mc:Fallback>
          <p:sp>
            <p:nvSpPr>
              <p:cNvPr id="9" name="TextBox 8">
                <a:extLst>
                  <a:ext uri="{FF2B5EF4-FFF2-40B4-BE49-F238E27FC236}">
                    <a16:creationId xmlns:a16="http://schemas.microsoft.com/office/drawing/2014/main" id="{D40D2F06-A2E3-3B23-4593-ABB7E51BE3BB}"/>
                  </a:ext>
                </a:extLst>
              </p:cNvPr>
              <p:cNvSpPr txBox="1">
                <a:spLocks noRot="1" noChangeAspect="1" noMove="1" noResize="1" noEditPoints="1" noAdjustHandles="1" noChangeArrowheads="1" noChangeShapeType="1" noTextEdit="1"/>
              </p:cNvSpPr>
              <p:nvPr/>
            </p:nvSpPr>
            <p:spPr>
              <a:xfrm>
                <a:off x="2295416" y="2125980"/>
                <a:ext cx="7686784" cy="53572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932D0237-44C2-63B1-7766-8E6A49396B21}"/>
                  </a:ext>
                </a:extLst>
              </p:cNvPr>
              <p:cNvSpPr txBox="1"/>
              <p:nvPr/>
            </p:nvSpPr>
            <p:spPr>
              <a:xfrm>
                <a:off x="2295416" y="3290500"/>
                <a:ext cx="569662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𝐸𝑙𝑒𝑐𝑡𝑟𝑖𝑐𝑎𝑙</m:t>
                      </m:r>
                      <m:r>
                        <a:rPr lang="en-US" b="0" i="1" smtClean="0">
                          <a:latin typeface="Cambria Math" panose="02040503050406030204" pitchFamily="18" charset="0"/>
                        </a:rPr>
                        <m:t> </m:t>
                      </m:r>
                      <m:r>
                        <a:rPr lang="en-US" b="0" i="1" smtClean="0">
                          <a:latin typeface="Cambria Math" panose="02040503050406030204" pitchFamily="18" charset="0"/>
                        </a:rPr>
                        <m:t>𝑃𝑜𝑤𝑒𝑟</m:t>
                      </m:r>
                      <m:r>
                        <a:rPr lang="en-US" b="0" i="1" smtClean="0">
                          <a:latin typeface="Cambria Math" panose="02040503050406030204" pitchFamily="18" charset="0"/>
                        </a:rPr>
                        <m:t>=</m:t>
                      </m:r>
                      <m:r>
                        <a:rPr lang="en-US" b="0" i="1" smtClean="0">
                          <a:latin typeface="Cambria Math" panose="02040503050406030204" pitchFamily="18" charset="0"/>
                        </a:rPr>
                        <m:t>𝑉𝑜𝑙𝑡𝑎𝑔𝑒</m:t>
                      </m:r>
                      <m:r>
                        <a:rPr lang="en-US" b="0" i="1" smtClean="0">
                          <a:latin typeface="Cambria Math" panose="02040503050406030204" pitchFamily="18" charset="0"/>
                        </a:rPr>
                        <m:t> ∗</m:t>
                      </m:r>
                      <m:r>
                        <a:rPr lang="en-US" b="0" i="1" smtClean="0">
                          <a:latin typeface="Cambria Math" panose="02040503050406030204" pitchFamily="18" charset="0"/>
                        </a:rPr>
                        <m:t>𝐶𝑢𝑟𝑟𝑒𝑛𝑡</m:t>
                      </m:r>
                      <m:r>
                        <a:rPr lang="en-US" b="0" i="1" smtClean="0">
                          <a:latin typeface="Cambria Math" panose="02040503050406030204" pitchFamily="18" charset="0"/>
                        </a:rPr>
                        <m:t> ∗</m:t>
                      </m:r>
                      <m:r>
                        <a:rPr lang="en-US" b="0" i="1" smtClean="0">
                          <a:latin typeface="Cambria Math" panose="02040503050406030204" pitchFamily="18" charset="0"/>
                        </a:rPr>
                        <m:t>𝑃𝑜𝑤𝑒𝑟</m:t>
                      </m:r>
                      <m:r>
                        <a:rPr lang="en-US" b="0" i="1" smtClean="0">
                          <a:latin typeface="Cambria Math" panose="02040503050406030204" pitchFamily="18" charset="0"/>
                        </a:rPr>
                        <m:t> </m:t>
                      </m:r>
                      <m:r>
                        <a:rPr lang="en-US" b="0" i="1" smtClean="0">
                          <a:latin typeface="Cambria Math" panose="02040503050406030204" pitchFamily="18" charset="0"/>
                        </a:rPr>
                        <m:t>𝐹𝑎𝑐𝑡𝑜𝑟</m:t>
                      </m:r>
                    </m:oMath>
                  </m:oMathPara>
                </a14:m>
                <a:endParaRPr lang="en-IN" dirty="0"/>
              </a:p>
            </p:txBody>
          </p:sp>
        </mc:Choice>
        <mc:Fallback>
          <p:sp>
            <p:nvSpPr>
              <p:cNvPr id="10" name="TextBox 9">
                <a:extLst>
                  <a:ext uri="{FF2B5EF4-FFF2-40B4-BE49-F238E27FC236}">
                    <a16:creationId xmlns:a16="http://schemas.microsoft.com/office/drawing/2014/main" id="{932D0237-44C2-63B1-7766-8E6A49396B21}"/>
                  </a:ext>
                </a:extLst>
              </p:cNvPr>
              <p:cNvSpPr txBox="1">
                <a:spLocks noRot="1" noChangeAspect="1" noMove="1" noResize="1" noEditPoints="1" noAdjustHandles="1" noChangeArrowheads="1" noChangeShapeType="1" noTextEdit="1"/>
              </p:cNvSpPr>
              <p:nvPr/>
            </p:nvSpPr>
            <p:spPr>
              <a:xfrm>
                <a:off x="2295416" y="3290500"/>
                <a:ext cx="5696624" cy="276999"/>
              </a:xfrm>
              <a:prstGeom prst="rect">
                <a:avLst/>
              </a:prstGeom>
              <a:blipFill>
                <a:blip r:embed="rId4"/>
                <a:stretch>
                  <a:fillRect l="-535" t="-2222" r="-428" b="-35556"/>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40BAC6E-33DA-4E23-5993-5E807835DC52}"/>
                  </a:ext>
                </a:extLst>
              </p:cNvPr>
              <p:cNvSpPr txBox="1"/>
              <p:nvPr/>
            </p:nvSpPr>
            <p:spPr>
              <a:xfrm>
                <a:off x="2295416" y="4255757"/>
                <a:ext cx="3919278" cy="52411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𝑃𝑢𝑚𝑝</m:t>
                      </m:r>
                      <m:r>
                        <a:rPr lang="en-US" b="0" i="1" smtClean="0">
                          <a:latin typeface="Cambria Math" panose="02040503050406030204" pitchFamily="18" charset="0"/>
                        </a:rPr>
                        <m:t> </m:t>
                      </m:r>
                      <m:r>
                        <a:rPr lang="en-US" b="0" i="1" smtClean="0">
                          <a:latin typeface="Cambria Math" panose="02040503050406030204" pitchFamily="18" charset="0"/>
                        </a:rPr>
                        <m:t>𝐸𝑓𝑓𝑖𝑐𝑖𝑒𝑛𝑐𝑦</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𝐻𝑦𝑑𝑟𝑎𝑢𝑙𝑖𝑐</m:t>
                          </m:r>
                          <m:r>
                            <a:rPr lang="en-US" i="1">
                              <a:latin typeface="Cambria Math" panose="02040503050406030204" pitchFamily="18" charset="0"/>
                            </a:rPr>
                            <m:t> </m:t>
                          </m:r>
                          <m:r>
                            <a:rPr lang="en-US" i="1">
                              <a:latin typeface="Cambria Math" panose="02040503050406030204" pitchFamily="18" charset="0"/>
                            </a:rPr>
                            <m:t>𝑃𝑜𝑤𝑒𝑟</m:t>
                          </m:r>
                        </m:num>
                        <m:den>
                          <m:r>
                            <a:rPr lang="en-US" b="0" i="1" smtClean="0">
                              <a:latin typeface="Cambria Math" panose="02040503050406030204" pitchFamily="18" charset="0"/>
                            </a:rPr>
                            <m:t>𝐸𝑙𝑒𝑐𝑡𝑟𝑖𝑐𝑎𝑙</m:t>
                          </m:r>
                          <m:r>
                            <a:rPr lang="en-US" b="0" i="1" smtClean="0">
                              <a:latin typeface="Cambria Math" panose="02040503050406030204" pitchFamily="18" charset="0"/>
                            </a:rPr>
                            <m:t> </m:t>
                          </m:r>
                          <m:r>
                            <a:rPr lang="en-US" b="0" i="1" smtClean="0">
                              <a:latin typeface="Cambria Math" panose="02040503050406030204" pitchFamily="18" charset="0"/>
                            </a:rPr>
                            <m:t>𝑃𝑜𝑤𝑒𝑟</m:t>
                          </m:r>
                        </m:den>
                      </m:f>
                    </m:oMath>
                  </m:oMathPara>
                </a14:m>
                <a:endParaRPr lang="en-IN" dirty="0"/>
              </a:p>
            </p:txBody>
          </p:sp>
        </mc:Choice>
        <mc:Fallback>
          <p:sp>
            <p:nvSpPr>
              <p:cNvPr id="11" name="TextBox 10">
                <a:extLst>
                  <a:ext uri="{FF2B5EF4-FFF2-40B4-BE49-F238E27FC236}">
                    <a16:creationId xmlns:a16="http://schemas.microsoft.com/office/drawing/2014/main" id="{C40BAC6E-33DA-4E23-5993-5E807835DC52}"/>
                  </a:ext>
                </a:extLst>
              </p:cNvPr>
              <p:cNvSpPr txBox="1">
                <a:spLocks noRot="1" noChangeAspect="1" noMove="1" noResize="1" noEditPoints="1" noAdjustHandles="1" noChangeArrowheads="1" noChangeShapeType="1" noTextEdit="1"/>
              </p:cNvSpPr>
              <p:nvPr/>
            </p:nvSpPr>
            <p:spPr>
              <a:xfrm>
                <a:off x="2295416" y="4255757"/>
                <a:ext cx="3919278" cy="524118"/>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18810562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79BF8-5ECB-0025-B8DD-368C2B52A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1F618-51E7-A503-7576-274EEE9995FA}"/>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Higher Order Interactive Features</a:t>
            </a:r>
          </a:p>
        </p:txBody>
      </p:sp>
      <p:sp>
        <p:nvSpPr>
          <p:cNvPr id="4" name="Footer Placeholder 3">
            <a:extLst>
              <a:ext uri="{FF2B5EF4-FFF2-40B4-BE49-F238E27FC236}">
                <a16:creationId xmlns:a16="http://schemas.microsoft.com/office/drawing/2014/main" id="{EB3AAD4F-E565-18FF-A98C-DD29F4B27EA1}"/>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0F8BB380-2A91-8E24-A84E-F01D94707499}"/>
              </a:ext>
            </a:extLst>
          </p:cNvPr>
          <p:cNvSpPr>
            <a:spLocks noGrp="1"/>
          </p:cNvSpPr>
          <p:nvPr>
            <p:ph type="sldNum" sz="quarter" idx="12"/>
          </p:nvPr>
        </p:nvSpPr>
        <p:spPr/>
        <p:txBody>
          <a:bodyPr/>
          <a:lstStyle/>
          <a:p>
            <a:fld id="{0541023B-0DCA-4467-9EB4-7DB5EBA0C709}" type="slidenum">
              <a:rPr lang="en-IN" smtClean="0"/>
              <a:t>26</a:t>
            </a:fld>
            <a:endParaRPr lang="en-IN"/>
          </a:p>
        </p:txBody>
      </p:sp>
      <p:sp>
        <p:nvSpPr>
          <p:cNvPr id="8" name="Content Placeholder 6">
            <a:extLst>
              <a:ext uri="{FF2B5EF4-FFF2-40B4-BE49-F238E27FC236}">
                <a16:creationId xmlns:a16="http://schemas.microsoft.com/office/drawing/2014/main" id="{FC4D587B-0D29-C4ED-3B10-1BB864441835}"/>
              </a:ext>
            </a:extLst>
          </p:cNvPr>
          <p:cNvSpPr>
            <a:spLocks noGrp="1"/>
          </p:cNvSpPr>
          <p:nvPr>
            <p:ph idx="1"/>
          </p:nvPr>
        </p:nvSpPr>
        <p:spPr>
          <a:xfrm>
            <a:off x="838200" y="1825625"/>
            <a:ext cx="9784080" cy="4187248"/>
          </a:xfrm>
        </p:spPr>
        <p:txBody>
          <a:bodyPr>
            <a:normAutofit/>
          </a:bodyPr>
          <a:lstStyle/>
          <a:p>
            <a:r>
              <a:rPr lang="en-US" sz="1400" b="1" u="sng" dirty="0"/>
              <a:t>Vibration Intensity Ratio</a:t>
            </a:r>
          </a:p>
          <a:p>
            <a:endParaRPr lang="en-US" sz="1400" b="1" u="sng" dirty="0"/>
          </a:p>
          <a:p>
            <a:endParaRPr lang="en-US" sz="1400" b="1" u="sng" dirty="0"/>
          </a:p>
          <a:p>
            <a:r>
              <a:rPr lang="en-IN" sz="1400" b="1" u="sng" dirty="0"/>
              <a:t>Vibration per Unit Flow</a:t>
            </a:r>
          </a:p>
          <a:p>
            <a:endParaRPr lang="en-IN" sz="1400" b="1" u="sng" dirty="0"/>
          </a:p>
          <a:p>
            <a:endParaRPr lang="en-IN" sz="1400" b="1" u="sng" dirty="0"/>
          </a:p>
          <a:p>
            <a:r>
              <a:rPr lang="en-IN" sz="1400" b="1" u="sng" dirty="0"/>
              <a:t>Engine Temperature per Unit Power</a:t>
            </a:r>
          </a:p>
          <a:p>
            <a:endParaRPr lang="en-IN" sz="1400" b="1" u="sng" dirty="0"/>
          </a:p>
          <a:p>
            <a:endParaRPr lang="en-IN" sz="1400" b="1" u="sng" dirty="0"/>
          </a:p>
          <a:p>
            <a:r>
              <a:rPr lang="en-IN" sz="1400" b="1" u="sng" dirty="0"/>
              <a:t>Efficiency &amp; Temperature Balance Ratio</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5259470-140D-37FA-82BB-67DA97FF7583}"/>
                  </a:ext>
                </a:extLst>
              </p:cNvPr>
              <p:cNvSpPr txBox="1"/>
              <p:nvPr/>
            </p:nvSpPr>
            <p:spPr>
              <a:xfrm>
                <a:off x="3030311" y="2228850"/>
                <a:ext cx="5747599" cy="57676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𝑉𝑖𝑏𝑟𝑎𝑡𝑖𝑜𝑛</m:t>
                      </m:r>
                      <m:r>
                        <a:rPr lang="en-US" b="0" i="1" smtClean="0">
                          <a:latin typeface="Cambria Math" panose="02040503050406030204" pitchFamily="18" charset="0"/>
                        </a:rPr>
                        <m:t> </m:t>
                      </m:r>
                      <m:r>
                        <a:rPr lang="en-US" b="0" i="1" smtClean="0">
                          <a:latin typeface="Cambria Math" panose="02040503050406030204" pitchFamily="18" charset="0"/>
                        </a:rPr>
                        <m:t>𝐼𝑛𝑡𝑒𝑛𝑠𝑖𝑡𝑦</m:t>
                      </m:r>
                      <m:r>
                        <a:rPr lang="en-US" b="0" i="1" smtClean="0">
                          <a:latin typeface="Cambria Math" panose="02040503050406030204" pitchFamily="18" charset="0"/>
                        </a:rPr>
                        <m:t> </m:t>
                      </m:r>
                      <m:r>
                        <a:rPr lang="en-US" b="0" i="1" smtClean="0">
                          <a:latin typeface="Cambria Math" panose="02040503050406030204" pitchFamily="18" charset="0"/>
                        </a:rPr>
                        <m:t>𝑅𝑎𝑡𝑖𝑜</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𝑉𝑖𝑏𝑟𝑎𝑡𝑖𝑜𝑛</m:t>
                          </m:r>
                          <m:r>
                            <a:rPr lang="en-US" b="0" i="1" smtClean="0">
                              <a:latin typeface="Cambria Math" panose="02040503050406030204" pitchFamily="18" charset="0"/>
                            </a:rPr>
                            <m:t> (</m:t>
                          </m:r>
                          <m:r>
                            <a:rPr lang="en-US" b="0" i="1" smtClean="0">
                              <a:latin typeface="Cambria Math" panose="02040503050406030204" pitchFamily="18" charset="0"/>
                            </a:rPr>
                            <m:t>𝑎𝑙𝑜𝑛𝑔</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𝑎𝑥𝑖𝑠</m:t>
                          </m:r>
                          <m:r>
                            <a:rPr lang="en-US" b="0" i="1" smtClean="0">
                              <a:latin typeface="Cambria Math" panose="02040503050406030204" pitchFamily="18" charset="0"/>
                            </a:rPr>
                            <m:t>)</m:t>
                          </m:r>
                        </m:num>
                        <m:den>
                          <m:r>
                            <a:rPr lang="en-US" b="0" i="1" smtClean="0">
                              <a:latin typeface="Cambria Math" panose="02040503050406030204" pitchFamily="18" charset="0"/>
                            </a:rPr>
                            <m:t>𝑉𝑖𝑏𝑟𝑎𝑡𝑖𝑜𝑛</m:t>
                          </m:r>
                          <m:r>
                            <a:rPr lang="en-US" b="0" i="1" smtClean="0">
                              <a:latin typeface="Cambria Math" panose="02040503050406030204" pitchFamily="18" charset="0"/>
                            </a:rPr>
                            <m:t> (</m:t>
                          </m:r>
                          <m:r>
                            <a:rPr lang="en-US" b="0" i="1" smtClean="0">
                              <a:latin typeface="Cambria Math" panose="02040503050406030204" pitchFamily="18" charset="0"/>
                            </a:rPr>
                            <m:t>𝑎𝑙𝑜𝑛𝑔</m:t>
                          </m:r>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𝑎𝑥𝑖𝑠</m:t>
                          </m:r>
                          <m:r>
                            <a:rPr lang="en-US" b="0" i="1" smtClean="0">
                              <a:latin typeface="Cambria Math" panose="02040503050406030204" pitchFamily="18" charset="0"/>
                            </a:rPr>
                            <m:t>)</m:t>
                          </m:r>
                        </m:den>
                      </m:f>
                    </m:oMath>
                  </m:oMathPara>
                </a14:m>
                <a:endParaRPr lang="en-IN" dirty="0"/>
              </a:p>
            </p:txBody>
          </p:sp>
        </mc:Choice>
        <mc:Fallback>
          <p:sp>
            <p:nvSpPr>
              <p:cNvPr id="9" name="TextBox 8">
                <a:extLst>
                  <a:ext uri="{FF2B5EF4-FFF2-40B4-BE49-F238E27FC236}">
                    <a16:creationId xmlns:a16="http://schemas.microsoft.com/office/drawing/2014/main" id="{25259470-140D-37FA-82BB-67DA97FF7583}"/>
                  </a:ext>
                </a:extLst>
              </p:cNvPr>
              <p:cNvSpPr txBox="1">
                <a:spLocks noRot="1" noChangeAspect="1" noMove="1" noResize="1" noEditPoints="1" noAdjustHandles="1" noChangeArrowheads="1" noChangeShapeType="1" noTextEdit="1"/>
              </p:cNvSpPr>
              <p:nvPr/>
            </p:nvSpPr>
            <p:spPr>
              <a:xfrm>
                <a:off x="3030311" y="2228850"/>
                <a:ext cx="5747599" cy="576761"/>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FE67195-5DE9-423E-8D84-367B9E31E295}"/>
                  </a:ext>
                </a:extLst>
              </p:cNvPr>
              <p:cNvSpPr txBox="1"/>
              <p:nvPr/>
            </p:nvSpPr>
            <p:spPr>
              <a:xfrm>
                <a:off x="3030311" y="3152001"/>
                <a:ext cx="5167119" cy="57451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𝑉𝑖𝑏𝑟𝑎𝑡𝑖𝑜𝑛</m:t>
                      </m:r>
                      <m:r>
                        <a:rPr lang="en-US" b="0" i="1" smtClean="0">
                          <a:latin typeface="Cambria Math" panose="02040503050406030204" pitchFamily="18" charset="0"/>
                        </a:rPr>
                        <m:t> </m:t>
                      </m:r>
                      <m:r>
                        <a:rPr lang="en-US" b="0" i="1" smtClean="0">
                          <a:latin typeface="Cambria Math" panose="02040503050406030204" pitchFamily="18" charset="0"/>
                        </a:rPr>
                        <m:t>𝑝𝑒𝑟</m:t>
                      </m:r>
                      <m:r>
                        <a:rPr lang="en-US" b="0" i="1" smtClean="0">
                          <a:latin typeface="Cambria Math" panose="02040503050406030204" pitchFamily="18" charset="0"/>
                        </a:rPr>
                        <m:t> </m:t>
                      </m:r>
                      <m:r>
                        <a:rPr lang="en-US" b="0" i="1" smtClean="0">
                          <a:latin typeface="Cambria Math" panose="02040503050406030204" pitchFamily="18" charset="0"/>
                        </a:rPr>
                        <m:t>𝑈𝑛𝑖𝑡</m:t>
                      </m:r>
                      <m:r>
                        <a:rPr lang="en-US" b="0" i="1" smtClean="0">
                          <a:latin typeface="Cambria Math" panose="02040503050406030204" pitchFamily="18" charset="0"/>
                        </a:rPr>
                        <m:t> </m:t>
                      </m:r>
                      <m:r>
                        <a:rPr lang="en-US" b="0" i="1" smtClean="0">
                          <a:latin typeface="Cambria Math" panose="02040503050406030204" pitchFamily="18" charset="0"/>
                        </a:rPr>
                        <m:t>𝐹𝑙𝑜𝑤</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𝑂𝑝𝑒𝑟𝑎𝑡𝑖𝑜𝑛𝑎𝑙</m:t>
                          </m:r>
                          <m:r>
                            <a:rPr lang="en-US" i="1">
                              <a:latin typeface="Cambria Math" panose="02040503050406030204" pitchFamily="18" charset="0"/>
                            </a:rPr>
                            <m:t> </m:t>
                          </m:r>
                          <m:r>
                            <a:rPr lang="en-US" i="1">
                              <a:latin typeface="Cambria Math" panose="02040503050406030204" pitchFamily="18" charset="0"/>
                            </a:rPr>
                            <m:t>𝑉𝑖𝑏𝑟𝑎𝑡𝑖𝑜𝑛</m:t>
                          </m:r>
                        </m:num>
                        <m:den>
                          <m:r>
                            <a:rPr lang="en-US" b="0" i="1" smtClean="0">
                              <a:latin typeface="Cambria Math" panose="02040503050406030204" pitchFamily="18" charset="0"/>
                            </a:rPr>
                            <m:t>𝑅𝑎𝑡𝑒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𝑓𝑙𝑜𝑤</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𝐹𝑙𝑢𝑖𝑑</m:t>
                          </m:r>
                        </m:den>
                      </m:f>
                    </m:oMath>
                  </m:oMathPara>
                </a14:m>
                <a:endParaRPr lang="en-IN" dirty="0"/>
              </a:p>
            </p:txBody>
          </p:sp>
        </mc:Choice>
        <mc:Fallback>
          <p:sp>
            <p:nvSpPr>
              <p:cNvPr id="10" name="TextBox 9">
                <a:extLst>
                  <a:ext uri="{FF2B5EF4-FFF2-40B4-BE49-F238E27FC236}">
                    <a16:creationId xmlns:a16="http://schemas.microsoft.com/office/drawing/2014/main" id="{1FE67195-5DE9-423E-8D84-367B9E31E295}"/>
                  </a:ext>
                </a:extLst>
              </p:cNvPr>
              <p:cNvSpPr txBox="1">
                <a:spLocks noRot="1" noChangeAspect="1" noMove="1" noResize="1" noEditPoints="1" noAdjustHandles="1" noChangeArrowheads="1" noChangeShapeType="1" noTextEdit="1"/>
              </p:cNvSpPr>
              <p:nvPr/>
            </p:nvSpPr>
            <p:spPr>
              <a:xfrm>
                <a:off x="3030311" y="3152001"/>
                <a:ext cx="5167119" cy="57451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FAA83C29-2817-9A24-F056-6B7E599297C1}"/>
                  </a:ext>
                </a:extLst>
              </p:cNvPr>
              <p:cNvSpPr txBox="1"/>
              <p:nvPr/>
            </p:nvSpPr>
            <p:spPr>
              <a:xfrm>
                <a:off x="3030311" y="4132499"/>
                <a:ext cx="6335837" cy="51860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𝐸𝑛𝑔𝑖𝑛𝑒</m:t>
                      </m:r>
                      <m:r>
                        <a:rPr lang="en-US" b="0" i="1" smtClean="0">
                          <a:latin typeface="Cambria Math" panose="02040503050406030204" pitchFamily="18" charset="0"/>
                        </a:rPr>
                        <m:t> </m:t>
                      </m:r>
                      <m:r>
                        <a:rPr lang="en-US" b="0" i="1" smtClean="0">
                          <a:latin typeface="Cambria Math" panose="02040503050406030204" pitchFamily="18" charset="0"/>
                        </a:rPr>
                        <m:t>𝑇𝑒𝑚𝑝𝑒𝑟𝑎𝑡𝑢𝑟𝑒</m:t>
                      </m:r>
                      <m:r>
                        <a:rPr lang="en-US" b="0" i="1" smtClean="0">
                          <a:latin typeface="Cambria Math" panose="02040503050406030204" pitchFamily="18" charset="0"/>
                        </a:rPr>
                        <m:t> </m:t>
                      </m:r>
                      <m:r>
                        <a:rPr lang="en-US" b="0" i="1" smtClean="0">
                          <a:latin typeface="Cambria Math" panose="02040503050406030204" pitchFamily="18" charset="0"/>
                        </a:rPr>
                        <m:t>𝑝𝑒𝑟</m:t>
                      </m:r>
                      <m:r>
                        <a:rPr lang="en-US" b="0" i="1" smtClean="0">
                          <a:latin typeface="Cambria Math" panose="02040503050406030204" pitchFamily="18" charset="0"/>
                        </a:rPr>
                        <m:t> </m:t>
                      </m:r>
                      <m:r>
                        <a:rPr lang="en-US" b="0" i="1" smtClean="0">
                          <a:latin typeface="Cambria Math" panose="02040503050406030204" pitchFamily="18" charset="0"/>
                        </a:rPr>
                        <m:t>𝑈𝑛𝑖𝑡</m:t>
                      </m:r>
                      <m:r>
                        <a:rPr lang="en-US" b="0" i="1" smtClean="0">
                          <a:latin typeface="Cambria Math" panose="02040503050406030204" pitchFamily="18" charset="0"/>
                        </a:rPr>
                        <m:t> </m:t>
                      </m:r>
                      <m:r>
                        <a:rPr lang="en-US" b="0" i="1" smtClean="0">
                          <a:latin typeface="Cambria Math" panose="02040503050406030204" pitchFamily="18" charset="0"/>
                        </a:rPr>
                        <m:t>𝑃𝑜𝑤𝑒𝑟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𝐸𝑛𝑔𝑖𝑛𝑒</m:t>
                          </m:r>
                          <m:r>
                            <a:rPr lang="en-US" b="0" i="1" smtClean="0">
                              <a:latin typeface="Cambria Math" panose="02040503050406030204" pitchFamily="18" charset="0"/>
                            </a:rPr>
                            <m:t> </m:t>
                          </m:r>
                          <m:r>
                            <a:rPr lang="en-US" b="0" i="1" smtClean="0">
                              <a:latin typeface="Cambria Math" panose="02040503050406030204" pitchFamily="18" charset="0"/>
                            </a:rPr>
                            <m:t>𝑇𝑒𝑚𝑝𝑒𝑟𝑎𝑡𝑢𝑟𝑒</m:t>
                          </m:r>
                        </m:num>
                        <m:den>
                          <m:r>
                            <a:rPr lang="en-US" b="0" i="1" smtClean="0">
                              <a:latin typeface="Cambria Math" panose="02040503050406030204" pitchFamily="18" charset="0"/>
                            </a:rPr>
                            <m:t>𝑃𝑜𝑤𝑒𝑟</m:t>
                          </m:r>
                        </m:den>
                      </m:f>
                    </m:oMath>
                  </m:oMathPara>
                </a14:m>
                <a:endParaRPr lang="en-IN" dirty="0"/>
              </a:p>
            </p:txBody>
          </p:sp>
        </mc:Choice>
        <mc:Fallback>
          <p:sp>
            <p:nvSpPr>
              <p:cNvPr id="14" name="TextBox 13">
                <a:extLst>
                  <a:ext uri="{FF2B5EF4-FFF2-40B4-BE49-F238E27FC236}">
                    <a16:creationId xmlns:a16="http://schemas.microsoft.com/office/drawing/2014/main" id="{FAA83C29-2817-9A24-F056-6B7E599297C1}"/>
                  </a:ext>
                </a:extLst>
              </p:cNvPr>
              <p:cNvSpPr txBox="1">
                <a:spLocks noRot="1" noChangeAspect="1" noMove="1" noResize="1" noEditPoints="1" noAdjustHandles="1" noChangeArrowheads="1" noChangeShapeType="1" noTextEdit="1"/>
              </p:cNvSpPr>
              <p:nvPr/>
            </p:nvSpPr>
            <p:spPr>
              <a:xfrm>
                <a:off x="3030311" y="4132499"/>
                <a:ext cx="6335837" cy="51860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D680CEB3-C68A-075E-BBD8-3114402AB068}"/>
                  </a:ext>
                </a:extLst>
              </p:cNvPr>
              <p:cNvSpPr txBox="1"/>
              <p:nvPr/>
            </p:nvSpPr>
            <p:spPr>
              <a:xfrm>
                <a:off x="3030311" y="5055650"/>
                <a:ext cx="6834050" cy="57323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𝐸𝑓𝑓𝑖𝑐𝑒𝑛𝑐𝑦</m:t>
                      </m:r>
                      <m:r>
                        <a:rPr lang="en-US" b="0" i="1" smtClean="0">
                          <a:latin typeface="Cambria Math" panose="02040503050406030204" pitchFamily="18" charset="0"/>
                        </a:rPr>
                        <m:t> &amp; </m:t>
                      </m:r>
                      <m:r>
                        <a:rPr lang="en-US" b="0" i="1" smtClean="0">
                          <a:latin typeface="Cambria Math" panose="02040503050406030204" pitchFamily="18" charset="0"/>
                        </a:rPr>
                        <m:t>𝑇𝑒𝑚𝑝𝑒𝑟𝑎𝑡𝑢𝑟𝑒</m:t>
                      </m:r>
                      <m:r>
                        <a:rPr lang="en-US" b="0" i="1" smtClean="0">
                          <a:latin typeface="Cambria Math" panose="02040503050406030204" pitchFamily="18" charset="0"/>
                        </a:rPr>
                        <m:t> </m:t>
                      </m:r>
                      <m:r>
                        <a:rPr lang="en-US" b="0" i="1" smtClean="0">
                          <a:latin typeface="Cambria Math" panose="02040503050406030204" pitchFamily="18" charset="0"/>
                        </a:rPr>
                        <m:t>𝐵𝑎𝑙𝑎𝑛𝑐𝑒</m:t>
                      </m:r>
                      <m:r>
                        <a:rPr lang="en-US" b="0" i="1" smtClean="0">
                          <a:latin typeface="Cambria Math" panose="02040503050406030204" pitchFamily="18" charset="0"/>
                        </a:rPr>
                        <m:t> </m:t>
                      </m:r>
                      <m:r>
                        <a:rPr lang="en-US" b="0" i="1" smtClean="0">
                          <a:latin typeface="Cambria Math" panose="02040503050406030204" pitchFamily="18" charset="0"/>
                        </a:rPr>
                        <m:t>𝑅𝑎𝑡𝑖𝑜</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𝑃𝑢𝑚𝑝</m:t>
                          </m:r>
                          <m:r>
                            <a:rPr lang="en-US" b="0" i="1" smtClean="0">
                              <a:latin typeface="Cambria Math" panose="02040503050406030204" pitchFamily="18" charset="0"/>
                            </a:rPr>
                            <m:t> </m:t>
                          </m:r>
                          <m:r>
                            <a:rPr lang="en-US" b="0" i="1" smtClean="0">
                              <a:latin typeface="Cambria Math" panose="02040503050406030204" pitchFamily="18" charset="0"/>
                            </a:rPr>
                            <m:t>𝐸𝑓𝑓𝑖𝑐𝑖𝑒𝑛𝑐𝑦</m:t>
                          </m:r>
                        </m:num>
                        <m:den>
                          <m:r>
                            <a:rPr lang="en-US" b="0" i="1" smtClean="0">
                              <a:latin typeface="Cambria Math" panose="02040503050406030204" pitchFamily="18" charset="0"/>
                            </a:rPr>
                            <m:t>𝑇𝑒𝑚𝑝𝑒𝑟𝑎𝑡𝑢𝑟𝑒</m:t>
                          </m:r>
                          <m:r>
                            <a:rPr lang="en-US" b="0" i="1" smtClean="0">
                              <a:latin typeface="Cambria Math" panose="02040503050406030204" pitchFamily="18" charset="0"/>
                            </a:rPr>
                            <m:t> </m:t>
                          </m:r>
                          <m:r>
                            <a:rPr lang="en-US" b="0" i="1" smtClean="0">
                              <a:latin typeface="Cambria Math" panose="02040503050406030204" pitchFamily="18" charset="0"/>
                            </a:rPr>
                            <m:t>𝐵𝑎𝑙𝑎𝑛𝑐𝑒</m:t>
                          </m:r>
                        </m:den>
                      </m:f>
                    </m:oMath>
                  </m:oMathPara>
                </a14:m>
                <a:endParaRPr lang="en-IN" dirty="0"/>
              </a:p>
            </p:txBody>
          </p:sp>
        </mc:Choice>
        <mc:Fallback>
          <p:sp>
            <p:nvSpPr>
              <p:cNvPr id="15" name="TextBox 14">
                <a:extLst>
                  <a:ext uri="{FF2B5EF4-FFF2-40B4-BE49-F238E27FC236}">
                    <a16:creationId xmlns:a16="http://schemas.microsoft.com/office/drawing/2014/main" id="{D680CEB3-C68A-075E-BBD8-3114402AB068}"/>
                  </a:ext>
                </a:extLst>
              </p:cNvPr>
              <p:cNvSpPr txBox="1">
                <a:spLocks noRot="1" noChangeAspect="1" noMove="1" noResize="1" noEditPoints="1" noAdjustHandles="1" noChangeArrowheads="1" noChangeShapeType="1" noTextEdit="1"/>
              </p:cNvSpPr>
              <p:nvPr/>
            </p:nvSpPr>
            <p:spPr>
              <a:xfrm>
                <a:off x="3030311" y="5055650"/>
                <a:ext cx="6834050" cy="573234"/>
              </a:xfrm>
              <a:prstGeom prst="rect">
                <a:avLst/>
              </a:prstGeom>
              <a:blipFill>
                <a:blip r:embed="rId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70313117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81294-9D47-96EF-0748-8D821282F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7D135-6B49-ACC6-5562-6857DE0D41B3}"/>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Fluctuation Features</a:t>
            </a:r>
          </a:p>
        </p:txBody>
      </p:sp>
      <p:sp>
        <p:nvSpPr>
          <p:cNvPr id="4" name="Footer Placeholder 3">
            <a:extLst>
              <a:ext uri="{FF2B5EF4-FFF2-40B4-BE49-F238E27FC236}">
                <a16:creationId xmlns:a16="http://schemas.microsoft.com/office/drawing/2014/main" id="{EA94CF7C-1C65-FAC0-6C43-2E837C73E3AB}"/>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E9837910-57D1-A78C-06D1-B5DF287A1201}"/>
              </a:ext>
            </a:extLst>
          </p:cNvPr>
          <p:cNvSpPr>
            <a:spLocks noGrp="1"/>
          </p:cNvSpPr>
          <p:nvPr>
            <p:ph type="sldNum" sz="quarter" idx="12"/>
          </p:nvPr>
        </p:nvSpPr>
        <p:spPr/>
        <p:txBody>
          <a:bodyPr/>
          <a:lstStyle/>
          <a:p>
            <a:fld id="{0541023B-0DCA-4467-9EB4-7DB5EBA0C709}" type="slidenum">
              <a:rPr lang="en-IN" smtClean="0"/>
              <a:t>27</a:t>
            </a:fld>
            <a:endParaRPr lang="en-IN"/>
          </a:p>
        </p:txBody>
      </p:sp>
      <p:sp>
        <p:nvSpPr>
          <p:cNvPr id="8" name="Content Placeholder 6">
            <a:extLst>
              <a:ext uri="{FF2B5EF4-FFF2-40B4-BE49-F238E27FC236}">
                <a16:creationId xmlns:a16="http://schemas.microsoft.com/office/drawing/2014/main" id="{CAA55116-E008-3404-7F62-9422138C138B}"/>
              </a:ext>
            </a:extLst>
          </p:cNvPr>
          <p:cNvSpPr>
            <a:spLocks noGrp="1"/>
          </p:cNvSpPr>
          <p:nvPr>
            <p:ph idx="1"/>
          </p:nvPr>
        </p:nvSpPr>
        <p:spPr>
          <a:xfrm>
            <a:off x="838200" y="845127"/>
            <a:ext cx="9784080" cy="4664133"/>
          </a:xfrm>
        </p:spPr>
        <p:txBody>
          <a:bodyPr>
            <a:normAutofit fontScale="92500" lnSpcReduction="10000"/>
          </a:bodyPr>
          <a:lstStyle/>
          <a:p>
            <a:r>
              <a:rPr lang="en-US" sz="1400" b="1" u="sng" dirty="0"/>
              <a:t>Operational Vibration Fluctuation</a:t>
            </a:r>
          </a:p>
          <a:p>
            <a:endParaRPr lang="en-US" sz="1400" b="1" u="sng" dirty="0"/>
          </a:p>
          <a:p>
            <a:endParaRPr lang="en-US" sz="1400" b="1" u="sng" dirty="0"/>
          </a:p>
          <a:p>
            <a:r>
              <a:rPr lang="en-IN" sz="1400" b="1" u="sng" dirty="0"/>
              <a:t>Temperature Fluctuation</a:t>
            </a:r>
          </a:p>
          <a:p>
            <a:endParaRPr lang="en-IN" sz="1400" b="1" u="sng" dirty="0"/>
          </a:p>
          <a:p>
            <a:endParaRPr lang="en-IN" sz="1400" b="1" u="sng" dirty="0"/>
          </a:p>
          <a:p>
            <a:r>
              <a:rPr lang="en-IN" sz="1400" b="1" u="sng" dirty="0"/>
              <a:t>Thermocouple Fluctuation</a:t>
            </a:r>
          </a:p>
          <a:p>
            <a:endParaRPr lang="en-IN" sz="1400" b="1" u="sng" dirty="0"/>
          </a:p>
          <a:p>
            <a:endParaRPr lang="en-IN" sz="1400" b="1" u="sng" dirty="0"/>
          </a:p>
          <a:p>
            <a:r>
              <a:rPr lang="en-IN" sz="1400" b="1" u="sng" dirty="0"/>
              <a:t>Volume Flow Rate Fluctuation</a:t>
            </a:r>
          </a:p>
          <a:p>
            <a:endParaRPr lang="en-IN" sz="1400" b="1" u="sng" dirty="0"/>
          </a:p>
          <a:p>
            <a:endParaRPr lang="en-IN" sz="1400" b="1" u="sng" dirty="0"/>
          </a:p>
          <a:p>
            <a:r>
              <a:rPr lang="en-IN" sz="1400" b="1" u="sng" dirty="0"/>
              <a:t>Hydraulic Power Fluctuation</a:t>
            </a:r>
          </a:p>
          <a:p>
            <a:endParaRPr lang="en-IN" sz="1400" b="1" u="sng" dirty="0"/>
          </a:p>
          <a:p>
            <a:endParaRPr lang="en-IN" sz="1400" b="1" u="sng" dirty="0"/>
          </a:p>
          <a:p>
            <a:r>
              <a:rPr lang="en-IN" sz="1400" b="1" u="sng" dirty="0"/>
              <a:t>Electrical Power Fluctuation</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AF9BB495-05C1-88A4-06AD-A9FA2B621729}"/>
                  </a:ext>
                </a:extLst>
              </p:cNvPr>
              <p:cNvSpPr txBox="1"/>
              <p:nvPr/>
            </p:nvSpPr>
            <p:spPr>
              <a:xfrm>
                <a:off x="2724150" y="1210240"/>
                <a:ext cx="9213291" cy="55399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𝑂𝑝𝑒𝑟𝑎𝑡𝑖𝑜𝑛𝑎𝑙</m:t>
                      </m:r>
                      <m:r>
                        <a:rPr lang="en-US" b="0" i="1" smtClean="0">
                          <a:latin typeface="Cambria Math" panose="02040503050406030204" pitchFamily="18" charset="0"/>
                        </a:rPr>
                        <m:t> </m:t>
                      </m:r>
                      <m:r>
                        <a:rPr lang="en-US" b="0" i="1" smtClean="0">
                          <a:latin typeface="Cambria Math" panose="02040503050406030204" pitchFamily="18" charset="0"/>
                        </a:rPr>
                        <m:t>𝑉𝑖𝑏𝑟𝑎𝑡𝑖𝑜𝑛</m:t>
                      </m:r>
                      <m:r>
                        <a:rPr lang="en-US" b="0" i="1" smtClean="0">
                          <a:latin typeface="Cambria Math" panose="02040503050406030204" pitchFamily="18" charset="0"/>
                        </a:rPr>
                        <m:t> </m:t>
                      </m:r>
                      <m:r>
                        <a:rPr lang="en-US" b="0" i="1" smtClean="0">
                          <a:latin typeface="Cambria Math" panose="02040503050406030204" pitchFamily="18" charset="0"/>
                        </a:rPr>
                        <m:t>𝐹𝑙𝑢𝑐𝑡𝑢𝑎𝑡𝑖𝑜𝑛</m:t>
                      </m:r>
                      <m:r>
                        <a:rPr lang="en-US" b="0" i="1" smtClean="0">
                          <a:latin typeface="Cambria Math" panose="02040503050406030204" pitchFamily="18" charset="0"/>
                        </a:rPr>
                        <m:t>=</m:t>
                      </m:r>
                      <m:r>
                        <a:rPr lang="en-US" i="1">
                          <a:latin typeface="Cambria Math" panose="02040503050406030204" pitchFamily="18" charset="0"/>
                        </a:rPr>
                        <m:t>𝑂𝑝𝑒𝑟𝑎𝑡𝑖𝑜𝑛𝑎𝑙</m:t>
                      </m:r>
                      <m:r>
                        <a:rPr lang="en-US" i="1">
                          <a:latin typeface="Cambria Math" panose="02040503050406030204" pitchFamily="18" charset="0"/>
                        </a:rPr>
                        <m:t> </m:t>
                      </m:r>
                      <m:r>
                        <a:rPr lang="en-US" i="1">
                          <a:latin typeface="Cambria Math" panose="02040503050406030204" pitchFamily="18" charset="0"/>
                        </a:rPr>
                        <m:t>𝑉𝑖𝑏𝑟𝑎𝑡𝑖𝑜𝑛</m:t>
                      </m:r>
                      <m:r>
                        <a:rPr lang="en-US" i="1">
                          <a:latin typeface="Cambria Math" panose="02040503050406030204" pitchFamily="18" charset="0"/>
                        </a:rPr>
                        <m:t> </m:t>
                      </m:r>
                      <m:r>
                        <a:rPr lang="en-US" i="1">
                          <a:latin typeface="Cambria Math" panose="02040503050406030204" pitchFamily="18" charset="0"/>
                        </a:rPr>
                        <m:t>𝐹𝑙𝑢𝑐𝑡𝑢𝑎𝑡𝑖𝑜𝑛</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𝑡𝑖𝑚𝑒</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+1</m:t>
                          </m:r>
                        </m:e>
                      </m:d>
                    </m:oMath>
                  </m:oMathPara>
                </a14:m>
                <a:endParaRPr lang="en-US" b="0" i="1" dirty="0">
                  <a:latin typeface="Cambria Math" panose="02040503050406030204" pitchFamily="18" charset="0"/>
                </a:endParaRPr>
              </a:p>
              <a:p>
                <a:r>
                  <a:rPr lang="en-US" b="0" dirty="0"/>
                  <a:t>					</a:t>
                </a:r>
                <a14:m>
                  <m:oMath xmlns:m="http://schemas.openxmlformats.org/officeDocument/2006/math">
                    <m:r>
                      <a:rPr lang="en-US" b="0" i="1" smtClean="0">
                        <a:latin typeface="Cambria Math" panose="02040503050406030204" pitchFamily="18" charset="0"/>
                      </a:rPr>
                      <m:t>−</m:t>
                    </m:r>
                    <m:r>
                      <a:rPr lang="en-US" i="1">
                        <a:latin typeface="Cambria Math" panose="02040503050406030204" pitchFamily="18" charset="0"/>
                      </a:rPr>
                      <m:t>𝑂𝑝𝑒𝑟𝑎𝑡𝑖𝑜𝑛𝑎𝑙</m:t>
                    </m:r>
                    <m:r>
                      <a:rPr lang="en-US" i="1">
                        <a:latin typeface="Cambria Math" panose="02040503050406030204" pitchFamily="18" charset="0"/>
                      </a:rPr>
                      <m:t> </m:t>
                    </m:r>
                    <m:r>
                      <a:rPr lang="en-US" i="1">
                        <a:latin typeface="Cambria Math" panose="02040503050406030204" pitchFamily="18" charset="0"/>
                      </a:rPr>
                      <m:t>𝑉𝑖𝑏𝑟𝑎𝑡𝑖𝑜𝑛</m:t>
                    </m:r>
                    <m:r>
                      <a:rPr lang="en-US" i="1">
                        <a:latin typeface="Cambria Math" panose="02040503050406030204" pitchFamily="18" charset="0"/>
                      </a:rPr>
                      <m:t> </m:t>
                    </m:r>
                    <m:r>
                      <a:rPr lang="en-US" i="1">
                        <a:latin typeface="Cambria Math" panose="02040503050406030204" pitchFamily="18" charset="0"/>
                      </a:rPr>
                      <m:t>𝐹𝑙𝑢𝑐𝑡𝑢𝑎𝑡𝑖𝑜𝑛</m:t>
                    </m:r>
                    <m:r>
                      <a:rPr lang="en-US" b="0" i="0" smtClean="0">
                        <a:latin typeface="Cambria Math" panose="02040503050406030204" pitchFamily="18" charset="0"/>
                      </a:rPr>
                      <m:t> (</m:t>
                    </m:r>
                    <m:r>
                      <m:rPr>
                        <m:sty m:val="p"/>
                      </m:rPr>
                      <a:rPr lang="en-US" b="0" i="0" smtClean="0">
                        <a:latin typeface="Cambria Math" panose="02040503050406030204" pitchFamily="18" charset="0"/>
                      </a:rPr>
                      <m:t>time</m:t>
                    </m:r>
                    <m:r>
                      <a:rPr lang="en-US" b="0" i="0" smtClean="0">
                        <a:latin typeface="Cambria Math" panose="02040503050406030204" pitchFamily="18" charset="0"/>
                      </a:rPr>
                      <m:t> </m:t>
                    </m:r>
                    <m:r>
                      <m:rPr>
                        <m:sty m:val="p"/>
                      </m:rPr>
                      <a:rPr lang="en-US" b="0" i="0" smtClean="0">
                        <a:latin typeface="Cambria Math" panose="02040503050406030204" pitchFamily="18" charset="0"/>
                      </a:rPr>
                      <m:t>t</m:t>
                    </m:r>
                    <m:r>
                      <a:rPr lang="en-US" b="0" i="0" smtClean="0">
                        <a:latin typeface="Cambria Math" panose="02040503050406030204" pitchFamily="18" charset="0"/>
                      </a:rPr>
                      <m:t>)</m:t>
                    </m:r>
                  </m:oMath>
                </a14:m>
                <a:endParaRPr lang="en-IN" dirty="0"/>
              </a:p>
            </p:txBody>
          </p:sp>
        </mc:Choice>
        <mc:Fallback>
          <p:sp>
            <p:nvSpPr>
              <p:cNvPr id="9" name="TextBox 8">
                <a:extLst>
                  <a:ext uri="{FF2B5EF4-FFF2-40B4-BE49-F238E27FC236}">
                    <a16:creationId xmlns:a16="http://schemas.microsoft.com/office/drawing/2014/main" id="{AF9BB495-05C1-88A4-06AD-A9FA2B621729}"/>
                  </a:ext>
                </a:extLst>
              </p:cNvPr>
              <p:cNvSpPr txBox="1">
                <a:spLocks noRot="1" noChangeAspect="1" noMove="1" noResize="1" noEditPoints="1" noAdjustHandles="1" noChangeArrowheads="1" noChangeShapeType="1" noTextEdit="1"/>
              </p:cNvSpPr>
              <p:nvPr/>
            </p:nvSpPr>
            <p:spPr>
              <a:xfrm>
                <a:off x="2724150" y="1210240"/>
                <a:ext cx="9213291" cy="553998"/>
              </a:xfrm>
              <a:prstGeom prst="rect">
                <a:avLst/>
              </a:prstGeom>
              <a:blipFill>
                <a:blip r:embed="rId3"/>
                <a:stretch>
                  <a:fillRect t="-1111" r="-331" b="-17778"/>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604472C0-2930-1803-49D8-2039BC0784AB}"/>
                  </a:ext>
                </a:extLst>
              </p:cNvPr>
              <p:cNvSpPr txBox="1"/>
              <p:nvPr/>
            </p:nvSpPr>
            <p:spPr>
              <a:xfrm>
                <a:off x="2724150" y="2050367"/>
                <a:ext cx="8318496" cy="55399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𝑇𝑒𝑚𝑝𝑒𝑟𝑎𝑡𝑢𝑟𝑒</m:t>
                      </m:r>
                      <m:r>
                        <a:rPr lang="en-US" b="0" i="1" smtClean="0">
                          <a:latin typeface="Cambria Math" panose="02040503050406030204" pitchFamily="18" charset="0"/>
                        </a:rPr>
                        <m:t> </m:t>
                      </m:r>
                      <m:r>
                        <a:rPr lang="en-US" b="0" i="1" smtClean="0">
                          <a:latin typeface="Cambria Math" panose="02040503050406030204" pitchFamily="18" charset="0"/>
                        </a:rPr>
                        <m:t>𝐹𝑙𝑢𝑐𝑡𝑢𝑎𝑡𝑖𝑜𝑛</m:t>
                      </m:r>
                      <m:r>
                        <a:rPr lang="en-US" b="0" i="1" smtClean="0">
                          <a:latin typeface="Cambria Math" panose="02040503050406030204" pitchFamily="18" charset="0"/>
                        </a:rPr>
                        <m:t>=</m:t>
                      </m:r>
                      <m:r>
                        <a:rPr lang="en-US" i="1">
                          <a:latin typeface="Cambria Math" panose="02040503050406030204" pitchFamily="18" charset="0"/>
                        </a:rPr>
                        <m:t>𝑇𝑒𝑚𝑝𝑒𝑟𝑎𝑡𝑢𝑟𝑒</m:t>
                      </m:r>
                      <m:r>
                        <a:rPr lang="en-US" i="1">
                          <a:latin typeface="Cambria Math" panose="02040503050406030204" pitchFamily="18" charset="0"/>
                        </a:rPr>
                        <m:t> </m:t>
                      </m:r>
                      <m:r>
                        <a:rPr lang="en-US" i="1">
                          <a:latin typeface="Cambria Math" panose="02040503050406030204" pitchFamily="18" charset="0"/>
                        </a:rPr>
                        <m:t>𝐹𝑙𝑢𝑐𝑡𝑢𝑎𝑡𝑖𝑜𝑛</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𝑡𝑖𝑚𝑒</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+1</m:t>
                          </m:r>
                        </m:e>
                      </m:d>
                    </m:oMath>
                  </m:oMathPara>
                </a14:m>
                <a:endParaRPr lang="en-US" b="0" i="1" dirty="0">
                  <a:latin typeface="Cambria Math" panose="02040503050406030204" pitchFamily="18" charset="0"/>
                </a:endParaRPr>
              </a:p>
              <a:p>
                <a:r>
                  <a:rPr lang="en-US" b="0" dirty="0"/>
                  <a:t>					</a:t>
                </a:r>
                <a14:m>
                  <m:oMath xmlns:m="http://schemas.openxmlformats.org/officeDocument/2006/math">
                    <m:r>
                      <a:rPr lang="en-US" b="0" i="1" smtClean="0">
                        <a:latin typeface="Cambria Math" panose="02040503050406030204" pitchFamily="18" charset="0"/>
                      </a:rPr>
                      <m:t>−</m:t>
                    </m:r>
                    <m:r>
                      <a:rPr lang="en-US" i="1">
                        <a:latin typeface="Cambria Math" panose="02040503050406030204" pitchFamily="18" charset="0"/>
                      </a:rPr>
                      <m:t>𝑇𝑒𝑚𝑝𝑒𝑟𝑎𝑡𝑢𝑟𝑒</m:t>
                    </m:r>
                    <m:r>
                      <a:rPr lang="en-US" i="1">
                        <a:latin typeface="Cambria Math" panose="02040503050406030204" pitchFamily="18" charset="0"/>
                      </a:rPr>
                      <m:t> </m:t>
                    </m:r>
                    <m:r>
                      <a:rPr lang="en-US" i="1">
                        <a:latin typeface="Cambria Math" panose="02040503050406030204" pitchFamily="18" charset="0"/>
                      </a:rPr>
                      <m:t>𝐹𝑙𝑢𝑐𝑡𝑢𝑎𝑡𝑖𝑜𝑛</m:t>
                    </m:r>
                    <m:r>
                      <a:rPr lang="en-US" b="0" i="1" smtClean="0">
                        <a:latin typeface="Cambria Math" panose="02040503050406030204" pitchFamily="18" charset="0"/>
                      </a:rPr>
                      <m:t> (</m:t>
                    </m:r>
                    <m:r>
                      <a:rPr lang="en-US" b="0" i="1" smtClean="0">
                        <a:latin typeface="Cambria Math" panose="02040503050406030204" pitchFamily="18" charset="0"/>
                      </a:rPr>
                      <m:t>𝑡𝑖𝑚𝑒</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IN" dirty="0"/>
              </a:p>
            </p:txBody>
          </p:sp>
        </mc:Choice>
        <mc:Fallback>
          <p:sp>
            <p:nvSpPr>
              <p:cNvPr id="10" name="TextBox 9">
                <a:extLst>
                  <a:ext uri="{FF2B5EF4-FFF2-40B4-BE49-F238E27FC236}">
                    <a16:creationId xmlns:a16="http://schemas.microsoft.com/office/drawing/2014/main" id="{604472C0-2930-1803-49D8-2039BC0784AB}"/>
                  </a:ext>
                </a:extLst>
              </p:cNvPr>
              <p:cNvSpPr txBox="1">
                <a:spLocks noRot="1" noChangeAspect="1" noMove="1" noResize="1" noEditPoints="1" noAdjustHandles="1" noChangeArrowheads="1" noChangeShapeType="1" noTextEdit="1"/>
              </p:cNvSpPr>
              <p:nvPr/>
            </p:nvSpPr>
            <p:spPr>
              <a:xfrm>
                <a:off x="2724150" y="2050367"/>
                <a:ext cx="8318496" cy="553998"/>
              </a:xfrm>
              <a:prstGeom prst="rect">
                <a:avLst/>
              </a:prstGeom>
              <a:blipFill>
                <a:blip r:embed="rId4"/>
                <a:stretch>
                  <a:fillRect r="-440" b="-16484"/>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FB291407-B472-B101-1335-AD9C59CA1D4C}"/>
                  </a:ext>
                </a:extLst>
              </p:cNvPr>
              <p:cNvSpPr txBox="1"/>
              <p:nvPr/>
            </p:nvSpPr>
            <p:spPr>
              <a:xfrm>
                <a:off x="2724150" y="2947327"/>
                <a:ext cx="8429102" cy="55399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𝑇h𝑒𝑟𝑚𝑜𝑐𝑜𝑢𝑝𝑙𝑒</m:t>
                      </m:r>
                      <m:r>
                        <a:rPr lang="en-US" b="0" i="1" smtClean="0">
                          <a:latin typeface="Cambria Math" panose="02040503050406030204" pitchFamily="18" charset="0"/>
                        </a:rPr>
                        <m:t> </m:t>
                      </m:r>
                      <m:r>
                        <a:rPr lang="en-US" b="0" i="1" smtClean="0">
                          <a:latin typeface="Cambria Math" panose="02040503050406030204" pitchFamily="18" charset="0"/>
                        </a:rPr>
                        <m:t>𝐹𝑙𝑢𝑐𝑡𝑢𝑎𝑡𝑖𝑜𝑛</m:t>
                      </m:r>
                      <m:r>
                        <a:rPr lang="en-US" b="0" i="1" smtClean="0">
                          <a:latin typeface="Cambria Math" panose="02040503050406030204" pitchFamily="18" charset="0"/>
                        </a:rPr>
                        <m:t>=</m:t>
                      </m:r>
                      <m:r>
                        <a:rPr lang="en-US" i="1">
                          <a:latin typeface="Cambria Math" panose="02040503050406030204" pitchFamily="18" charset="0"/>
                        </a:rPr>
                        <m:t>𝑇h𝑒𝑟𝑚𝑜𝑐𝑜𝑢𝑝𝑙𝑒</m:t>
                      </m:r>
                      <m:r>
                        <a:rPr lang="en-US" i="1">
                          <a:latin typeface="Cambria Math" panose="02040503050406030204" pitchFamily="18" charset="0"/>
                        </a:rPr>
                        <m:t> </m:t>
                      </m:r>
                      <m:r>
                        <a:rPr lang="en-US" i="1">
                          <a:latin typeface="Cambria Math" panose="02040503050406030204" pitchFamily="18" charset="0"/>
                        </a:rPr>
                        <m:t>𝐹𝑙𝑢𝑐𝑡𝑢𝑎𝑡𝑖𝑜𝑛</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𝑡𝑖𝑚𝑒</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+1</m:t>
                          </m:r>
                        </m:e>
                      </m:d>
                    </m:oMath>
                  </m:oMathPara>
                </a14:m>
                <a:endParaRPr lang="en-US" b="0" i="1" dirty="0">
                  <a:latin typeface="Cambria Math" panose="02040503050406030204" pitchFamily="18" charset="0"/>
                </a:endParaRPr>
              </a:p>
              <a:p>
                <a:r>
                  <a:rPr lang="en-US" b="0" dirty="0"/>
                  <a:t>					</a:t>
                </a:r>
                <a14:m>
                  <m:oMath xmlns:m="http://schemas.openxmlformats.org/officeDocument/2006/math">
                    <m:r>
                      <a:rPr lang="en-US" b="0" i="1" smtClean="0">
                        <a:latin typeface="Cambria Math" panose="02040503050406030204" pitchFamily="18" charset="0"/>
                      </a:rPr>
                      <m:t>−</m:t>
                    </m:r>
                    <m:r>
                      <a:rPr lang="en-US" i="1">
                        <a:latin typeface="Cambria Math" panose="02040503050406030204" pitchFamily="18" charset="0"/>
                      </a:rPr>
                      <m:t>𝑇h𝑒𝑟𝑚𝑜𝑐𝑜𝑢𝑝𝑙𝑒</m:t>
                    </m:r>
                    <m:r>
                      <a:rPr lang="en-US" i="1">
                        <a:latin typeface="Cambria Math" panose="02040503050406030204" pitchFamily="18" charset="0"/>
                      </a:rPr>
                      <m:t> </m:t>
                    </m:r>
                    <m:r>
                      <a:rPr lang="en-US" i="1">
                        <a:latin typeface="Cambria Math" panose="02040503050406030204" pitchFamily="18" charset="0"/>
                      </a:rPr>
                      <m:t>𝐹𝑙𝑢𝑐𝑡𝑢𝑎𝑡𝑖𝑜𝑛</m:t>
                    </m:r>
                    <m:r>
                      <a:rPr lang="en-US" b="0" i="1" smtClean="0">
                        <a:latin typeface="Cambria Math" panose="02040503050406030204" pitchFamily="18" charset="0"/>
                      </a:rPr>
                      <m:t> (</m:t>
                    </m:r>
                    <m:r>
                      <a:rPr lang="en-US" b="0" i="1" smtClean="0">
                        <a:latin typeface="Cambria Math" panose="02040503050406030204" pitchFamily="18" charset="0"/>
                      </a:rPr>
                      <m:t>𝑡𝑖𝑚𝑒</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IN" dirty="0"/>
              </a:p>
            </p:txBody>
          </p:sp>
        </mc:Choice>
        <mc:Fallback>
          <p:sp>
            <p:nvSpPr>
              <p:cNvPr id="11" name="TextBox 10">
                <a:extLst>
                  <a:ext uri="{FF2B5EF4-FFF2-40B4-BE49-F238E27FC236}">
                    <a16:creationId xmlns:a16="http://schemas.microsoft.com/office/drawing/2014/main" id="{FB291407-B472-B101-1335-AD9C59CA1D4C}"/>
                  </a:ext>
                </a:extLst>
              </p:cNvPr>
              <p:cNvSpPr txBox="1">
                <a:spLocks noRot="1" noChangeAspect="1" noMove="1" noResize="1" noEditPoints="1" noAdjustHandles="1" noChangeArrowheads="1" noChangeShapeType="1" noTextEdit="1"/>
              </p:cNvSpPr>
              <p:nvPr/>
            </p:nvSpPr>
            <p:spPr>
              <a:xfrm>
                <a:off x="2724150" y="2947327"/>
                <a:ext cx="8429102" cy="553998"/>
              </a:xfrm>
              <a:prstGeom prst="rect">
                <a:avLst/>
              </a:prstGeom>
              <a:blipFill>
                <a:blip r:embed="rId5"/>
                <a:stretch>
                  <a:fillRect r="-362" b="-16484"/>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997D67B-65C9-C5CD-79E7-FCAAD15CC7EA}"/>
                  </a:ext>
                </a:extLst>
              </p:cNvPr>
              <p:cNvSpPr txBox="1"/>
              <p:nvPr/>
            </p:nvSpPr>
            <p:spPr>
              <a:xfrm>
                <a:off x="2724150" y="3794417"/>
                <a:ext cx="8828827" cy="55399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𝑉𝑜𝑙𝑢𝑚𝑒</m:t>
                      </m:r>
                      <m:r>
                        <a:rPr lang="en-US" b="0" i="1" smtClean="0">
                          <a:latin typeface="Cambria Math" panose="02040503050406030204" pitchFamily="18" charset="0"/>
                        </a:rPr>
                        <m:t> </m:t>
                      </m:r>
                      <m:r>
                        <a:rPr lang="en-US" b="0" i="1" smtClean="0">
                          <a:latin typeface="Cambria Math" panose="02040503050406030204" pitchFamily="18" charset="0"/>
                        </a:rPr>
                        <m:t>𝐹𝑙𝑜𝑤</m:t>
                      </m:r>
                      <m:r>
                        <a:rPr lang="en-US" b="0" i="1" smtClean="0">
                          <a:latin typeface="Cambria Math" panose="02040503050406030204" pitchFamily="18" charset="0"/>
                        </a:rPr>
                        <m:t> </m:t>
                      </m:r>
                      <m:r>
                        <a:rPr lang="en-US" b="0" i="1" smtClean="0">
                          <a:latin typeface="Cambria Math" panose="02040503050406030204" pitchFamily="18" charset="0"/>
                        </a:rPr>
                        <m:t>𝑅𝑎𝑡𝑒</m:t>
                      </m:r>
                      <m:r>
                        <a:rPr lang="en-US" b="0" i="1" smtClean="0">
                          <a:latin typeface="Cambria Math" panose="02040503050406030204" pitchFamily="18" charset="0"/>
                        </a:rPr>
                        <m:t> </m:t>
                      </m:r>
                      <m:r>
                        <a:rPr lang="en-US" b="0" i="1" smtClean="0">
                          <a:latin typeface="Cambria Math" panose="02040503050406030204" pitchFamily="18" charset="0"/>
                        </a:rPr>
                        <m:t>𝐹𝑙𝑢𝑐𝑡𝑢𝑎𝑡𝑖𝑜𝑛</m:t>
                      </m:r>
                      <m:r>
                        <a:rPr lang="en-US" b="0" i="1" smtClean="0">
                          <a:latin typeface="Cambria Math" panose="02040503050406030204" pitchFamily="18" charset="0"/>
                        </a:rPr>
                        <m:t>=</m:t>
                      </m:r>
                      <m:r>
                        <a:rPr lang="en-US" i="1">
                          <a:latin typeface="Cambria Math" panose="02040503050406030204" pitchFamily="18" charset="0"/>
                        </a:rPr>
                        <m:t>𝑉𝑜𝑙𝑢𝑚𝑒</m:t>
                      </m:r>
                      <m:r>
                        <a:rPr lang="en-US" i="1">
                          <a:latin typeface="Cambria Math" panose="02040503050406030204" pitchFamily="18" charset="0"/>
                        </a:rPr>
                        <m:t> </m:t>
                      </m:r>
                      <m:r>
                        <a:rPr lang="en-US" i="1">
                          <a:latin typeface="Cambria Math" panose="02040503050406030204" pitchFamily="18" charset="0"/>
                        </a:rPr>
                        <m:t>𝐹𝑙𝑜𝑤</m:t>
                      </m:r>
                      <m:r>
                        <a:rPr lang="en-US" i="1">
                          <a:latin typeface="Cambria Math" panose="02040503050406030204" pitchFamily="18" charset="0"/>
                        </a:rPr>
                        <m:t> </m:t>
                      </m:r>
                      <m:r>
                        <a:rPr lang="en-US" i="1">
                          <a:latin typeface="Cambria Math" panose="02040503050406030204" pitchFamily="18" charset="0"/>
                        </a:rPr>
                        <m:t>𝑅𝑎𝑡𝑒</m:t>
                      </m:r>
                      <m:r>
                        <a:rPr lang="en-US" i="1">
                          <a:latin typeface="Cambria Math" panose="02040503050406030204" pitchFamily="18" charset="0"/>
                        </a:rPr>
                        <m:t> </m:t>
                      </m:r>
                      <m:r>
                        <a:rPr lang="en-US" i="1">
                          <a:latin typeface="Cambria Math" panose="02040503050406030204" pitchFamily="18" charset="0"/>
                        </a:rPr>
                        <m:t>𝐹𝑙𝑢𝑐𝑡𝑢𝑎𝑡𝑖𝑜𝑛</m:t>
                      </m:r>
                      <m:r>
                        <a:rPr lang="en-US" b="0" i="0" smtClean="0">
                          <a:latin typeface="Cambria Math" panose="02040503050406030204" pitchFamily="18" charset="0"/>
                        </a:rPr>
                        <m:t> </m:t>
                      </m:r>
                      <m:d>
                        <m:dPr>
                          <m:ctrlPr>
                            <a:rPr lang="en-US" b="0" i="0" smtClean="0">
                              <a:latin typeface="Cambria Math" panose="02040503050406030204" pitchFamily="18" charset="0"/>
                            </a:rPr>
                          </m:ctrlPr>
                        </m:dPr>
                        <m:e>
                          <m:r>
                            <m:rPr>
                              <m:sty m:val="p"/>
                            </m:rPr>
                            <a:rPr lang="en-US" b="0" i="0" smtClean="0">
                              <a:latin typeface="Cambria Math" panose="02040503050406030204" pitchFamily="18" charset="0"/>
                            </a:rPr>
                            <m:t>time</m:t>
                          </m:r>
                          <m:r>
                            <a:rPr lang="en-US" b="0" i="0" smtClean="0">
                              <a:latin typeface="Cambria Math" panose="02040503050406030204" pitchFamily="18" charset="0"/>
                            </a:rPr>
                            <m:t> </m:t>
                          </m:r>
                          <m:r>
                            <m:rPr>
                              <m:sty m:val="p"/>
                            </m:rPr>
                            <a:rPr lang="en-US" b="0" i="0" smtClean="0">
                              <a:latin typeface="Cambria Math" panose="02040503050406030204" pitchFamily="18" charset="0"/>
                            </a:rPr>
                            <m:t>t</m:t>
                          </m:r>
                          <m:r>
                            <a:rPr lang="en-US" b="0" i="0" smtClean="0">
                              <a:latin typeface="Cambria Math" panose="02040503050406030204" pitchFamily="18" charset="0"/>
                            </a:rPr>
                            <m:t>+1</m:t>
                          </m:r>
                        </m:e>
                      </m:d>
                    </m:oMath>
                  </m:oMathPara>
                </a14:m>
                <a:endParaRPr lang="en-US" b="0" i="0" dirty="0">
                  <a:latin typeface="Cambria Math" panose="02040503050406030204" pitchFamily="18" charset="0"/>
                </a:endParaRPr>
              </a:p>
              <a:p>
                <a:r>
                  <a:rPr lang="en-US" b="0" dirty="0"/>
                  <a:t>					</a:t>
                </a:r>
                <a14:m>
                  <m:oMath xmlns:m="http://schemas.openxmlformats.org/officeDocument/2006/math">
                    <m:r>
                      <a:rPr lang="en-US" b="0" i="0" smtClean="0">
                        <a:latin typeface="Cambria Math" panose="02040503050406030204" pitchFamily="18" charset="0"/>
                      </a:rPr>
                      <m:t>−</m:t>
                    </m:r>
                    <m:r>
                      <a:rPr lang="en-US" i="1">
                        <a:latin typeface="Cambria Math" panose="02040503050406030204" pitchFamily="18" charset="0"/>
                      </a:rPr>
                      <m:t>𝑉𝑜𝑙𝑢𝑚𝑒</m:t>
                    </m:r>
                    <m:r>
                      <a:rPr lang="en-US" i="1">
                        <a:latin typeface="Cambria Math" panose="02040503050406030204" pitchFamily="18" charset="0"/>
                      </a:rPr>
                      <m:t> </m:t>
                    </m:r>
                    <m:r>
                      <a:rPr lang="en-US" i="1">
                        <a:latin typeface="Cambria Math" panose="02040503050406030204" pitchFamily="18" charset="0"/>
                      </a:rPr>
                      <m:t>𝐹𝑙𝑜𝑤</m:t>
                    </m:r>
                    <m:r>
                      <a:rPr lang="en-US" i="1">
                        <a:latin typeface="Cambria Math" panose="02040503050406030204" pitchFamily="18" charset="0"/>
                      </a:rPr>
                      <m:t> </m:t>
                    </m:r>
                    <m:r>
                      <a:rPr lang="en-US" i="1">
                        <a:latin typeface="Cambria Math" panose="02040503050406030204" pitchFamily="18" charset="0"/>
                      </a:rPr>
                      <m:t>𝑅𝑎𝑡𝑒</m:t>
                    </m:r>
                    <m:r>
                      <a:rPr lang="en-US" i="1">
                        <a:latin typeface="Cambria Math" panose="02040503050406030204" pitchFamily="18" charset="0"/>
                      </a:rPr>
                      <m:t> </m:t>
                    </m:r>
                    <m:r>
                      <a:rPr lang="en-US" i="1">
                        <a:latin typeface="Cambria Math" panose="02040503050406030204" pitchFamily="18" charset="0"/>
                      </a:rPr>
                      <m:t>𝐹𝑙𝑢𝑐𝑡𝑢𝑎𝑡𝑖𝑜𝑛</m:t>
                    </m:r>
                    <m:r>
                      <a:rPr lang="en-US" b="0" i="1" smtClean="0">
                        <a:latin typeface="Cambria Math" panose="02040503050406030204" pitchFamily="18" charset="0"/>
                      </a:rPr>
                      <m:t> (</m:t>
                    </m:r>
                    <m:r>
                      <a:rPr lang="en-US" b="0" i="1" smtClean="0">
                        <a:latin typeface="Cambria Math" panose="02040503050406030204" pitchFamily="18" charset="0"/>
                      </a:rPr>
                      <m:t>𝑡𝑖𝑚𝑒</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IN" dirty="0"/>
              </a:p>
            </p:txBody>
          </p:sp>
        </mc:Choice>
        <mc:Fallback>
          <p:sp>
            <p:nvSpPr>
              <p:cNvPr id="12" name="TextBox 11">
                <a:extLst>
                  <a:ext uri="{FF2B5EF4-FFF2-40B4-BE49-F238E27FC236}">
                    <a16:creationId xmlns:a16="http://schemas.microsoft.com/office/drawing/2014/main" id="{0997D67B-65C9-C5CD-79E7-FCAAD15CC7EA}"/>
                  </a:ext>
                </a:extLst>
              </p:cNvPr>
              <p:cNvSpPr txBox="1">
                <a:spLocks noRot="1" noChangeAspect="1" noMove="1" noResize="1" noEditPoints="1" noAdjustHandles="1" noChangeArrowheads="1" noChangeShapeType="1" noTextEdit="1"/>
              </p:cNvSpPr>
              <p:nvPr/>
            </p:nvSpPr>
            <p:spPr>
              <a:xfrm>
                <a:off x="2724150" y="3794417"/>
                <a:ext cx="8828827" cy="553998"/>
              </a:xfrm>
              <a:prstGeom prst="rect">
                <a:avLst/>
              </a:prstGeom>
              <a:blipFill>
                <a:blip r:embed="rId6"/>
                <a:stretch>
                  <a:fillRect r="-345" b="-16484"/>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BA930BB-344D-2457-B9D9-FFA88F1B6598}"/>
                  </a:ext>
                </a:extLst>
              </p:cNvPr>
              <p:cNvSpPr txBox="1"/>
              <p:nvPr/>
            </p:nvSpPr>
            <p:spPr>
              <a:xfrm>
                <a:off x="2724150" y="4634544"/>
                <a:ext cx="8667757" cy="55399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𝐻𝑦𝑑𝑟𝑎𝑢𝑙𝑖𝑐</m:t>
                      </m:r>
                      <m:r>
                        <a:rPr lang="en-US" b="0" i="1" smtClean="0">
                          <a:latin typeface="Cambria Math" panose="02040503050406030204" pitchFamily="18" charset="0"/>
                        </a:rPr>
                        <m:t> </m:t>
                      </m:r>
                      <m:r>
                        <a:rPr lang="en-US" b="0" i="1" smtClean="0">
                          <a:latin typeface="Cambria Math" panose="02040503050406030204" pitchFamily="18" charset="0"/>
                        </a:rPr>
                        <m:t>𝑃𝑜𝑤𝑒𝑟</m:t>
                      </m:r>
                      <m:r>
                        <a:rPr lang="en-US" b="0" i="1" smtClean="0">
                          <a:latin typeface="Cambria Math" panose="02040503050406030204" pitchFamily="18" charset="0"/>
                        </a:rPr>
                        <m:t> </m:t>
                      </m:r>
                      <m:r>
                        <a:rPr lang="en-US" b="0" i="1" smtClean="0">
                          <a:latin typeface="Cambria Math" panose="02040503050406030204" pitchFamily="18" charset="0"/>
                        </a:rPr>
                        <m:t>𝐹𝑙𝑢𝑐𝑡𝑢𝑎𝑡𝑖𝑜𝑛</m:t>
                      </m:r>
                      <m:r>
                        <a:rPr lang="en-US" b="0" i="1" smtClean="0">
                          <a:latin typeface="Cambria Math" panose="02040503050406030204" pitchFamily="18" charset="0"/>
                        </a:rPr>
                        <m:t>=</m:t>
                      </m:r>
                      <m:r>
                        <a:rPr lang="en-US" i="1">
                          <a:latin typeface="Cambria Math" panose="02040503050406030204" pitchFamily="18" charset="0"/>
                        </a:rPr>
                        <m:t>𝐻𝑦𝑑𝑟𝑎𝑢𝑙𝑖𝑐</m:t>
                      </m:r>
                      <m:r>
                        <a:rPr lang="en-US" i="1">
                          <a:latin typeface="Cambria Math" panose="02040503050406030204" pitchFamily="18" charset="0"/>
                        </a:rPr>
                        <m:t> </m:t>
                      </m:r>
                      <m:r>
                        <a:rPr lang="en-US" i="1">
                          <a:latin typeface="Cambria Math" panose="02040503050406030204" pitchFamily="18" charset="0"/>
                        </a:rPr>
                        <m:t>𝑃𝑜𝑤𝑒𝑟</m:t>
                      </m:r>
                      <m:r>
                        <a:rPr lang="en-US" i="1">
                          <a:latin typeface="Cambria Math" panose="02040503050406030204" pitchFamily="18" charset="0"/>
                        </a:rPr>
                        <m:t> </m:t>
                      </m:r>
                      <m:r>
                        <a:rPr lang="en-US" i="1">
                          <a:latin typeface="Cambria Math" panose="02040503050406030204" pitchFamily="18" charset="0"/>
                        </a:rPr>
                        <m:t>𝐹𝑙𝑢𝑐𝑡𝑢𝑎𝑡𝑖𝑜𝑛</m:t>
                      </m:r>
                      <m:r>
                        <a:rPr lang="en-US" b="0" i="0" smtClean="0">
                          <a:latin typeface="Cambria Math" panose="02040503050406030204" pitchFamily="18" charset="0"/>
                        </a:rPr>
                        <m:t> </m:t>
                      </m:r>
                      <m:d>
                        <m:dPr>
                          <m:ctrlPr>
                            <a:rPr lang="en-US" b="0" i="0" smtClean="0">
                              <a:latin typeface="Cambria Math" panose="02040503050406030204" pitchFamily="18" charset="0"/>
                            </a:rPr>
                          </m:ctrlPr>
                        </m:dPr>
                        <m:e>
                          <m:r>
                            <m:rPr>
                              <m:sty m:val="p"/>
                            </m:rPr>
                            <a:rPr lang="en-US" b="0" i="0" smtClean="0">
                              <a:latin typeface="Cambria Math" panose="02040503050406030204" pitchFamily="18" charset="0"/>
                            </a:rPr>
                            <m:t>time</m:t>
                          </m:r>
                          <m:r>
                            <a:rPr lang="en-US" b="0" i="0" smtClean="0">
                              <a:latin typeface="Cambria Math" panose="02040503050406030204" pitchFamily="18" charset="0"/>
                            </a:rPr>
                            <m:t> </m:t>
                          </m:r>
                          <m:r>
                            <m:rPr>
                              <m:sty m:val="p"/>
                            </m:rPr>
                            <a:rPr lang="en-US" b="0" i="0" smtClean="0">
                              <a:latin typeface="Cambria Math" panose="02040503050406030204" pitchFamily="18" charset="0"/>
                            </a:rPr>
                            <m:t>t</m:t>
                          </m:r>
                          <m:r>
                            <a:rPr lang="en-US" b="0" i="0" smtClean="0">
                              <a:latin typeface="Cambria Math" panose="02040503050406030204" pitchFamily="18" charset="0"/>
                            </a:rPr>
                            <m:t>+1</m:t>
                          </m:r>
                        </m:e>
                      </m:d>
                    </m:oMath>
                  </m:oMathPara>
                </a14:m>
                <a:endParaRPr lang="en-US" b="0" i="0" dirty="0">
                  <a:latin typeface="Cambria Math" panose="02040503050406030204" pitchFamily="18" charset="0"/>
                </a:endParaRPr>
              </a:p>
              <a:p>
                <a:r>
                  <a:rPr lang="en-US" b="0" dirty="0"/>
                  <a:t>					</a:t>
                </a:r>
                <a14:m>
                  <m:oMath xmlns:m="http://schemas.openxmlformats.org/officeDocument/2006/math">
                    <m:r>
                      <a:rPr lang="en-US" b="0" i="0" smtClean="0">
                        <a:latin typeface="Cambria Math" panose="02040503050406030204" pitchFamily="18" charset="0"/>
                      </a:rPr>
                      <m:t>−</m:t>
                    </m:r>
                    <m:r>
                      <a:rPr lang="en-US" i="1">
                        <a:latin typeface="Cambria Math" panose="02040503050406030204" pitchFamily="18" charset="0"/>
                      </a:rPr>
                      <m:t>𝐻𝑦𝑑𝑟𝑎𝑢𝑙𝑖𝑐</m:t>
                    </m:r>
                    <m:r>
                      <a:rPr lang="en-US" i="1">
                        <a:latin typeface="Cambria Math" panose="02040503050406030204" pitchFamily="18" charset="0"/>
                      </a:rPr>
                      <m:t> </m:t>
                    </m:r>
                    <m:r>
                      <a:rPr lang="en-US" i="1">
                        <a:latin typeface="Cambria Math" panose="02040503050406030204" pitchFamily="18" charset="0"/>
                      </a:rPr>
                      <m:t>𝑃𝑜𝑤𝑒𝑟</m:t>
                    </m:r>
                    <m:r>
                      <a:rPr lang="en-US" i="1">
                        <a:latin typeface="Cambria Math" panose="02040503050406030204" pitchFamily="18" charset="0"/>
                      </a:rPr>
                      <m:t> </m:t>
                    </m:r>
                    <m:r>
                      <a:rPr lang="en-US" i="1">
                        <a:latin typeface="Cambria Math" panose="02040503050406030204" pitchFamily="18" charset="0"/>
                      </a:rPr>
                      <m:t>𝐹𝑙𝑢𝑐𝑡𝑢𝑎𝑡𝑖𝑜𝑛</m:t>
                    </m:r>
                    <m:r>
                      <a:rPr lang="en-US" b="0" i="0" smtClean="0">
                        <a:latin typeface="Cambria Math" panose="02040503050406030204" pitchFamily="18" charset="0"/>
                      </a:rPr>
                      <m:t> (</m:t>
                    </m:r>
                    <m:r>
                      <m:rPr>
                        <m:sty m:val="p"/>
                      </m:rPr>
                      <a:rPr lang="en-US" b="0" i="0" smtClean="0">
                        <a:latin typeface="Cambria Math" panose="02040503050406030204" pitchFamily="18" charset="0"/>
                      </a:rPr>
                      <m:t>time</m:t>
                    </m:r>
                    <m:r>
                      <a:rPr lang="en-US" b="0" i="0" smtClean="0">
                        <a:latin typeface="Cambria Math" panose="02040503050406030204" pitchFamily="18" charset="0"/>
                      </a:rPr>
                      <m:t> </m:t>
                    </m:r>
                    <m:r>
                      <m:rPr>
                        <m:sty m:val="p"/>
                      </m:rPr>
                      <a:rPr lang="en-US" b="0" i="0" smtClean="0">
                        <a:latin typeface="Cambria Math" panose="02040503050406030204" pitchFamily="18" charset="0"/>
                      </a:rPr>
                      <m:t>t</m:t>
                    </m:r>
                    <m:r>
                      <a:rPr lang="en-US" b="0" i="0" smtClean="0">
                        <a:latin typeface="Cambria Math" panose="02040503050406030204" pitchFamily="18" charset="0"/>
                      </a:rPr>
                      <m:t>)</m:t>
                    </m:r>
                  </m:oMath>
                </a14:m>
                <a:endParaRPr lang="en-IN" dirty="0"/>
              </a:p>
            </p:txBody>
          </p:sp>
        </mc:Choice>
        <mc:Fallback>
          <p:sp>
            <p:nvSpPr>
              <p:cNvPr id="13" name="TextBox 12">
                <a:extLst>
                  <a:ext uri="{FF2B5EF4-FFF2-40B4-BE49-F238E27FC236}">
                    <a16:creationId xmlns:a16="http://schemas.microsoft.com/office/drawing/2014/main" id="{8BA930BB-344D-2457-B9D9-FFA88F1B6598}"/>
                  </a:ext>
                </a:extLst>
              </p:cNvPr>
              <p:cNvSpPr txBox="1">
                <a:spLocks noRot="1" noChangeAspect="1" noMove="1" noResize="1" noEditPoints="1" noAdjustHandles="1" noChangeArrowheads="1" noChangeShapeType="1" noTextEdit="1"/>
              </p:cNvSpPr>
              <p:nvPr/>
            </p:nvSpPr>
            <p:spPr>
              <a:xfrm>
                <a:off x="2724150" y="4634544"/>
                <a:ext cx="8667757" cy="553998"/>
              </a:xfrm>
              <a:prstGeom prst="rect">
                <a:avLst/>
              </a:prstGeom>
              <a:blipFill>
                <a:blip r:embed="rId7"/>
                <a:stretch>
                  <a:fillRect r="-352" b="-16484"/>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B746DD64-4C5B-C1E3-D168-898E9B7EAA33}"/>
                  </a:ext>
                </a:extLst>
              </p:cNvPr>
              <p:cNvSpPr txBox="1"/>
              <p:nvPr/>
            </p:nvSpPr>
            <p:spPr>
              <a:xfrm>
                <a:off x="2724150" y="5531504"/>
                <a:ext cx="7398500" cy="55399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𝐸𝑙𝑒𝑐𝑡𝑟𝑖𝑐𝑎𝑙</m:t>
                      </m:r>
                      <m:r>
                        <a:rPr lang="en-US" b="0" i="1" smtClean="0">
                          <a:latin typeface="Cambria Math" panose="02040503050406030204" pitchFamily="18" charset="0"/>
                        </a:rPr>
                        <m:t> </m:t>
                      </m:r>
                      <m:r>
                        <a:rPr lang="en-US" b="0" i="1" smtClean="0">
                          <a:latin typeface="Cambria Math" panose="02040503050406030204" pitchFamily="18" charset="0"/>
                        </a:rPr>
                        <m:t>𝑃𝑜𝑤𝑒𝑟</m:t>
                      </m:r>
                      <m:r>
                        <a:rPr lang="en-US" b="0" i="1" smtClean="0">
                          <a:latin typeface="Cambria Math" panose="02040503050406030204" pitchFamily="18" charset="0"/>
                        </a:rPr>
                        <m:t> </m:t>
                      </m:r>
                      <m:r>
                        <a:rPr lang="en-US" b="0" i="1" smtClean="0">
                          <a:latin typeface="Cambria Math" panose="02040503050406030204" pitchFamily="18" charset="0"/>
                        </a:rPr>
                        <m:t>𝐹𝑙𝑢𝑐𝑡𝑢𝑎𝑡𝑖𝑜𝑛</m:t>
                      </m:r>
                      <m:r>
                        <a:rPr lang="en-US" b="0" i="1" smtClean="0">
                          <a:latin typeface="Cambria Math" panose="02040503050406030204" pitchFamily="18" charset="0"/>
                        </a:rPr>
                        <m:t>=</m:t>
                      </m:r>
                      <m:r>
                        <a:rPr lang="en-US" b="0" i="1" smtClean="0">
                          <a:latin typeface="Cambria Math" panose="02040503050406030204" pitchFamily="18" charset="0"/>
                        </a:rPr>
                        <m:t>𝐸𝑙𝑒𝑐𝑡𝑟𝑖𝑐𝑎𝑙</m:t>
                      </m:r>
                      <m:r>
                        <a:rPr lang="en-US" b="0" i="1" smtClean="0">
                          <a:latin typeface="Cambria Math" panose="02040503050406030204" pitchFamily="18" charset="0"/>
                        </a:rPr>
                        <m:t> </m:t>
                      </m:r>
                      <m:r>
                        <a:rPr lang="en-US" b="0" i="1" smtClean="0">
                          <a:latin typeface="Cambria Math" panose="02040503050406030204" pitchFamily="18" charset="0"/>
                        </a:rPr>
                        <m:t>𝑃𝑜𝑤𝑒𝑟</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𝑡𝑖𝑚𝑒</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+1</m:t>
                          </m:r>
                        </m:e>
                      </m:d>
                    </m:oMath>
                  </m:oMathPara>
                </a14:m>
                <a:endParaRPr lang="en-US" b="0" i="1" dirty="0">
                  <a:latin typeface="Cambria Math" panose="02040503050406030204" pitchFamily="18" charset="0"/>
                </a:endParaRPr>
              </a:p>
              <a:p>
                <a:r>
                  <a:rPr lang="en-US" b="0"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𝐸𝑙𝑒𝑐𝑡𝑟𝑖𝑐𝑎𝑙</m:t>
                    </m:r>
                    <m:r>
                      <a:rPr lang="en-US" b="0" i="1" smtClean="0">
                        <a:latin typeface="Cambria Math" panose="02040503050406030204" pitchFamily="18" charset="0"/>
                      </a:rPr>
                      <m:t> </m:t>
                    </m:r>
                    <m:r>
                      <a:rPr lang="en-US" b="0" i="1" smtClean="0">
                        <a:latin typeface="Cambria Math" panose="02040503050406030204" pitchFamily="18" charset="0"/>
                      </a:rPr>
                      <m:t>𝑃𝑜𝑤𝑒𝑟</m:t>
                    </m:r>
                    <m:r>
                      <a:rPr lang="en-US" b="0" i="1" smtClean="0">
                        <a:latin typeface="Cambria Math" panose="02040503050406030204" pitchFamily="18" charset="0"/>
                      </a:rPr>
                      <m:t> (</m:t>
                    </m:r>
                    <m:r>
                      <a:rPr lang="en-US" b="0" i="1" smtClean="0">
                        <a:latin typeface="Cambria Math" panose="02040503050406030204" pitchFamily="18" charset="0"/>
                      </a:rPr>
                      <m:t>𝑡𝑖𝑚𝑒</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IN" dirty="0"/>
              </a:p>
            </p:txBody>
          </p:sp>
        </mc:Choice>
        <mc:Fallback>
          <p:sp>
            <p:nvSpPr>
              <p:cNvPr id="14" name="TextBox 13">
                <a:extLst>
                  <a:ext uri="{FF2B5EF4-FFF2-40B4-BE49-F238E27FC236}">
                    <a16:creationId xmlns:a16="http://schemas.microsoft.com/office/drawing/2014/main" id="{B746DD64-4C5B-C1E3-D168-898E9B7EAA33}"/>
                  </a:ext>
                </a:extLst>
              </p:cNvPr>
              <p:cNvSpPr txBox="1">
                <a:spLocks noRot="1" noChangeAspect="1" noMove="1" noResize="1" noEditPoints="1" noAdjustHandles="1" noChangeArrowheads="1" noChangeShapeType="1" noTextEdit="1"/>
              </p:cNvSpPr>
              <p:nvPr/>
            </p:nvSpPr>
            <p:spPr>
              <a:xfrm>
                <a:off x="2724150" y="5531504"/>
                <a:ext cx="7398500" cy="553998"/>
              </a:xfrm>
              <a:prstGeom prst="rect">
                <a:avLst/>
              </a:prstGeom>
              <a:blipFill>
                <a:blip r:embed="rId8"/>
                <a:stretch>
                  <a:fillRect r="-494" b="-16484"/>
                </a:stretch>
              </a:blipFill>
            </p:spPr>
            <p:txBody>
              <a:bodyPr/>
              <a:lstStyle/>
              <a:p>
                <a:r>
                  <a:rPr lang="en-IN">
                    <a:noFill/>
                  </a:rPr>
                  <a:t> </a:t>
                </a:r>
              </a:p>
            </p:txBody>
          </p:sp>
        </mc:Fallback>
      </mc:AlternateContent>
    </p:spTree>
    <p:extLst>
      <p:ext uri="{BB962C8B-B14F-4D97-AF65-F5344CB8AC3E}">
        <p14:creationId xmlns:p14="http://schemas.microsoft.com/office/powerpoint/2010/main" val="261948976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23A35-02A4-A553-6A1D-53C0E8B8F61C}"/>
              </a:ext>
            </a:extLst>
          </p:cNvPr>
          <p:cNvSpPr>
            <a:spLocks noGrp="1"/>
          </p:cNvSpPr>
          <p:nvPr>
            <p:ph type="title"/>
          </p:nvPr>
        </p:nvSpPr>
        <p:spPr/>
        <p:txBody>
          <a:bodyPr/>
          <a:lstStyle/>
          <a:p>
            <a:r>
              <a:rPr lang="en-US" dirty="0"/>
              <a:t>Modelling &amp; Evaluation</a:t>
            </a:r>
            <a:endParaRPr lang="en-IN" dirty="0"/>
          </a:p>
        </p:txBody>
      </p:sp>
      <p:sp>
        <p:nvSpPr>
          <p:cNvPr id="4" name="Footer Placeholder 3">
            <a:extLst>
              <a:ext uri="{FF2B5EF4-FFF2-40B4-BE49-F238E27FC236}">
                <a16:creationId xmlns:a16="http://schemas.microsoft.com/office/drawing/2014/main" id="{3C83F8F4-B4E2-824D-B3F2-D66DAB03FCAD}"/>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D6A89E4A-41AD-23D6-B64E-34F775447E78}"/>
              </a:ext>
            </a:extLst>
          </p:cNvPr>
          <p:cNvSpPr>
            <a:spLocks noGrp="1"/>
          </p:cNvSpPr>
          <p:nvPr>
            <p:ph type="sldNum" sz="quarter" idx="12"/>
          </p:nvPr>
        </p:nvSpPr>
        <p:spPr/>
        <p:txBody>
          <a:bodyPr/>
          <a:lstStyle/>
          <a:p>
            <a:fld id="{0541023B-0DCA-4467-9EB4-7DB5EBA0C709}" type="slidenum">
              <a:rPr lang="en-IN" smtClean="0"/>
              <a:t>28</a:t>
            </a:fld>
            <a:endParaRPr lang="en-IN"/>
          </a:p>
        </p:txBody>
      </p:sp>
    </p:spTree>
    <p:extLst>
      <p:ext uri="{BB962C8B-B14F-4D97-AF65-F5344CB8AC3E}">
        <p14:creationId xmlns:p14="http://schemas.microsoft.com/office/powerpoint/2010/main" val="26440036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47569-0921-55E4-D368-5CF47FD47076}"/>
              </a:ext>
            </a:extLst>
          </p:cNvPr>
          <p:cNvSpPr>
            <a:spLocks noGrp="1"/>
          </p:cNvSpPr>
          <p:nvPr>
            <p:ph type="title"/>
          </p:nvPr>
        </p:nvSpPr>
        <p:spPr/>
        <p:txBody>
          <a:bodyPr/>
          <a:lstStyle/>
          <a:p>
            <a:r>
              <a:rPr lang="en-US" dirty="0">
                <a:effectLst>
                  <a:outerShdw blurRad="38100" dist="38100" dir="2700000" algn="tl">
                    <a:srgbClr val="000000">
                      <a:alpha val="43137"/>
                    </a:srgbClr>
                  </a:outerShdw>
                </a:effectLst>
              </a:rPr>
              <a:t>Statistical Models</a:t>
            </a:r>
            <a:endParaRPr lang="en-IN" dirty="0">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AEA3E9AC-60C9-09F3-E6C0-49F5FE1A7BE8}"/>
              </a:ext>
            </a:extLst>
          </p:cNvPr>
          <p:cNvSpPr>
            <a:spLocks noGrp="1"/>
          </p:cNvSpPr>
          <p:nvPr>
            <p:ph sz="half" idx="2"/>
          </p:nvPr>
        </p:nvSpPr>
        <p:spPr>
          <a:xfrm>
            <a:off x="759967" y="3593702"/>
            <a:ext cx="5157787" cy="2019300"/>
          </a:xfrm>
        </p:spPr>
        <p:txBody>
          <a:bodyPr>
            <a:normAutofit/>
          </a:bodyPr>
          <a:lstStyle/>
          <a:p>
            <a:r>
              <a:rPr lang="en-US" sz="1400" dirty="0"/>
              <a:t>Z-Score Method</a:t>
            </a:r>
            <a:endParaRPr lang="en-IN" sz="1400" dirty="0"/>
          </a:p>
          <a:p>
            <a:r>
              <a:rPr lang="en-US" sz="1400" dirty="0"/>
              <a:t>Multivariate Gaussian Model</a:t>
            </a:r>
          </a:p>
          <a:p>
            <a:r>
              <a:rPr lang="en-US" sz="1400" dirty="0"/>
              <a:t>Interquartile Range (IQR)</a:t>
            </a:r>
          </a:p>
          <a:p>
            <a:r>
              <a:rPr lang="en-US" sz="1400" dirty="0"/>
              <a:t>Percentile Method</a:t>
            </a:r>
          </a:p>
          <a:p>
            <a:r>
              <a:rPr lang="en-US" sz="1400" dirty="0"/>
              <a:t>k-Nearest Neighbors</a:t>
            </a:r>
          </a:p>
          <a:p>
            <a:r>
              <a:rPr lang="en-US" sz="1400" dirty="0"/>
              <a:t>Local Outlier Factor</a:t>
            </a:r>
            <a:endParaRPr lang="en-IN" sz="1400" dirty="0"/>
          </a:p>
        </p:txBody>
      </p:sp>
      <p:sp>
        <p:nvSpPr>
          <p:cNvPr id="7" name="Footer Placeholder 6">
            <a:extLst>
              <a:ext uri="{FF2B5EF4-FFF2-40B4-BE49-F238E27FC236}">
                <a16:creationId xmlns:a16="http://schemas.microsoft.com/office/drawing/2014/main" id="{725CB7C1-4B2D-CECE-3FED-C3FEF116544D}"/>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9B356E68-E4F2-7E52-25D5-7061B7905A93}"/>
              </a:ext>
            </a:extLst>
          </p:cNvPr>
          <p:cNvSpPr>
            <a:spLocks noGrp="1"/>
          </p:cNvSpPr>
          <p:nvPr>
            <p:ph type="sldNum" sz="quarter" idx="12"/>
          </p:nvPr>
        </p:nvSpPr>
        <p:spPr/>
        <p:txBody>
          <a:bodyPr/>
          <a:lstStyle/>
          <a:p>
            <a:fld id="{0541023B-0DCA-4467-9EB4-7DB5EBA0C709}" type="slidenum">
              <a:rPr lang="en-IN" smtClean="0"/>
              <a:t>29</a:t>
            </a:fld>
            <a:endParaRPr lang="en-IN"/>
          </a:p>
        </p:txBody>
      </p:sp>
      <p:sp>
        <p:nvSpPr>
          <p:cNvPr id="15" name="TextBox 14">
            <a:extLst>
              <a:ext uri="{FF2B5EF4-FFF2-40B4-BE49-F238E27FC236}">
                <a16:creationId xmlns:a16="http://schemas.microsoft.com/office/drawing/2014/main" id="{2D9F93D3-7450-9944-2F39-FE19A3CC1D5F}"/>
              </a:ext>
            </a:extLst>
          </p:cNvPr>
          <p:cNvSpPr txBox="1"/>
          <p:nvPr/>
        </p:nvSpPr>
        <p:spPr>
          <a:xfrm>
            <a:off x="3914776" y="3429000"/>
            <a:ext cx="7896224" cy="2462213"/>
          </a:xfrm>
          <a:prstGeom prst="rect">
            <a:avLst/>
          </a:prstGeom>
          <a:noFill/>
        </p:spPr>
        <p:txBody>
          <a:bodyPr wrap="square" rtlCol="0">
            <a:spAutoFit/>
          </a:bodyPr>
          <a:lstStyle/>
          <a:p>
            <a:r>
              <a:rPr lang="en-US" sz="1400" dirty="0"/>
              <a:t>• The Percentile method stands out as the best-performing model by a significant margin,</a:t>
            </a:r>
          </a:p>
          <a:p>
            <a:r>
              <a:rPr lang="en-US" sz="1400" dirty="0"/>
              <a:t>demonstrating superior accuracy, precision, recall, and F1-score due to its excellent</a:t>
            </a:r>
          </a:p>
          <a:p>
            <a:r>
              <a:rPr lang="en-US" sz="1400" dirty="0"/>
              <a:t>balance of true positives and true negatives, and low false positive rates.</a:t>
            </a:r>
          </a:p>
          <a:p>
            <a:endParaRPr lang="en-US" sz="1400" dirty="0"/>
          </a:p>
          <a:p>
            <a:r>
              <a:rPr lang="en-US" sz="1400" dirty="0"/>
              <a:t>• The Local Outlier Factor (LOF) is the second-best model, showing good overall performance.</a:t>
            </a:r>
          </a:p>
          <a:p>
            <a:endParaRPr lang="en-US" sz="1400" dirty="0"/>
          </a:p>
          <a:p>
            <a:r>
              <a:rPr lang="en-US" sz="1400" dirty="0"/>
              <a:t>• The Z-Score method, while excellent at detecting true positives, suffers severely from</a:t>
            </a:r>
          </a:p>
          <a:p>
            <a:r>
              <a:rPr lang="en-US" sz="1400" dirty="0"/>
              <a:t>high false positives, making it unreliable.</a:t>
            </a:r>
          </a:p>
          <a:p>
            <a:endParaRPr lang="en-US" sz="1400" dirty="0"/>
          </a:p>
          <a:p>
            <a:r>
              <a:rPr lang="en-US" sz="1400" dirty="0"/>
              <a:t>• The Inter Quartile Range (IQR) and k-Nearest Neighbors (k-NN) methods are the</a:t>
            </a:r>
          </a:p>
          <a:p>
            <a:r>
              <a:rPr lang="en-US" sz="1400" dirty="0"/>
              <a:t>weakest performers, showing poor results across most evaluation metrics.</a:t>
            </a:r>
          </a:p>
        </p:txBody>
      </p:sp>
      <p:pic>
        <p:nvPicPr>
          <p:cNvPr id="16" name="Picture 15">
            <a:extLst>
              <a:ext uri="{FF2B5EF4-FFF2-40B4-BE49-F238E27FC236}">
                <a16:creationId xmlns:a16="http://schemas.microsoft.com/office/drawing/2014/main" id="{44FD89E4-C541-0387-EA59-5BBBA5CE463C}"/>
              </a:ext>
            </a:extLst>
          </p:cNvPr>
          <p:cNvPicPr>
            <a:picLocks noChangeAspect="1"/>
          </p:cNvPicPr>
          <p:nvPr/>
        </p:nvPicPr>
        <p:blipFill>
          <a:blip r:embed="rId3"/>
          <a:stretch>
            <a:fillRect/>
          </a:stretch>
        </p:blipFill>
        <p:spPr>
          <a:xfrm>
            <a:off x="1517204" y="1465262"/>
            <a:ext cx="8801100" cy="1381125"/>
          </a:xfrm>
          <a:prstGeom prst="rect">
            <a:avLst/>
          </a:prstGeom>
        </p:spPr>
      </p:pic>
    </p:spTree>
    <p:extLst>
      <p:ext uri="{BB962C8B-B14F-4D97-AF65-F5344CB8AC3E}">
        <p14:creationId xmlns:p14="http://schemas.microsoft.com/office/powerpoint/2010/main" val="1130953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DE18A-8759-505E-3A9B-7CA74CEC3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15129-4DCA-88A3-C94D-AB19846723DE}"/>
              </a:ext>
            </a:extLst>
          </p:cNvPr>
          <p:cNvSpPr>
            <a:spLocks noGrp="1"/>
          </p:cNvSpPr>
          <p:nvPr>
            <p:ph type="title"/>
          </p:nvPr>
        </p:nvSpPr>
        <p:spPr/>
        <p:txBody>
          <a:bodyPr/>
          <a:lstStyle/>
          <a:p>
            <a:r>
              <a:rPr lang="en-US" dirty="0">
                <a:effectLst>
                  <a:outerShdw blurRad="38100" dist="38100" dir="2700000" algn="tl">
                    <a:srgbClr val="000000">
                      <a:alpha val="43137"/>
                    </a:srgbClr>
                  </a:outerShdw>
                </a:effectLst>
              </a:rPr>
              <a:t>Machine Learning Models</a:t>
            </a:r>
            <a:endParaRPr lang="en-IN" dirty="0">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C71D57A4-0357-6A8B-88A7-9B04A40E7B11}"/>
              </a:ext>
            </a:extLst>
          </p:cNvPr>
          <p:cNvSpPr>
            <a:spLocks noGrp="1"/>
          </p:cNvSpPr>
          <p:nvPr>
            <p:ph sz="half" idx="2"/>
          </p:nvPr>
        </p:nvSpPr>
        <p:spPr>
          <a:xfrm>
            <a:off x="759967" y="3593702"/>
            <a:ext cx="5157787" cy="2019300"/>
          </a:xfrm>
        </p:spPr>
        <p:txBody>
          <a:bodyPr>
            <a:normAutofit fontScale="92500" lnSpcReduction="10000"/>
          </a:bodyPr>
          <a:lstStyle/>
          <a:p>
            <a:r>
              <a:rPr lang="en-US" sz="1400" dirty="0"/>
              <a:t>K-Mean Clustering</a:t>
            </a:r>
            <a:endParaRPr lang="en-IN" sz="1400" dirty="0"/>
          </a:p>
          <a:p>
            <a:r>
              <a:rPr lang="en-US" sz="1400" dirty="0"/>
              <a:t>Isolation Forest</a:t>
            </a:r>
          </a:p>
          <a:p>
            <a:r>
              <a:rPr lang="en-US" sz="1400" dirty="0"/>
              <a:t>One-Class SVM</a:t>
            </a:r>
          </a:p>
          <a:p>
            <a:r>
              <a:rPr lang="en-US" sz="1400" dirty="0"/>
              <a:t>Logistic Regression</a:t>
            </a:r>
          </a:p>
          <a:p>
            <a:r>
              <a:rPr lang="en-US" sz="1400" dirty="0"/>
              <a:t>SVM</a:t>
            </a:r>
          </a:p>
          <a:p>
            <a:r>
              <a:rPr lang="en-US" sz="1400" dirty="0"/>
              <a:t>Random Forest Classifier</a:t>
            </a:r>
          </a:p>
          <a:p>
            <a:r>
              <a:rPr lang="en-US" sz="1400" dirty="0"/>
              <a:t>XGBoost Classifier</a:t>
            </a:r>
            <a:endParaRPr lang="en-IN" sz="1400" dirty="0"/>
          </a:p>
        </p:txBody>
      </p:sp>
      <p:sp>
        <p:nvSpPr>
          <p:cNvPr id="7" name="Footer Placeholder 6">
            <a:extLst>
              <a:ext uri="{FF2B5EF4-FFF2-40B4-BE49-F238E27FC236}">
                <a16:creationId xmlns:a16="http://schemas.microsoft.com/office/drawing/2014/main" id="{841F3924-A266-ED74-B056-B7F2D94DAE5D}"/>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E5EF06AF-F0B9-F605-4D80-DA6E702AA6B8}"/>
              </a:ext>
            </a:extLst>
          </p:cNvPr>
          <p:cNvSpPr>
            <a:spLocks noGrp="1"/>
          </p:cNvSpPr>
          <p:nvPr>
            <p:ph type="sldNum" sz="quarter" idx="12"/>
          </p:nvPr>
        </p:nvSpPr>
        <p:spPr/>
        <p:txBody>
          <a:bodyPr/>
          <a:lstStyle/>
          <a:p>
            <a:fld id="{0541023B-0DCA-4467-9EB4-7DB5EBA0C709}" type="slidenum">
              <a:rPr lang="en-IN" smtClean="0"/>
              <a:t>30</a:t>
            </a:fld>
            <a:endParaRPr lang="en-IN"/>
          </a:p>
        </p:txBody>
      </p:sp>
      <p:sp>
        <p:nvSpPr>
          <p:cNvPr id="15" name="TextBox 14">
            <a:extLst>
              <a:ext uri="{FF2B5EF4-FFF2-40B4-BE49-F238E27FC236}">
                <a16:creationId xmlns:a16="http://schemas.microsoft.com/office/drawing/2014/main" id="{AA273BD6-E23D-96DF-2231-0A491B65BA1A}"/>
              </a:ext>
            </a:extLst>
          </p:cNvPr>
          <p:cNvSpPr txBox="1"/>
          <p:nvPr/>
        </p:nvSpPr>
        <p:spPr>
          <a:xfrm>
            <a:off x="3914776" y="3429000"/>
            <a:ext cx="7896224" cy="2462213"/>
          </a:xfrm>
          <a:prstGeom prst="rect">
            <a:avLst/>
          </a:prstGeom>
          <a:noFill/>
        </p:spPr>
        <p:txBody>
          <a:bodyPr wrap="square" rtlCol="0">
            <a:spAutoFit/>
          </a:bodyPr>
          <a:lstStyle/>
          <a:p>
            <a:r>
              <a:rPr lang="en-US" sz="1400" dirty="0"/>
              <a:t>• Supervised models significantly outperform unsupervised models in this comparison,</a:t>
            </a:r>
          </a:p>
          <a:p>
            <a:r>
              <a:rPr lang="en-US" sz="1400" dirty="0"/>
              <a:t>especially in terms of overall accuracy and balanced F1-Scores.</a:t>
            </a:r>
          </a:p>
          <a:p>
            <a:endParaRPr lang="en-US" sz="1400" dirty="0"/>
          </a:p>
          <a:p>
            <a:r>
              <a:rPr lang="en-US" sz="1400" dirty="0"/>
              <a:t>• XGBoost is the best-performing model overall, exhibiting exceptional balance and high</a:t>
            </a:r>
          </a:p>
          <a:p>
            <a:r>
              <a:rPr lang="en-US" sz="1400" dirty="0"/>
              <a:t>scores across all key metrics (Accuracy, Precision, Recall, F1-Score).</a:t>
            </a:r>
          </a:p>
          <a:p>
            <a:endParaRPr lang="en-US" sz="1400" dirty="0"/>
          </a:p>
          <a:p>
            <a:r>
              <a:rPr lang="en-US" sz="1400" dirty="0"/>
              <a:t>• Random Forest Classifier is a very close second to XGBoost, also demonstrating excellent</a:t>
            </a:r>
          </a:p>
          <a:p>
            <a:r>
              <a:rPr lang="en-IN" sz="1400" dirty="0"/>
              <a:t>and well-balanced performance.</a:t>
            </a:r>
          </a:p>
          <a:p>
            <a:endParaRPr lang="en-US" sz="1400" dirty="0"/>
          </a:p>
          <a:p>
            <a:r>
              <a:rPr lang="en-US" sz="1400" dirty="0"/>
              <a:t>• Logistic Regression is a strong contender within supervised learning, offering robust</a:t>
            </a:r>
          </a:p>
          <a:p>
            <a:r>
              <a:rPr lang="en-IN" sz="1400" dirty="0"/>
              <a:t>performance.</a:t>
            </a:r>
            <a:endParaRPr lang="en-US" sz="1100" dirty="0"/>
          </a:p>
        </p:txBody>
      </p:sp>
      <p:pic>
        <p:nvPicPr>
          <p:cNvPr id="6" name="Picture 5">
            <a:extLst>
              <a:ext uri="{FF2B5EF4-FFF2-40B4-BE49-F238E27FC236}">
                <a16:creationId xmlns:a16="http://schemas.microsoft.com/office/drawing/2014/main" id="{CAA13367-7A57-51C5-1E74-43B64FD2BFE5}"/>
              </a:ext>
            </a:extLst>
          </p:cNvPr>
          <p:cNvPicPr>
            <a:picLocks noChangeAspect="1"/>
          </p:cNvPicPr>
          <p:nvPr/>
        </p:nvPicPr>
        <p:blipFill>
          <a:blip r:embed="rId3"/>
          <a:stretch>
            <a:fillRect/>
          </a:stretch>
        </p:blipFill>
        <p:spPr>
          <a:xfrm>
            <a:off x="1695450" y="1462087"/>
            <a:ext cx="8801100" cy="1571625"/>
          </a:xfrm>
          <a:prstGeom prst="rect">
            <a:avLst/>
          </a:prstGeom>
        </p:spPr>
      </p:pic>
    </p:spTree>
    <p:extLst>
      <p:ext uri="{BB962C8B-B14F-4D97-AF65-F5344CB8AC3E}">
        <p14:creationId xmlns:p14="http://schemas.microsoft.com/office/powerpoint/2010/main" val="2090853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40FD7-22C0-B427-0602-CECC7E60E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22048-6A5C-6236-03E8-644457B6138B}"/>
              </a:ext>
            </a:extLst>
          </p:cNvPr>
          <p:cNvSpPr>
            <a:spLocks noGrp="1"/>
          </p:cNvSpPr>
          <p:nvPr>
            <p:ph type="title"/>
          </p:nvPr>
        </p:nvSpPr>
        <p:spPr/>
        <p:txBody>
          <a:bodyPr/>
          <a:lstStyle/>
          <a:p>
            <a:r>
              <a:rPr lang="en-US" dirty="0">
                <a:effectLst>
                  <a:outerShdw blurRad="38100" dist="38100" dir="2700000" algn="tl">
                    <a:srgbClr val="000000">
                      <a:alpha val="43137"/>
                    </a:srgbClr>
                  </a:outerShdw>
                </a:effectLst>
              </a:rPr>
              <a:t>Deep Learning Models</a:t>
            </a:r>
            <a:endParaRPr lang="en-IN" dirty="0">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48A9D4C4-68B6-58F5-12F1-13F82781DF95}"/>
              </a:ext>
            </a:extLst>
          </p:cNvPr>
          <p:cNvSpPr>
            <a:spLocks noGrp="1"/>
          </p:cNvSpPr>
          <p:nvPr>
            <p:ph sz="half" idx="2"/>
          </p:nvPr>
        </p:nvSpPr>
        <p:spPr>
          <a:xfrm>
            <a:off x="759967" y="3593702"/>
            <a:ext cx="5157787" cy="2019300"/>
          </a:xfrm>
        </p:spPr>
        <p:txBody>
          <a:bodyPr>
            <a:normAutofit/>
          </a:bodyPr>
          <a:lstStyle/>
          <a:p>
            <a:r>
              <a:rPr lang="en-US" sz="1400" dirty="0"/>
              <a:t>Autoencoder</a:t>
            </a:r>
            <a:endParaRPr lang="en-IN" sz="1400" dirty="0"/>
          </a:p>
          <a:p>
            <a:r>
              <a:rPr lang="en-US" sz="1400" dirty="0"/>
              <a:t>Variational Autoencoder</a:t>
            </a:r>
            <a:endParaRPr lang="en-IN" sz="1400" dirty="0"/>
          </a:p>
        </p:txBody>
      </p:sp>
      <p:sp>
        <p:nvSpPr>
          <p:cNvPr id="7" name="Footer Placeholder 6">
            <a:extLst>
              <a:ext uri="{FF2B5EF4-FFF2-40B4-BE49-F238E27FC236}">
                <a16:creationId xmlns:a16="http://schemas.microsoft.com/office/drawing/2014/main" id="{85404823-D2D8-B600-18DD-72727D620C68}"/>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3F66D830-4278-14FF-DD60-0A66DF0C4483}"/>
              </a:ext>
            </a:extLst>
          </p:cNvPr>
          <p:cNvSpPr>
            <a:spLocks noGrp="1"/>
          </p:cNvSpPr>
          <p:nvPr>
            <p:ph type="sldNum" sz="quarter" idx="12"/>
          </p:nvPr>
        </p:nvSpPr>
        <p:spPr/>
        <p:txBody>
          <a:bodyPr/>
          <a:lstStyle/>
          <a:p>
            <a:fld id="{0541023B-0DCA-4467-9EB4-7DB5EBA0C709}" type="slidenum">
              <a:rPr lang="en-IN" smtClean="0"/>
              <a:t>31</a:t>
            </a:fld>
            <a:endParaRPr lang="en-IN"/>
          </a:p>
        </p:txBody>
      </p:sp>
      <p:sp>
        <p:nvSpPr>
          <p:cNvPr id="15" name="TextBox 14">
            <a:extLst>
              <a:ext uri="{FF2B5EF4-FFF2-40B4-BE49-F238E27FC236}">
                <a16:creationId xmlns:a16="http://schemas.microsoft.com/office/drawing/2014/main" id="{C47B5808-981E-F61E-7C0F-B25318580C18}"/>
              </a:ext>
            </a:extLst>
          </p:cNvPr>
          <p:cNvSpPr txBox="1"/>
          <p:nvPr/>
        </p:nvSpPr>
        <p:spPr>
          <a:xfrm>
            <a:off x="3914776" y="3429000"/>
            <a:ext cx="7896224" cy="2462213"/>
          </a:xfrm>
          <a:prstGeom prst="rect">
            <a:avLst/>
          </a:prstGeom>
          <a:noFill/>
        </p:spPr>
        <p:txBody>
          <a:bodyPr wrap="square" rtlCol="0">
            <a:spAutoFit/>
          </a:bodyPr>
          <a:lstStyle/>
          <a:p>
            <a:r>
              <a:rPr lang="en-US" sz="1400" dirty="0"/>
              <a:t>• Both AE and VAE models show extremely high True Positive (TP) rates but are</a:t>
            </a:r>
          </a:p>
          <a:p>
            <a:r>
              <a:rPr lang="en-US" sz="1400" dirty="0"/>
              <a:t>severely hampered by very high False Positive (FP) rates across all tested thresholds.</a:t>
            </a:r>
          </a:p>
          <a:p>
            <a:endParaRPr lang="en-US" sz="1400" dirty="0"/>
          </a:p>
          <a:p>
            <a:r>
              <a:rPr lang="en-US" sz="1400" dirty="0"/>
              <a:t>• Consistently low Precision and extremely low F1-Scores for both models, indicates a</a:t>
            </a:r>
          </a:p>
          <a:p>
            <a:r>
              <a:rPr lang="en-US" sz="1400" dirty="0"/>
              <a:t>poor balance between detecting true anomalies and minimizing false alarms.</a:t>
            </a:r>
          </a:p>
          <a:p>
            <a:endParaRPr lang="en-US" sz="1400" dirty="0"/>
          </a:p>
          <a:p>
            <a:r>
              <a:rPr lang="en-US" sz="1400" dirty="0"/>
              <a:t>• The Recall values are also extremely low, which, when combined with high True Positive</a:t>
            </a:r>
          </a:p>
          <a:p>
            <a:r>
              <a:rPr lang="en-US" sz="1400" dirty="0"/>
              <a:t>(TP), strongly suggests an underlying issue in detecting such anomalies.</a:t>
            </a:r>
          </a:p>
          <a:p>
            <a:endParaRPr lang="en-US" sz="1400" dirty="0"/>
          </a:p>
          <a:p>
            <a:r>
              <a:rPr lang="en-US" sz="1400" dirty="0"/>
              <a:t>• Contrary to expectation, VAE did not perform better than AE; the latter achieved a</a:t>
            </a:r>
          </a:p>
          <a:p>
            <a:r>
              <a:rPr lang="en-US" sz="1400" dirty="0"/>
              <a:t>slightly higher F1-Score and marginally better precision.</a:t>
            </a:r>
            <a:endParaRPr lang="en-US" sz="1000" dirty="0"/>
          </a:p>
        </p:txBody>
      </p:sp>
      <p:graphicFrame>
        <p:nvGraphicFramePr>
          <p:cNvPr id="3" name="Object 2">
            <a:extLst>
              <a:ext uri="{FF2B5EF4-FFF2-40B4-BE49-F238E27FC236}">
                <a16:creationId xmlns:a16="http://schemas.microsoft.com/office/drawing/2014/main" id="{1112104E-802F-C2D4-7B4A-737451D659D8}"/>
              </a:ext>
            </a:extLst>
          </p:cNvPr>
          <p:cNvGraphicFramePr>
            <a:graphicFrameLocks noChangeAspect="1"/>
          </p:cNvGraphicFramePr>
          <p:nvPr>
            <p:extLst>
              <p:ext uri="{D42A27DB-BD31-4B8C-83A1-F6EECF244321}">
                <p14:modId xmlns:p14="http://schemas.microsoft.com/office/powerpoint/2010/main" val="515948980"/>
              </p:ext>
            </p:extLst>
          </p:nvPr>
        </p:nvGraphicFramePr>
        <p:xfrm>
          <a:off x="1819275" y="1398189"/>
          <a:ext cx="8553450" cy="1752600"/>
        </p:xfrm>
        <a:graphic>
          <a:graphicData uri="http://schemas.openxmlformats.org/presentationml/2006/ole">
            <mc:AlternateContent xmlns:mc="http://schemas.openxmlformats.org/markup-compatibility/2006">
              <mc:Choice xmlns:v="urn:schemas-microsoft-com:vml" Requires="v">
                <p:oleObj name="Worksheet" r:id="rId3" imgW="8553339" imgH="1752337" progId="Excel.Sheet.12">
                  <p:embed/>
                </p:oleObj>
              </mc:Choice>
              <mc:Fallback>
                <p:oleObj name="Worksheet" r:id="rId3" imgW="8553339" imgH="1752337" progId="Excel.Sheet.12">
                  <p:embed/>
                  <p:pic>
                    <p:nvPicPr>
                      <p:cNvPr id="12" name="Object 11">
                        <a:extLst>
                          <a:ext uri="{FF2B5EF4-FFF2-40B4-BE49-F238E27FC236}">
                            <a16:creationId xmlns:a16="http://schemas.microsoft.com/office/drawing/2014/main" id="{9F793AF7-5F50-87A9-549D-475695D357FD}"/>
                          </a:ext>
                        </a:extLst>
                      </p:cNvPr>
                      <p:cNvPicPr/>
                      <p:nvPr/>
                    </p:nvPicPr>
                    <p:blipFill>
                      <a:blip r:embed="rId4"/>
                      <a:stretch>
                        <a:fillRect/>
                      </a:stretch>
                    </p:blipFill>
                    <p:spPr>
                      <a:xfrm>
                        <a:off x="1819275" y="1398189"/>
                        <a:ext cx="8553450" cy="1752600"/>
                      </a:xfrm>
                      <a:prstGeom prst="rect">
                        <a:avLst/>
                      </a:prstGeom>
                    </p:spPr>
                  </p:pic>
                </p:oleObj>
              </mc:Fallback>
            </mc:AlternateContent>
          </a:graphicData>
        </a:graphic>
      </p:graphicFrame>
    </p:spTree>
    <p:extLst>
      <p:ext uri="{BB962C8B-B14F-4D97-AF65-F5344CB8AC3E}">
        <p14:creationId xmlns:p14="http://schemas.microsoft.com/office/powerpoint/2010/main" val="85769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8F519961-9101-BA5F-2A97-2A941D2FE1E5}"/>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AF3F8004-EE93-27C2-3908-B76ADFCB43B3}"/>
              </a:ext>
            </a:extLst>
          </p:cNvPr>
          <p:cNvSpPr>
            <a:spLocks noGrp="1"/>
          </p:cNvSpPr>
          <p:nvPr>
            <p:ph type="sldNum" sz="quarter" idx="12"/>
          </p:nvPr>
        </p:nvSpPr>
        <p:spPr/>
        <p:txBody>
          <a:bodyPr/>
          <a:lstStyle/>
          <a:p>
            <a:fld id="{0541023B-0DCA-4467-9EB4-7DB5EBA0C709}" type="slidenum">
              <a:rPr lang="en-IN" smtClean="0"/>
              <a:t>32</a:t>
            </a:fld>
            <a:endParaRPr lang="en-IN"/>
          </a:p>
        </p:txBody>
      </p:sp>
      <p:pic>
        <p:nvPicPr>
          <p:cNvPr id="14" name="Picture 13">
            <a:extLst>
              <a:ext uri="{FF2B5EF4-FFF2-40B4-BE49-F238E27FC236}">
                <a16:creationId xmlns:a16="http://schemas.microsoft.com/office/drawing/2014/main" id="{FE3633E0-CA51-204C-E05E-EF1BA008D8A2}"/>
              </a:ext>
            </a:extLst>
          </p:cNvPr>
          <p:cNvPicPr>
            <a:picLocks noChangeAspect="1"/>
          </p:cNvPicPr>
          <p:nvPr/>
        </p:nvPicPr>
        <p:blipFill>
          <a:blip r:embed="rId2"/>
          <a:stretch>
            <a:fillRect/>
          </a:stretch>
        </p:blipFill>
        <p:spPr>
          <a:xfrm>
            <a:off x="590559" y="136525"/>
            <a:ext cx="4304781" cy="2981912"/>
          </a:xfrm>
          <a:prstGeom prst="rect">
            <a:avLst/>
          </a:prstGeom>
          <a:ln>
            <a:noFill/>
          </a:ln>
          <a:effectLst>
            <a:outerShdw blurRad="190500" algn="tl" rotWithShape="0">
              <a:srgbClr val="000000">
                <a:alpha val="70000"/>
              </a:srgbClr>
            </a:outerShdw>
          </a:effectLst>
        </p:spPr>
      </p:pic>
      <p:pic>
        <p:nvPicPr>
          <p:cNvPr id="18" name="Picture 17">
            <a:extLst>
              <a:ext uri="{FF2B5EF4-FFF2-40B4-BE49-F238E27FC236}">
                <a16:creationId xmlns:a16="http://schemas.microsoft.com/office/drawing/2014/main" id="{FD393A80-C206-F5FD-880D-0A75513FA440}"/>
              </a:ext>
            </a:extLst>
          </p:cNvPr>
          <p:cNvPicPr>
            <a:picLocks noChangeAspect="1"/>
          </p:cNvPicPr>
          <p:nvPr/>
        </p:nvPicPr>
        <p:blipFill>
          <a:blip r:embed="rId3"/>
          <a:stretch>
            <a:fillRect/>
          </a:stretch>
        </p:blipFill>
        <p:spPr>
          <a:xfrm>
            <a:off x="590559" y="3118437"/>
            <a:ext cx="4304781" cy="2984648"/>
          </a:xfrm>
          <a:prstGeom prst="rect">
            <a:avLst/>
          </a:prstGeom>
          <a:ln>
            <a:noFill/>
          </a:ln>
          <a:effectLst>
            <a:outerShdw blurRad="190500" algn="tl" rotWithShape="0">
              <a:srgbClr val="000000">
                <a:alpha val="70000"/>
              </a:srgbClr>
            </a:outerShdw>
          </a:effectLst>
        </p:spPr>
      </p:pic>
      <p:pic>
        <p:nvPicPr>
          <p:cNvPr id="20" name="Picture 19">
            <a:extLst>
              <a:ext uri="{FF2B5EF4-FFF2-40B4-BE49-F238E27FC236}">
                <a16:creationId xmlns:a16="http://schemas.microsoft.com/office/drawing/2014/main" id="{065CC2C8-07F0-8607-87AD-C26196A733EA}"/>
              </a:ext>
            </a:extLst>
          </p:cNvPr>
          <p:cNvPicPr>
            <a:picLocks noChangeAspect="1"/>
          </p:cNvPicPr>
          <p:nvPr/>
        </p:nvPicPr>
        <p:blipFill>
          <a:blip r:embed="rId4"/>
          <a:stretch>
            <a:fillRect/>
          </a:stretch>
        </p:blipFill>
        <p:spPr>
          <a:xfrm>
            <a:off x="4970485" y="136525"/>
            <a:ext cx="4296423" cy="2981912"/>
          </a:xfrm>
          <a:prstGeom prst="rect">
            <a:avLst/>
          </a:prstGeom>
          <a:ln>
            <a:noFill/>
          </a:ln>
          <a:effectLst>
            <a:outerShdw blurRad="190500" algn="tl" rotWithShape="0">
              <a:srgbClr val="000000">
                <a:alpha val="70000"/>
              </a:srgbClr>
            </a:outerShdw>
          </a:effectLst>
        </p:spPr>
      </p:pic>
      <p:pic>
        <p:nvPicPr>
          <p:cNvPr id="22" name="Picture 21">
            <a:extLst>
              <a:ext uri="{FF2B5EF4-FFF2-40B4-BE49-F238E27FC236}">
                <a16:creationId xmlns:a16="http://schemas.microsoft.com/office/drawing/2014/main" id="{43C94627-93B3-F02D-177A-2D72BEEA8CFC}"/>
              </a:ext>
            </a:extLst>
          </p:cNvPr>
          <p:cNvPicPr>
            <a:picLocks noChangeAspect="1"/>
          </p:cNvPicPr>
          <p:nvPr/>
        </p:nvPicPr>
        <p:blipFill>
          <a:blip r:embed="rId5"/>
          <a:stretch>
            <a:fillRect/>
          </a:stretch>
        </p:blipFill>
        <p:spPr>
          <a:xfrm>
            <a:off x="4970485" y="3093704"/>
            <a:ext cx="4304781" cy="3009381"/>
          </a:xfrm>
          <a:prstGeom prst="rect">
            <a:avLst/>
          </a:prstGeom>
          <a:ln>
            <a:noFill/>
          </a:ln>
          <a:effectLst>
            <a:outerShdw blurRad="190500" algn="tl" rotWithShape="0">
              <a:srgbClr val="000000">
                <a:alpha val="70000"/>
              </a:srgbClr>
            </a:outerShdw>
          </a:effectLst>
        </p:spPr>
      </p:pic>
      <p:sp>
        <p:nvSpPr>
          <p:cNvPr id="23" name="Title 1">
            <a:extLst>
              <a:ext uri="{FF2B5EF4-FFF2-40B4-BE49-F238E27FC236}">
                <a16:creationId xmlns:a16="http://schemas.microsoft.com/office/drawing/2014/main" id="{795F2253-E3BE-ED5C-1557-E5E4E0BA77E9}"/>
              </a:ext>
            </a:extLst>
          </p:cNvPr>
          <p:cNvSpPr>
            <a:spLocks noGrp="1"/>
          </p:cNvSpPr>
          <p:nvPr>
            <p:ph type="title"/>
          </p:nvPr>
        </p:nvSpPr>
        <p:spPr>
          <a:xfrm>
            <a:off x="9350411" y="2298700"/>
            <a:ext cx="2743200" cy="1325563"/>
          </a:xfrm>
        </p:spPr>
        <p:txBody>
          <a:bodyPr>
            <a:normAutofit fontScale="90000"/>
          </a:bodyPr>
          <a:lstStyle/>
          <a:p>
            <a:r>
              <a:rPr lang="en-US" dirty="0">
                <a:effectLst>
                  <a:outerShdw blurRad="38100" dist="38100" dir="2700000" algn="tl">
                    <a:srgbClr val="000000">
                      <a:alpha val="43137"/>
                    </a:srgbClr>
                  </a:outerShdw>
                </a:effectLst>
              </a:rPr>
              <a:t>Additional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Evaluation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Plots</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(GridSearchCV)</a:t>
            </a:r>
            <a:endParaRPr lang="en-IN"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11892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170BD-9176-3D7F-3460-1091B8AE3C5D}"/>
            </a:ext>
          </a:extLst>
        </p:cNvPr>
        <p:cNvGrpSpPr/>
        <p:nvPr/>
      </p:nvGrpSpPr>
      <p:grpSpPr>
        <a:xfrm>
          <a:off x="0" y="0"/>
          <a:ext cx="0" cy="0"/>
          <a:chOff x="0" y="0"/>
          <a:chExt cx="0" cy="0"/>
        </a:xfrm>
      </p:grpSpPr>
      <p:sp>
        <p:nvSpPr>
          <p:cNvPr id="7" name="Footer Placeholder 6">
            <a:extLst>
              <a:ext uri="{FF2B5EF4-FFF2-40B4-BE49-F238E27FC236}">
                <a16:creationId xmlns:a16="http://schemas.microsoft.com/office/drawing/2014/main" id="{F10B48AD-CED1-E1B0-9219-163B3B3F0E2E}"/>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B085A473-AF4D-3E6D-1C03-085DDDA0DF0B}"/>
              </a:ext>
            </a:extLst>
          </p:cNvPr>
          <p:cNvSpPr>
            <a:spLocks noGrp="1"/>
          </p:cNvSpPr>
          <p:nvPr>
            <p:ph type="sldNum" sz="quarter" idx="12"/>
          </p:nvPr>
        </p:nvSpPr>
        <p:spPr/>
        <p:txBody>
          <a:bodyPr/>
          <a:lstStyle/>
          <a:p>
            <a:fld id="{0541023B-0DCA-4467-9EB4-7DB5EBA0C709}" type="slidenum">
              <a:rPr lang="en-IN" smtClean="0"/>
              <a:t>33</a:t>
            </a:fld>
            <a:endParaRPr lang="en-IN"/>
          </a:p>
        </p:txBody>
      </p:sp>
      <p:sp>
        <p:nvSpPr>
          <p:cNvPr id="23" name="Title 1">
            <a:extLst>
              <a:ext uri="{FF2B5EF4-FFF2-40B4-BE49-F238E27FC236}">
                <a16:creationId xmlns:a16="http://schemas.microsoft.com/office/drawing/2014/main" id="{295DC515-5524-665C-60B3-0AD14898DEF7}"/>
              </a:ext>
            </a:extLst>
          </p:cNvPr>
          <p:cNvSpPr>
            <a:spLocks noGrp="1"/>
          </p:cNvSpPr>
          <p:nvPr>
            <p:ph type="title"/>
          </p:nvPr>
        </p:nvSpPr>
        <p:spPr>
          <a:xfrm>
            <a:off x="180975" y="136525"/>
            <a:ext cx="7886700" cy="1325563"/>
          </a:xfrm>
        </p:spPr>
        <p:txBody>
          <a:bodyPr>
            <a:normAutofit/>
          </a:bodyPr>
          <a:lstStyle/>
          <a:p>
            <a:r>
              <a:rPr lang="en-US" dirty="0">
                <a:effectLst>
                  <a:outerShdw blurRad="38100" dist="38100" dir="2700000" algn="tl">
                    <a:srgbClr val="000000">
                      <a:alpha val="43137"/>
                    </a:srgbClr>
                  </a:outerShdw>
                </a:effectLst>
              </a:rPr>
              <a:t>Additional Evaluation Plots</a:t>
            </a:r>
            <a:endParaRPr lang="en-IN" dirty="0">
              <a:effectLst>
                <a:outerShdw blurRad="38100" dist="38100" dir="2700000" algn="tl">
                  <a:srgbClr val="000000">
                    <a:alpha val="43137"/>
                  </a:srgbClr>
                </a:outerShdw>
              </a:effectLst>
            </a:endParaRPr>
          </a:p>
        </p:txBody>
      </p:sp>
      <p:pic>
        <p:nvPicPr>
          <p:cNvPr id="9" name="Picture 8">
            <a:extLst>
              <a:ext uri="{FF2B5EF4-FFF2-40B4-BE49-F238E27FC236}">
                <a16:creationId xmlns:a16="http://schemas.microsoft.com/office/drawing/2014/main" id="{9D2266EF-1E0B-6967-B74A-ACC7F878B9CB}"/>
              </a:ext>
            </a:extLst>
          </p:cNvPr>
          <p:cNvPicPr>
            <a:picLocks noChangeAspect="1"/>
          </p:cNvPicPr>
          <p:nvPr/>
        </p:nvPicPr>
        <p:blipFill>
          <a:blip r:embed="rId2"/>
          <a:stretch>
            <a:fillRect/>
          </a:stretch>
        </p:blipFill>
        <p:spPr>
          <a:xfrm>
            <a:off x="95250" y="1231109"/>
            <a:ext cx="6000750" cy="2318856"/>
          </a:xfrm>
          <a:prstGeom prst="rect">
            <a:avLst/>
          </a:prstGeom>
          <a:ln>
            <a:noFill/>
          </a:ln>
          <a:effectLst>
            <a:outerShdw blurRad="190500" algn="tl" rotWithShape="0">
              <a:srgbClr val="000000">
                <a:alpha val="70000"/>
              </a:srgbClr>
            </a:outerShdw>
          </a:effectLst>
        </p:spPr>
      </p:pic>
      <p:pic>
        <p:nvPicPr>
          <p:cNvPr id="5" name="Picture 4">
            <a:extLst>
              <a:ext uri="{FF2B5EF4-FFF2-40B4-BE49-F238E27FC236}">
                <a16:creationId xmlns:a16="http://schemas.microsoft.com/office/drawing/2014/main" id="{3B6D2DB7-5638-57E6-899F-866332513A77}"/>
              </a:ext>
            </a:extLst>
          </p:cNvPr>
          <p:cNvPicPr>
            <a:picLocks noChangeAspect="1"/>
          </p:cNvPicPr>
          <p:nvPr/>
        </p:nvPicPr>
        <p:blipFill>
          <a:blip r:embed="rId3"/>
          <a:stretch>
            <a:fillRect/>
          </a:stretch>
        </p:blipFill>
        <p:spPr>
          <a:xfrm>
            <a:off x="6096000" y="1231109"/>
            <a:ext cx="6000750" cy="2315996"/>
          </a:xfrm>
          <a:prstGeom prst="rect">
            <a:avLst/>
          </a:prstGeom>
          <a:ln>
            <a:noFill/>
          </a:ln>
          <a:effectLst>
            <a:outerShdw blurRad="190500" algn="tl" rotWithShape="0">
              <a:srgbClr val="000000">
                <a:alpha val="70000"/>
              </a:srgbClr>
            </a:outerShdw>
          </a:effectLst>
        </p:spPr>
      </p:pic>
      <p:pic>
        <p:nvPicPr>
          <p:cNvPr id="11" name="Picture 10">
            <a:extLst>
              <a:ext uri="{FF2B5EF4-FFF2-40B4-BE49-F238E27FC236}">
                <a16:creationId xmlns:a16="http://schemas.microsoft.com/office/drawing/2014/main" id="{F7DEDFD1-1C0F-2C29-8A53-68AE0C956A95}"/>
              </a:ext>
            </a:extLst>
          </p:cNvPr>
          <p:cNvPicPr>
            <a:picLocks noChangeAspect="1"/>
          </p:cNvPicPr>
          <p:nvPr/>
        </p:nvPicPr>
        <p:blipFill>
          <a:blip r:embed="rId4"/>
          <a:stretch>
            <a:fillRect/>
          </a:stretch>
        </p:blipFill>
        <p:spPr>
          <a:xfrm>
            <a:off x="95250" y="3547105"/>
            <a:ext cx="6000750" cy="2315996"/>
          </a:xfrm>
          <a:prstGeom prst="rect">
            <a:avLst/>
          </a:prstGeom>
          <a:ln>
            <a:noFill/>
          </a:ln>
          <a:effectLst>
            <a:outerShdw blurRad="190500" algn="tl" rotWithShape="0">
              <a:srgbClr val="000000">
                <a:alpha val="70000"/>
              </a:srgbClr>
            </a:outerShdw>
          </a:effectLst>
        </p:spPr>
      </p:pic>
      <p:pic>
        <p:nvPicPr>
          <p:cNvPr id="13" name="Picture 12">
            <a:extLst>
              <a:ext uri="{FF2B5EF4-FFF2-40B4-BE49-F238E27FC236}">
                <a16:creationId xmlns:a16="http://schemas.microsoft.com/office/drawing/2014/main" id="{7FA8F810-DC29-4CD6-85A4-204CD6957125}"/>
              </a:ext>
            </a:extLst>
          </p:cNvPr>
          <p:cNvPicPr>
            <a:picLocks noChangeAspect="1"/>
          </p:cNvPicPr>
          <p:nvPr/>
        </p:nvPicPr>
        <p:blipFill>
          <a:blip r:embed="rId5"/>
          <a:stretch>
            <a:fillRect/>
          </a:stretch>
        </p:blipFill>
        <p:spPr>
          <a:xfrm>
            <a:off x="6096000" y="3546390"/>
            <a:ext cx="6000750" cy="231742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896120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9C4F0-D075-35B7-A1FE-3C1538AECEDD}"/>
              </a:ext>
            </a:extLst>
          </p:cNvPr>
          <p:cNvSpPr>
            <a:spLocks noGrp="1"/>
          </p:cNvSpPr>
          <p:nvPr>
            <p:ph type="title"/>
          </p:nvPr>
        </p:nvSpPr>
        <p:spPr/>
        <p:txBody>
          <a:bodyPr/>
          <a:lstStyle/>
          <a:p>
            <a:r>
              <a:rPr lang="en-IN" dirty="0"/>
              <a:t>Solution Plan</a:t>
            </a:r>
          </a:p>
        </p:txBody>
      </p:sp>
      <p:sp>
        <p:nvSpPr>
          <p:cNvPr id="4" name="Footer Placeholder 3">
            <a:extLst>
              <a:ext uri="{FF2B5EF4-FFF2-40B4-BE49-F238E27FC236}">
                <a16:creationId xmlns:a16="http://schemas.microsoft.com/office/drawing/2014/main" id="{C92D2DA3-36EC-9FBB-9B84-9608931EEB42}"/>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DA473BFB-5F44-9FE6-827A-38F24FC776F0}"/>
              </a:ext>
            </a:extLst>
          </p:cNvPr>
          <p:cNvSpPr>
            <a:spLocks noGrp="1"/>
          </p:cNvSpPr>
          <p:nvPr>
            <p:ph type="sldNum" sz="quarter" idx="12"/>
          </p:nvPr>
        </p:nvSpPr>
        <p:spPr/>
        <p:txBody>
          <a:bodyPr/>
          <a:lstStyle/>
          <a:p>
            <a:fld id="{0541023B-0DCA-4467-9EB4-7DB5EBA0C709}" type="slidenum">
              <a:rPr lang="en-IN" smtClean="0"/>
              <a:t>34</a:t>
            </a:fld>
            <a:endParaRPr lang="en-IN"/>
          </a:p>
        </p:txBody>
      </p:sp>
    </p:spTree>
    <p:extLst>
      <p:ext uri="{BB962C8B-B14F-4D97-AF65-F5344CB8AC3E}">
        <p14:creationId xmlns:p14="http://schemas.microsoft.com/office/powerpoint/2010/main" val="7616564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A4AF3-D13E-5F07-8EDC-02F397CD5116}"/>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Dissertation Workflow</a:t>
            </a:r>
          </a:p>
        </p:txBody>
      </p:sp>
      <p:sp>
        <p:nvSpPr>
          <p:cNvPr id="4" name="Footer Placeholder 3">
            <a:extLst>
              <a:ext uri="{FF2B5EF4-FFF2-40B4-BE49-F238E27FC236}">
                <a16:creationId xmlns:a16="http://schemas.microsoft.com/office/drawing/2014/main" id="{51A9830B-C498-187F-8864-CB488A368743}"/>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4FB3A652-E9FC-26B1-02B3-B2150C606B09}"/>
              </a:ext>
            </a:extLst>
          </p:cNvPr>
          <p:cNvSpPr>
            <a:spLocks noGrp="1"/>
          </p:cNvSpPr>
          <p:nvPr>
            <p:ph type="sldNum" sz="quarter" idx="12"/>
          </p:nvPr>
        </p:nvSpPr>
        <p:spPr/>
        <p:txBody>
          <a:bodyPr/>
          <a:lstStyle/>
          <a:p>
            <a:fld id="{0541023B-0DCA-4467-9EB4-7DB5EBA0C709}" type="slidenum">
              <a:rPr lang="en-IN" smtClean="0"/>
              <a:t>35</a:t>
            </a:fld>
            <a:endParaRPr lang="en-IN"/>
          </a:p>
        </p:txBody>
      </p:sp>
      <p:sp>
        <p:nvSpPr>
          <p:cNvPr id="20" name="Rectangle 19">
            <a:extLst>
              <a:ext uri="{FF2B5EF4-FFF2-40B4-BE49-F238E27FC236}">
                <a16:creationId xmlns:a16="http://schemas.microsoft.com/office/drawing/2014/main" id="{914318F1-C9C0-4417-61E1-FA4C2D4FB170}"/>
              </a:ext>
            </a:extLst>
          </p:cNvPr>
          <p:cNvSpPr/>
          <p:nvPr/>
        </p:nvSpPr>
        <p:spPr>
          <a:xfrm>
            <a:off x="10191963" y="737595"/>
            <a:ext cx="1161837" cy="4944013"/>
          </a:xfrm>
          <a:prstGeom prst="rect">
            <a:avLst/>
          </a:prstGeom>
          <a:solidFill>
            <a:schemeClr val="accent6">
              <a:lumMod val="40000"/>
              <a:lumOff val="60000"/>
              <a:alpha val="50000"/>
            </a:schemeClr>
          </a:solidFill>
          <a:ln>
            <a:solidFill>
              <a:schemeClr val="tx1"/>
            </a:solidFill>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309788D4-4A38-C56B-EE15-C3A3E8E53400}"/>
              </a:ext>
            </a:extLst>
          </p:cNvPr>
          <p:cNvSpPr/>
          <p:nvPr/>
        </p:nvSpPr>
        <p:spPr>
          <a:xfrm>
            <a:off x="5241318" y="1243172"/>
            <a:ext cx="4529406" cy="4869951"/>
          </a:xfrm>
          <a:prstGeom prst="rect">
            <a:avLst/>
          </a:prstGeom>
          <a:solidFill>
            <a:schemeClr val="accent1">
              <a:lumMod val="40000"/>
              <a:lumOff val="60000"/>
              <a:alpha val="50000"/>
            </a:schemeClr>
          </a:solidFill>
          <a:ln>
            <a:solidFill>
              <a:schemeClr val="tx1"/>
            </a:solidFill>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EEFDCB0B-26CF-0DDE-A85E-54A457426BCA}"/>
              </a:ext>
            </a:extLst>
          </p:cNvPr>
          <p:cNvSpPr/>
          <p:nvPr/>
        </p:nvSpPr>
        <p:spPr>
          <a:xfrm>
            <a:off x="521092" y="2938083"/>
            <a:ext cx="4032928" cy="2565940"/>
          </a:xfrm>
          <a:prstGeom prst="rect">
            <a:avLst/>
          </a:prstGeom>
          <a:solidFill>
            <a:schemeClr val="accent2">
              <a:alpha val="50000"/>
            </a:schemeClr>
          </a:solidFill>
          <a:ln>
            <a:solidFill>
              <a:schemeClr val="tx1"/>
            </a:solidFill>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C36CFCF9-14C1-A57D-2E5A-BA47B48201E5}"/>
              </a:ext>
            </a:extLst>
          </p:cNvPr>
          <p:cNvSpPr txBox="1"/>
          <p:nvPr/>
        </p:nvSpPr>
        <p:spPr>
          <a:xfrm rot="16200000">
            <a:off x="9482072" y="3031601"/>
            <a:ext cx="4969166" cy="230832"/>
          </a:xfrm>
          <a:prstGeom prst="rect">
            <a:avLst/>
          </a:prstGeom>
          <a:noFill/>
        </p:spPr>
        <p:txBody>
          <a:bodyPr wrap="square" rtlCol="0">
            <a:spAutoFit/>
          </a:bodyPr>
          <a:lstStyle/>
          <a:p>
            <a:pPr algn="r"/>
            <a:r>
              <a:rPr lang="en-IN" sz="900" dirty="0"/>
              <a:t>*The technology to be used to represent the reports in the presentation layer are yet to be decided.</a:t>
            </a:r>
          </a:p>
        </p:txBody>
      </p:sp>
      <p:sp>
        <p:nvSpPr>
          <p:cNvPr id="26" name="TextBox 25">
            <a:extLst>
              <a:ext uri="{FF2B5EF4-FFF2-40B4-BE49-F238E27FC236}">
                <a16:creationId xmlns:a16="http://schemas.microsoft.com/office/drawing/2014/main" id="{8DAF7CEA-8E2E-FD2F-F27D-2AC32A226954}"/>
              </a:ext>
            </a:extLst>
          </p:cNvPr>
          <p:cNvSpPr txBox="1"/>
          <p:nvPr/>
        </p:nvSpPr>
        <p:spPr>
          <a:xfrm>
            <a:off x="526536" y="5249054"/>
            <a:ext cx="3929653" cy="261610"/>
          </a:xfrm>
          <a:prstGeom prst="rect">
            <a:avLst/>
          </a:prstGeom>
          <a:noFill/>
        </p:spPr>
        <p:txBody>
          <a:bodyPr wrap="square" rtlCol="0" anchor="ctr">
            <a:spAutoFit/>
          </a:bodyPr>
          <a:lstStyle/>
          <a:p>
            <a:r>
              <a:rPr lang="en-IN" sz="1100" b="1" dirty="0"/>
              <a:t>Data Preprocessing Pipeline</a:t>
            </a:r>
          </a:p>
        </p:txBody>
      </p:sp>
      <p:sp>
        <p:nvSpPr>
          <p:cNvPr id="27" name="TextBox 26">
            <a:extLst>
              <a:ext uri="{FF2B5EF4-FFF2-40B4-BE49-F238E27FC236}">
                <a16:creationId xmlns:a16="http://schemas.microsoft.com/office/drawing/2014/main" id="{5FDDE131-404E-402D-3F62-76BB448257B3}"/>
              </a:ext>
            </a:extLst>
          </p:cNvPr>
          <p:cNvSpPr txBox="1"/>
          <p:nvPr/>
        </p:nvSpPr>
        <p:spPr>
          <a:xfrm>
            <a:off x="5241318" y="5852991"/>
            <a:ext cx="4361381" cy="261610"/>
          </a:xfrm>
          <a:prstGeom prst="rect">
            <a:avLst/>
          </a:prstGeom>
          <a:noFill/>
        </p:spPr>
        <p:txBody>
          <a:bodyPr wrap="square" rtlCol="0" anchor="ctr">
            <a:spAutoFit/>
          </a:bodyPr>
          <a:lstStyle/>
          <a:p>
            <a:r>
              <a:rPr lang="en-IN" sz="1100" b="1" dirty="0"/>
              <a:t>Modelling Pipeline</a:t>
            </a:r>
          </a:p>
        </p:txBody>
      </p:sp>
      <p:sp>
        <p:nvSpPr>
          <p:cNvPr id="28" name="TextBox 27">
            <a:extLst>
              <a:ext uri="{FF2B5EF4-FFF2-40B4-BE49-F238E27FC236}">
                <a16:creationId xmlns:a16="http://schemas.microsoft.com/office/drawing/2014/main" id="{3C17F72E-06DB-1FC5-21EC-9392F2DFB993}"/>
              </a:ext>
            </a:extLst>
          </p:cNvPr>
          <p:cNvSpPr txBox="1"/>
          <p:nvPr/>
        </p:nvSpPr>
        <p:spPr>
          <a:xfrm>
            <a:off x="10191963" y="5698355"/>
            <a:ext cx="1602769" cy="261610"/>
          </a:xfrm>
          <a:prstGeom prst="rect">
            <a:avLst/>
          </a:prstGeom>
          <a:noFill/>
        </p:spPr>
        <p:txBody>
          <a:bodyPr wrap="square" rtlCol="0" anchor="ctr">
            <a:spAutoFit/>
          </a:bodyPr>
          <a:lstStyle/>
          <a:p>
            <a:r>
              <a:rPr lang="en-IN" sz="1100" b="1" dirty="0"/>
              <a:t>Presentation Layer*</a:t>
            </a:r>
          </a:p>
        </p:txBody>
      </p:sp>
      <p:pic>
        <p:nvPicPr>
          <p:cNvPr id="30" name="Graphic 29" descr="Server">
            <a:extLst>
              <a:ext uri="{FF2B5EF4-FFF2-40B4-BE49-F238E27FC236}">
                <a16:creationId xmlns:a16="http://schemas.microsoft.com/office/drawing/2014/main" id="{8C13F157-193C-6E51-C7B9-EEBB71A4EE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53096" y="1434405"/>
            <a:ext cx="914400" cy="914400"/>
          </a:xfrm>
          <a:prstGeom prst="rect">
            <a:avLst/>
          </a:prstGeom>
          <a:effectLst>
            <a:outerShdw blurRad="63500" sx="102000" sy="102000" algn="ctr" rotWithShape="0">
              <a:prstClr val="black">
                <a:alpha val="40000"/>
              </a:prstClr>
            </a:outerShdw>
          </a:effectLst>
        </p:spPr>
      </p:pic>
      <p:sp>
        <p:nvSpPr>
          <p:cNvPr id="31" name="TextBox 30">
            <a:extLst>
              <a:ext uri="{FF2B5EF4-FFF2-40B4-BE49-F238E27FC236}">
                <a16:creationId xmlns:a16="http://schemas.microsoft.com/office/drawing/2014/main" id="{0BF8874E-5C92-354E-43B1-FB6FE0F62543}"/>
              </a:ext>
            </a:extLst>
          </p:cNvPr>
          <p:cNvSpPr txBox="1"/>
          <p:nvPr/>
        </p:nvSpPr>
        <p:spPr>
          <a:xfrm>
            <a:off x="1508911" y="2254529"/>
            <a:ext cx="1602769" cy="261610"/>
          </a:xfrm>
          <a:prstGeom prst="rect">
            <a:avLst/>
          </a:prstGeom>
          <a:noFill/>
        </p:spPr>
        <p:txBody>
          <a:bodyPr wrap="square" rtlCol="0" anchor="ctr">
            <a:spAutoFit/>
          </a:bodyPr>
          <a:lstStyle/>
          <a:p>
            <a:pPr algn="ctr"/>
            <a:r>
              <a:rPr lang="en-IN" sz="1100" b="1" dirty="0"/>
              <a:t>Data Source</a:t>
            </a:r>
          </a:p>
        </p:txBody>
      </p:sp>
      <p:cxnSp>
        <p:nvCxnSpPr>
          <p:cNvPr id="33" name="Connector: Elbow 32">
            <a:extLst>
              <a:ext uri="{FF2B5EF4-FFF2-40B4-BE49-F238E27FC236}">
                <a16:creationId xmlns:a16="http://schemas.microsoft.com/office/drawing/2014/main" id="{FD6A39CC-58F3-E4F9-FDFD-801E0FDFEAC1}"/>
              </a:ext>
            </a:extLst>
          </p:cNvPr>
          <p:cNvCxnSpPr>
            <a:cxnSpLocks/>
            <a:stCxn id="31" idx="2"/>
            <a:endCxn id="24" idx="0"/>
          </p:cNvCxnSpPr>
          <p:nvPr/>
        </p:nvCxnSpPr>
        <p:spPr>
          <a:xfrm rot="5400000">
            <a:off x="1507688" y="2391179"/>
            <a:ext cx="677648" cy="927568"/>
          </a:xfrm>
          <a:prstGeom prst="bentConnector3">
            <a:avLst>
              <a:gd name="adj1" fmla="val 50000"/>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91872781-767C-DC37-996D-DB1B8EB7BF72}"/>
              </a:ext>
            </a:extLst>
          </p:cNvPr>
          <p:cNvCxnSpPr>
            <a:cxnSpLocks/>
            <a:stCxn id="23" idx="0"/>
          </p:cNvCxnSpPr>
          <p:nvPr/>
        </p:nvCxnSpPr>
        <p:spPr>
          <a:xfrm rot="5400000" flipH="1" flipV="1">
            <a:off x="6002054" y="-1528750"/>
            <a:ext cx="2119326" cy="7338852"/>
          </a:xfrm>
          <a:prstGeom prst="bentConnector2">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4841BA96-8502-22EE-A052-DAD5A50FCE1C}"/>
              </a:ext>
            </a:extLst>
          </p:cNvPr>
          <p:cNvCxnSpPr>
            <a:cxnSpLocks/>
            <a:stCxn id="23" idx="3"/>
            <a:endCxn id="17" idx="1"/>
          </p:cNvCxnSpPr>
          <p:nvPr/>
        </p:nvCxnSpPr>
        <p:spPr>
          <a:xfrm flipV="1">
            <a:off x="4363305" y="1740764"/>
            <a:ext cx="1143643" cy="1728178"/>
          </a:xfrm>
          <a:prstGeom prst="bentConnector3">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1D1C5C9F-48C2-3C34-9DBB-B53FBA937B3E}"/>
              </a:ext>
            </a:extLst>
          </p:cNvPr>
          <p:cNvCxnSpPr>
            <a:cxnSpLocks/>
            <a:stCxn id="23" idx="3"/>
            <a:endCxn id="19" idx="1"/>
          </p:cNvCxnSpPr>
          <p:nvPr/>
        </p:nvCxnSpPr>
        <p:spPr>
          <a:xfrm flipV="1">
            <a:off x="4363305" y="2482386"/>
            <a:ext cx="1143643" cy="986556"/>
          </a:xfrm>
          <a:prstGeom prst="bentConnector3">
            <a:avLst>
              <a:gd name="adj1" fmla="val 50000"/>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E04AFA67-BB6E-4B4B-ACF8-93477040A433}"/>
              </a:ext>
            </a:extLst>
          </p:cNvPr>
          <p:cNvCxnSpPr>
            <a:cxnSpLocks/>
            <a:stCxn id="23" idx="3"/>
            <a:endCxn id="9" idx="1"/>
          </p:cNvCxnSpPr>
          <p:nvPr/>
        </p:nvCxnSpPr>
        <p:spPr>
          <a:xfrm>
            <a:off x="4363305" y="3468942"/>
            <a:ext cx="1143643" cy="2956"/>
          </a:xfrm>
          <a:prstGeom prst="bentConnector3">
            <a:avLst>
              <a:gd name="adj1" fmla="val 50000"/>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0F754282-A0B0-C93D-040E-7A171683EC96}"/>
              </a:ext>
            </a:extLst>
          </p:cNvPr>
          <p:cNvCxnSpPr>
            <a:cxnSpLocks/>
            <a:stCxn id="23" idx="3"/>
            <a:endCxn id="12" idx="1"/>
          </p:cNvCxnSpPr>
          <p:nvPr/>
        </p:nvCxnSpPr>
        <p:spPr>
          <a:xfrm>
            <a:off x="4363305" y="3468942"/>
            <a:ext cx="1143645" cy="1298136"/>
          </a:xfrm>
          <a:prstGeom prst="bentConnector3">
            <a:avLst>
              <a:gd name="adj1" fmla="val 50000"/>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E337CEC3-59CE-3693-1458-20C34CB2E02B}"/>
              </a:ext>
            </a:extLst>
          </p:cNvPr>
          <p:cNvCxnSpPr>
            <a:cxnSpLocks/>
            <a:stCxn id="9" idx="3"/>
            <a:endCxn id="10" idx="1"/>
          </p:cNvCxnSpPr>
          <p:nvPr/>
        </p:nvCxnSpPr>
        <p:spPr>
          <a:xfrm flipV="1">
            <a:off x="7185918" y="3469748"/>
            <a:ext cx="663538" cy="2150"/>
          </a:xfrm>
          <a:prstGeom prst="straightConnector1">
            <a:avLst/>
          </a:prstGeom>
          <a:ln w="38100">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48FDF00-444D-ECEB-10F7-8A9CA62DF878}"/>
              </a:ext>
            </a:extLst>
          </p:cNvPr>
          <p:cNvCxnSpPr>
            <a:cxnSpLocks/>
            <a:stCxn id="12" idx="3"/>
            <a:endCxn id="13" idx="1"/>
          </p:cNvCxnSpPr>
          <p:nvPr/>
        </p:nvCxnSpPr>
        <p:spPr>
          <a:xfrm>
            <a:off x="7185918" y="4767078"/>
            <a:ext cx="663537" cy="0"/>
          </a:xfrm>
          <a:prstGeom prst="straightConnector1">
            <a:avLst/>
          </a:prstGeom>
          <a:ln w="38100">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403A8EA0-198E-1D97-EE8E-38DF4B413D0E}"/>
              </a:ext>
            </a:extLst>
          </p:cNvPr>
          <p:cNvCxnSpPr>
            <a:cxnSpLocks/>
            <a:stCxn id="17" idx="3"/>
            <a:endCxn id="11" idx="0"/>
          </p:cNvCxnSpPr>
          <p:nvPr/>
        </p:nvCxnSpPr>
        <p:spPr>
          <a:xfrm>
            <a:off x="9528426" y="1740764"/>
            <a:ext cx="942865" cy="2624290"/>
          </a:xfrm>
          <a:prstGeom prst="bentConnector3">
            <a:avLst>
              <a:gd name="adj1" fmla="val 50000"/>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B32704F1-1AD1-9501-49C5-A7EB0261C250}"/>
              </a:ext>
            </a:extLst>
          </p:cNvPr>
          <p:cNvCxnSpPr>
            <a:cxnSpLocks/>
            <a:stCxn id="19" idx="3"/>
            <a:endCxn id="11" idx="0"/>
          </p:cNvCxnSpPr>
          <p:nvPr/>
        </p:nvCxnSpPr>
        <p:spPr>
          <a:xfrm>
            <a:off x="9528426" y="2482386"/>
            <a:ext cx="942865" cy="1882668"/>
          </a:xfrm>
          <a:prstGeom prst="bentConnector3">
            <a:avLst>
              <a:gd name="adj1" fmla="val 50000"/>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214D71BC-A22D-D613-A36B-AC2DF18A9190}"/>
              </a:ext>
            </a:extLst>
          </p:cNvPr>
          <p:cNvCxnSpPr>
            <a:cxnSpLocks/>
            <a:stCxn id="10" idx="3"/>
            <a:endCxn id="11" idx="0"/>
          </p:cNvCxnSpPr>
          <p:nvPr/>
        </p:nvCxnSpPr>
        <p:spPr>
          <a:xfrm>
            <a:off x="9528426" y="3469748"/>
            <a:ext cx="942865" cy="895306"/>
          </a:xfrm>
          <a:prstGeom prst="bentConnector3">
            <a:avLst>
              <a:gd name="adj1" fmla="val 50000"/>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2C257151-B18E-5D9C-DE92-7941EA20880F}"/>
              </a:ext>
            </a:extLst>
          </p:cNvPr>
          <p:cNvCxnSpPr>
            <a:cxnSpLocks/>
            <a:stCxn id="13" idx="3"/>
            <a:endCxn id="11" idx="0"/>
          </p:cNvCxnSpPr>
          <p:nvPr/>
        </p:nvCxnSpPr>
        <p:spPr>
          <a:xfrm flipV="1">
            <a:off x="9528426" y="4365054"/>
            <a:ext cx="942865" cy="402024"/>
          </a:xfrm>
          <a:prstGeom prst="bentConnector3">
            <a:avLst>
              <a:gd name="adj1" fmla="val 50000"/>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0AA81E9D-7F5F-5D00-E8F7-C55A62339655}"/>
              </a:ext>
            </a:extLst>
          </p:cNvPr>
          <p:cNvSpPr/>
          <p:nvPr/>
        </p:nvSpPr>
        <p:spPr>
          <a:xfrm>
            <a:off x="2421277" y="3200339"/>
            <a:ext cx="1942028" cy="537206"/>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en-IN" sz="1600" b="1" dirty="0"/>
              <a:t>Feature Scaling</a:t>
            </a:r>
          </a:p>
        </p:txBody>
      </p:sp>
      <p:sp>
        <p:nvSpPr>
          <p:cNvPr id="24" name="Rectangle: Rounded Corners 23">
            <a:extLst>
              <a:ext uri="{FF2B5EF4-FFF2-40B4-BE49-F238E27FC236}">
                <a16:creationId xmlns:a16="http://schemas.microsoft.com/office/drawing/2014/main" id="{2D97422D-155C-47F8-1259-EDF514696E89}"/>
              </a:ext>
            </a:extLst>
          </p:cNvPr>
          <p:cNvSpPr/>
          <p:nvPr/>
        </p:nvSpPr>
        <p:spPr>
          <a:xfrm>
            <a:off x="780944" y="3193787"/>
            <a:ext cx="1203568" cy="537206"/>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en-IN" sz="1600" b="1" dirty="0"/>
              <a:t>Wrangling</a:t>
            </a:r>
          </a:p>
        </p:txBody>
      </p:sp>
      <p:sp>
        <p:nvSpPr>
          <p:cNvPr id="9" name="Rectangle: Rounded Corners 8">
            <a:extLst>
              <a:ext uri="{FF2B5EF4-FFF2-40B4-BE49-F238E27FC236}">
                <a16:creationId xmlns:a16="http://schemas.microsoft.com/office/drawing/2014/main" id="{B7FD18B8-1273-A2BC-7123-875F44F7A7B8}"/>
              </a:ext>
            </a:extLst>
          </p:cNvPr>
          <p:cNvSpPr/>
          <p:nvPr/>
        </p:nvSpPr>
        <p:spPr>
          <a:xfrm>
            <a:off x="5506948" y="2896094"/>
            <a:ext cx="1678970" cy="1151608"/>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VAE Model Training</a:t>
            </a:r>
          </a:p>
        </p:txBody>
      </p:sp>
      <p:sp>
        <p:nvSpPr>
          <p:cNvPr id="10" name="Rectangle: Rounded Corners 9">
            <a:extLst>
              <a:ext uri="{FF2B5EF4-FFF2-40B4-BE49-F238E27FC236}">
                <a16:creationId xmlns:a16="http://schemas.microsoft.com/office/drawing/2014/main" id="{244051C9-615A-042C-0E1E-EFAC4B89FDBC}"/>
              </a:ext>
            </a:extLst>
          </p:cNvPr>
          <p:cNvSpPr/>
          <p:nvPr/>
        </p:nvSpPr>
        <p:spPr>
          <a:xfrm>
            <a:off x="7849456" y="2891794"/>
            <a:ext cx="1678970" cy="115590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Anomaly Score</a:t>
            </a:r>
          </a:p>
          <a:p>
            <a:pPr algn="ctr"/>
            <a:r>
              <a:rPr lang="en-IN" sz="1600" b="1" dirty="0"/>
              <a:t>Function</a:t>
            </a:r>
          </a:p>
        </p:txBody>
      </p:sp>
      <p:sp>
        <p:nvSpPr>
          <p:cNvPr id="11" name="Rectangle: Rounded Corners 10">
            <a:extLst>
              <a:ext uri="{FF2B5EF4-FFF2-40B4-BE49-F238E27FC236}">
                <a16:creationId xmlns:a16="http://schemas.microsoft.com/office/drawing/2014/main" id="{58871523-B504-B3DA-FEA6-C68EA6748A50}"/>
              </a:ext>
            </a:extLst>
          </p:cNvPr>
          <p:cNvSpPr/>
          <p:nvPr/>
        </p:nvSpPr>
        <p:spPr>
          <a:xfrm rot="16200000">
            <a:off x="9633913" y="4063463"/>
            <a:ext cx="2277938" cy="603182"/>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1600" b="1" dirty="0"/>
              <a:t>Model Evaluation</a:t>
            </a:r>
          </a:p>
        </p:txBody>
      </p:sp>
      <p:sp>
        <p:nvSpPr>
          <p:cNvPr id="12" name="Rectangle: Rounded Corners 11">
            <a:extLst>
              <a:ext uri="{FF2B5EF4-FFF2-40B4-BE49-F238E27FC236}">
                <a16:creationId xmlns:a16="http://schemas.microsoft.com/office/drawing/2014/main" id="{A955C601-D200-CAE0-67EF-DF0CCB30F656}"/>
              </a:ext>
            </a:extLst>
          </p:cNvPr>
          <p:cNvSpPr/>
          <p:nvPr/>
        </p:nvSpPr>
        <p:spPr>
          <a:xfrm>
            <a:off x="5506950" y="4130080"/>
            <a:ext cx="1678968" cy="1273995"/>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GAN Model</a:t>
            </a:r>
            <a:br>
              <a:rPr lang="en-IN" sz="1600" b="1" dirty="0"/>
            </a:br>
            <a:r>
              <a:rPr lang="en-IN" sz="1600" b="1" dirty="0"/>
              <a:t>Training</a:t>
            </a:r>
          </a:p>
        </p:txBody>
      </p:sp>
      <p:sp>
        <p:nvSpPr>
          <p:cNvPr id="13" name="Rectangle: Rounded Corners 12">
            <a:extLst>
              <a:ext uri="{FF2B5EF4-FFF2-40B4-BE49-F238E27FC236}">
                <a16:creationId xmlns:a16="http://schemas.microsoft.com/office/drawing/2014/main" id="{CA77C1CA-6CEE-A146-1EBB-892901291669}"/>
              </a:ext>
            </a:extLst>
          </p:cNvPr>
          <p:cNvSpPr/>
          <p:nvPr/>
        </p:nvSpPr>
        <p:spPr>
          <a:xfrm>
            <a:off x="7849455" y="4130080"/>
            <a:ext cx="1678971" cy="1273995"/>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Synthetic</a:t>
            </a:r>
            <a:br>
              <a:rPr lang="en-IN" sz="1600" b="1" dirty="0"/>
            </a:br>
            <a:r>
              <a:rPr lang="en-IN" sz="1600" b="1" dirty="0"/>
              <a:t>Data</a:t>
            </a:r>
            <a:br>
              <a:rPr lang="en-IN" sz="1600" b="1" dirty="0"/>
            </a:br>
            <a:r>
              <a:rPr lang="en-IN" sz="1600" b="1" dirty="0"/>
              <a:t>Generation</a:t>
            </a:r>
          </a:p>
        </p:txBody>
      </p:sp>
      <p:sp>
        <p:nvSpPr>
          <p:cNvPr id="16" name="Rectangle: Rounded Corners 15">
            <a:extLst>
              <a:ext uri="{FF2B5EF4-FFF2-40B4-BE49-F238E27FC236}">
                <a16:creationId xmlns:a16="http://schemas.microsoft.com/office/drawing/2014/main" id="{AD717A68-0F02-972E-E0A8-405610FF9B53}"/>
              </a:ext>
            </a:extLst>
          </p:cNvPr>
          <p:cNvSpPr/>
          <p:nvPr/>
        </p:nvSpPr>
        <p:spPr>
          <a:xfrm rot="16200000">
            <a:off x="9633913" y="1706457"/>
            <a:ext cx="2277938" cy="603182"/>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1600" b="1" dirty="0"/>
              <a:t>Statistical Reports</a:t>
            </a:r>
          </a:p>
        </p:txBody>
      </p:sp>
      <p:sp>
        <p:nvSpPr>
          <p:cNvPr id="17" name="Rectangle: Rounded Corners 16">
            <a:extLst>
              <a:ext uri="{FF2B5EF4-FFF2-40B4-BE49-F238E27FC236}">
                <a16:creationId xmlns:a16="http://schemas.microsoft.com/office/drawing/2014/main" id="{37075859-F1A2-0FF1-256E-D981CAFA494B}"/>
              </a:ext>
            </a:extLst>
          </p:cNvPr>
          <p:cNvSpPr/>
          <p:nvPr/>
        </p:nvSpPr>
        <p:spPr>
          <a:xfrm>
            <a:off x="5506948" y="1412850"/>
            <a:ext cx="4021478" cy="655828"/>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Supervised Model Training</a:t>
            </a:r>
          </a:p>
        </p:txBody>
      </p:sp>
      <p:sp>
        <p:nvSpPr>
          <p:cNvPr id="19" name="Rectangle: Rounded Corners 18">
            <a:extLst>
              <a:ext uri="{FF2B5EF4-FFF2-40B4-BE49-F238E27FC236}">
                <a16:creationId xmlns:a16="http://schemas.microsoft.com/office/drawing/2014/main" id="{FF6F785A-5133-AF67-3109-5C8036F51B50}"/>
              </a:ext>
            </a:extLst>
          </p:cNvPr>
          <p:cNvSpPr/>
          <p:nvPr/>
        </p:nvSpPr>
        <p:spPr>
          <a:xfrm>
            <a:off x="5506948" y="2154472"/>
            <a:ext cx="4021478" cy="655828"/>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Unsupervised Model Training</a:t>
            </a:r>
          </a:p>
        </p:txBody>
      </p:sp>
      <p:pic>
        <p:nvPicPr>
          <p:cNvPr id="143" name="Graphic 142">
            <a:extLst>
              <a:ext uri="{FF2B5EF4-FFF2-40B4-BE49-F238E27FC236}">
                <a16:creationId xmlns:a16="http://schemas.microsoft.com/office/drawing/2014/main" id="{3052572F-07E6-3D11-204A-66BA8201525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32958" y="5032128"/>
            <a:ext cx="997156" cy="463131"/>
          </a:xfrm>
          <a:prstGeom prst="rect">
            <a:avLst/>
          </a:prstGeom>
        </p:spPr>
      </p:pic>
      <p:pic>
        <p:nvPicPr>
          <p:cNvPr id="145" name="Graphic 144">
            <a:extLst>
              <a:ext uri="{FF2B5EF4-FFF2-40B4-BE49-F238E27FC236}">
                <a16:creationId xmlns:a16="http://schemas.microsoft.com/office/drawing/2014/main" id="{79F907B3-EE40-94D8-9F1F-13012637ED5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59706" y="5032128"/>
            <a:ext cx="997156" cy="463131"/>
          </a:xfrm>
          <a:prstGeom prst="rect">
            <a:avLst/>
          </a:prstGeom>
        </p:spPr>
      </p:pic>
      <p:pic>
        <p:nvPicPr>
          <p:cNvPr id="147" name="Graphic 146">
            <a:extLst>
              <a:ext uri="{FF2B5EF4-FFF2-40B4-BE49-F238E27FC236}">
                <a16:creationId xmlns:a16="http://schemas.microsoft.com/office/drawing/2014/main" id="{DDE798E2-AA81-96F4-E837-F7536995D75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26835" y="5846094"/>
            <a:ext cx="997157" cy="259095"/>
          </a:xfrm>
          <a:prstGeom prst="rect">
            <a:avLst/>
          </a:prstGeom>
        </p:spPr>
      </p:pic>
      <p:pic>
        <p:nvPicPr>
          <p:cNvPr id="162" name="Graphic 161">
            <a:extLst>
              <a:ext uri="{FF2B5EF4-FFF2-40B4-BE49-F238E27FC236}">
                <a16:creationId xmlns:a16="http://schemas.microsoft.com/office/drawing/2014/main" id="{E98CF660-461C-2020-E550-D4A27E22D50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82947" y="5711254"/>
            <a:ext cx="997156" cy="463131"/>
          </a:xfrm>
          <a:prstGeom prst="rect">
            <a:avLst/>
          </a:prstGeom>
        </p:spPr>
      </p:pic>
      <p:cxnSp>
        <p:nvCxnSpPr>
          <p:cNvPr id="164" name="Connector: Elbow 163">
            <a:extLst>
              <a:ext uri="{FF2B5EF4-FFF2-40B4-BE49-F238E27FC236}">
                <a16:creationId xmlns:a16="http://schemas.microsoft.com/office/drawing/2014/main" id="{CA3E183E-8CE4-30FB-4CC7-B474647545F3}"/>
              </a:ext>
            </a:extLst>
          </p:cNvPr>
          <p:cNvCxnSpPr>
            <a:cxnSpLocks/>
            <a:stCxn id="13" idx="2"/>
            <a:endCxn id="24" idx="1"/>
          </p:cNvCxnSpPr>
          <p:nvPr/>
        </p:nvCxnSpPr>
        <p:spPr>
          <a:xfrm rot="5400000" flipH="1">
            <a:off x="3764100" y="479235"/>
            <a:ext cx="1941685" cy="7907997"/>
          </a:xfrm>
          <a:prstGeom prst="bentConnector4">
            <a:avLst>
              <a:gd name="adj1" fmla="val -11773"/>
              <a:gd name="adj2" fmla="val 105619"/>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838A7637-883B-AF56-BB06-FEE5BE48B490}"/>
              </a:ext>
            </a:extLst>
          </p:cNvPr>
          <p:cNvSpPr/>
          <p:nvPr/>
        </p:nvSpPr>
        <p:spPr>
          <a:xfrm>
            <a:off x="2421277" y="3784063"/>
            <a:ext cx="1942028" cy="537206"/>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en-IN" sz="1600" b="1" dirty="0"/>
              <a:t>Feature Engineering</a:t>
            </a:r>
          </a:p>
        </p:txBody>
      </p:sp>
      <p:sp>
        <p:nvSpPr>
          <p:cNvPr id="55" name="Rectangle: Rounded Corners 54">
            <a:extLst>
              <a:ext uri="{FF2B5EF4-FFF2-40B4-BE49-F238E27FC236}">
                <a16:creationId xmlns:a16="http://schemas.microsoft.com/office/drawing/2014/main" id="{BC369BDA-BF7C-F678-3D42-4D7B17F40CA3}"/>
              </a:ext>
            </a:extLst>
          </p:cNvPr>
          <p:cNvSpPr/>
          <p:nvPr/>
        </p:nvSpPr>
        <p:spPr>
          <a:xfrm>
            <a:off x="2421277" y="4367787"/>
            <a:ext cx="1942028" cy="537206"/>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en-IN" sz="1600" b="1" dirty="0"/>
              <a:t>Data Preprocessing</a:t>
            </a:r>
          </a:p>
        </p:txBody>
      </p:sp>
      <p:sp>
        <p:nvSpPr>
          <p:cNvPr id="56" name="Rectangle: Rounded Corners 55">
            <a:extLst>
              <a:ext uri="{FF2B5EF4-FFF2-40B4-BE49-F238E27FC236}">
                <a16:creationId xmlns:a16="http://schemas.microsoft.com/office/drawing/2014/main" id="{C569CA34-67B4-766A-9E49-D8CB03D80C2B}"/>
              </a:ext>
            </a:extLst>
          </p:cNvPr>
          <p:cNvSpPr/>
          <p:nvPr/>
        </p:nvSpPr>
        <p:spPr>
          <a:xfrm>
            <a:off x="2263840" y="3090427"/>
            <a:ext cx="2192349" cy="1941701"/>
          </a:xfrm>
          <a:prstGeom prst="round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2" name="Connector: Elbow 61">
            <a:extLst>
              <a:ext uri="{FF2B5EF4-FFF2-40B4-BE49-F238E27FC236}">
                <a16:creationId xmlns:a16="http://schemas.microsoft.com/office/drawing/2014/main" id="{37B4A8A9-AB68-7420-8206-1B6801074A74}"/>
              </a:ext>
            </a:extLst>
          </p:cNvPr>
          <p:cNvCxnSpPr>
            <a:cxnSpLocks/>
            <a:stCxn id="24" idx="2"/>
            <a:endCxn id="56" idx="1"/>
          </p:cNvCxnSpPr>
          <p:nvPr/>
        </p:nvCxnSpPr>
        <p:spPr>
          <a:xfrm rot="16200000" flipH="1">
            <a:off x="1658142" y="3455579"/>
            <a:ext cx="330285" cy="881112"/>
          </a:xfrm>
          <a:prstGeom prst="bentConnector2">
            <a:avLst/>
          </a:prstGeom>
          <a:ln w="38100">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7948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AB32F-5A06-310C-23A2-30AD54CE7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3DF4C5-0BD7-68FA-85D3-8B540715D027}"/>
              </a:ext>
            </a:extLst>
          </p:cNvPr>
          <p:cNvSpPr>
            <a:spLocks noGrp="1"/>
          </p:cNvSpPr>
          <p:nvPr>
            <p:ph type="title"/>
          </p:nvPr>
        </p:nvSpPr>
        <p:spPr/>
        <p:txBody>
          <a:bodyPr/>
          <a:lstStyle/>
          <a:p>
            <a:r>
              <a:rPr lang="en-IN" dirty="0"/>
              <a:t>Future Work</a:t>
            </a:r>
          </a:p>
        </p:txBody>
      </p:sp>
      <p:sp>
        <p:nvSpPr>
          <p:cNvPr id="4" name="Footer Placeholder 3">
            <a:extLst>
              <a:ext uri="{FF2B5EF4-FFF2-40B4-BE49-F238E27FC236}">
                <a16:creationId xmlns:a16="http://schemas.microsoft.com/office/drawing/2014/main" id="{A1147F62-C402-2BFD-71AD-AFFC82B4695B}"/>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7EBB7FB6-8E0B-C363-1776-D45F95C9B142}"/>
              </a:ext>
            </a:extLst>
          </p:cNvPr>
          <p:cNvSpPr>
            <a:spLocks noGrp="1"/>
          </p:cNvSpPr>
          <p:nvPr>
            <p:ph type="sldNum" sz="quarter" idx="12"/>
          </p:nvPr>
        </p:nvSpPr>
        <p:spPr/>
        <p:txBody>
          <a:bodyPr/>
          <a:lstStyle/>
          <a:p>
            <a:fld id="{0541023B-0DCA-4467-9EB4-7DB5EBA0C709}" type="slidenum">
              <a:rPr lang="en-IN" smtClean="0"/>
              <a:t>36</a:t>
            </a:fld>
            <a:endParaRPr lang="en-IN"/>
          </a:p>
        </p:txBody>
      </p:sp>
    </p:spTree>
    <p:extLst>
      <p:ext uri="{BB962C8B-B14F-4D97-AF65-F5344CB8AC3E}">
        <p14:creationId xmlns:p14="http://schemas.microsoft.com/office/powerpoint/2010/main" val="152206883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2EF7F-8FEF-E4ED-911B-0EA788E09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0553B-AC69-256D-FB42-AC39F13C2B02}"/>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Planner</a:t>
            </a:r>
          </a:p>
        </p:txBody>
      </p:sp>
      <p:sp>
        <p:nvSpPr>
          <p:cNvPr id="4" name="Footer Placeholder 3">
            <a:extLst>
              <a:ext uri="{FF2B5EF4-FFF2-40B4-BE49-F238E27FC236}">
                <a16:creationId xmlns:a16="http://schemas.microsoft.com/office/drawing/2014/main" id="{23B461C2-0A3B-E1D4-8192-47ED28D039B9}"/>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2C6671EE-FE65-6B16-7C60-85B6F619DDB0}"/>
              </a:ext>
            </a:extLst>
          </p:cNvPr>
          <p:cNvSpPr>
            <a:spLocks noGrp="1"/>
          </p:cNvSpPr>
          <p:nvPr>
            <p:ph type="sldNum" sz="quarter" idx="12"/>
          </p:nvPr>
        </p:nvSpPr>
        <p:spPr/>
        <p:txBody>
          <a:bodyPr/>
          <a:lstStyle/>
          <a:p>
            <a:fld id="{0541023B-0DCA-4467-9EB4-7DB5EBA0C709}" type="slidenum">
              <a:rPr lang="en-IN" smtClean="0"/>
              <a:t>37</a:t>
            </a:fld>
            <a:endParaRPr lang="en-IN"/>
          </a:p>
        </p:txBody>
      </p:sp>
      <p:sp>
        <p:nvSpPr>
          <p:cNvPr id="10" name="TextBox 9">
            <a:extLst>
              <a:ext uri="{FF2B5EF4-FFF2-40B4-BE49-F238E27FC236}">
                <a16:creationId xmlns:a16="http://schemas.microsoft.com/office/drawing/2014/main" id="{558BC72B-F71C-77D8-44E5-B64BC42A4AB1}"/>
              </a:ext>
            </a:extLst>
          </p:cNvPr>
          <p:cNvSpPr txBox="1"/>
          <p:nvPr/>
        </p:nvSpPr>
        <p:spPr>
          <a:xfrm>
            <a:off x="7777691" y="5719009"/>
            <a:ext cx="3574521" cy="369332"/>
          </a:xfrm>
          <a:prstGeom prst="rect">
            <a:avLst/>
          </a:prstGeom>
          <a:noFill/>
        </p:spPr>
        <p:txBody>
          <a:bodyPr wrap="square" rtlCol="0">
            <a:spAutoFit/>
          </a:bodyPr>
          <a:lstStyle/>
          <a:p>
            <a:pPr algn="r"/>
            <a:r>
              <a:rPr lang="en-IN" sz="900" dirty="0"/>
              <a:t>*The dissertation planner is subject to change depending on the project timeline and new discoveries.</a:t>
            </a:r>
          </a:p>
        </p:txBody>
      </p:sp>
      <p:pic>
        <p:nvPicPr>
          <p:cNvPr id="6" name="Picture 5">
            <a:extLst>
              <a:ext uri="{FF2B5EF4-FFF2-40B4-BE49-F238E27FC236}">
                <a16:creationId xmlns:a16="http://schemas.microsoft.com/office/drawing/2014/main" id="{F1C3AB30-F13C-C836-7123-6FEAE535FC83}"/>
              </a:ext>
            </a:extLst>
          </p:cNvPr>
          <p:cNvPicPr>
            <a:picLocks noChangeAspect="1"/>
          </p:cNvPicPr>
          <p:nvPr/>
        </p:nvPicPr>
        <p:blipFill>
          <a:blip r:embed="rId2"/>
          <a:stretch>
            <a:fillRect/>
          </a:stretch>
        </p:blipFill>
        <p:spPr>
          <a:xfrm>
            <a:off x="2985772" y="241300"/>
            <a:ext cx="4525006" cy="5839640"/>
          </a:xfrm>
          <a:prstGeom prst="rect">
            <a:avLst/>
          </a:prstGeom>
        </p:spPr>
      </p:pic>
    </p:spTree>
    <p:extLst>
      <p:ext uri="{BB962C8B-B14F-4D97-AF65-F5344CB8AC3E}">
        <p14:creationId xmlns:p14="http://schemas.microsoft.com/office/powerpoint/2010/main" val="95429978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C01FD-09F5-E607-5268-BA33650CFA7E}"/>
              </a:ext>
            </a:extLst>
          </p:cNvPr>
          <p:cNvSpPr>
            <a:spLocks noGrp="1"/>
          </p:cNvSpPr>
          <p:nvPr>
            <p:ph type="title"/>
          </p:nvPr>
        </p:nvSpPr>
        <p:spPr/>
        <p:txBody>
          <a:bodyPr anchor="ctr"/>
          <a:lstStyle/>
          <a:p>
            <a:pPr algn="ctr"/>
            <a:r>
              <a:rPr lang="en-IN" dirty="0">
                <a:effectLst>
                  <a:outerShdw blurRad="38100" dist="38100" dir="2700000" algn="tl">
                    <a:srgbClr val="000000">
                      <a:alpha val="43137"/>
                    </a:srgbClr>
                  </a:outerShdw>
                </a:effectLst>
              </a:rPr>
              <a:t>Thank You</a:t>
            </a:r>
          </a:p>
        </p:txBody>
      </p:sp>
      <p:sp>
        <p:nvSpPr>
          <p:cNvPr id="5" name="Footer Placeholder 4">
            <a:extLst>
              <a:ext uri="{FF2B5EF4-FFF2-40B4-BE49-F238E27FC236}">
                <a16:creationId xmlns:a16="http://schemas.microsoft.com/office/drawing/2014/main" id="{56162BA2-A80A-B0D1-7831-FA14CEFD147D}"/>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37E07AFA-1FD9-7853-8FAE-43D46F5AA428}"/>
              </a:ext>
            </a:extLst>
          </p:cNvPr>
          <p:cNvSpPr>
            <a:spLocks noGrp="1"/>
          </p:cNvSpPr>
          <p:nvPr>
            <p:ph type="sldNum" sz="quarter" idx="12"/>
          </p:nvPr>
        </p:nvSpPr>
        <p:spPr/>
        <p:txBody>
          <a:bodyPr/>
          <a:lstStyle/>
          <a:p>
            <a:fld id="{0541023B-0DCA-4467-9EB4-7DB5EBA0C709}" type="slidenum">
              <a:rPr lang="en-IN" smtClean="0"/>
              <a:t>38</a:t>
            </a:fld>
            <a:endParaRPr lang="en-IN"/>
          </a:p>
        </p:txBody>
      </p:sp>
    </p:spTree>
    <p:extLst>
      <p:ext uri="{BB962C8B-B14F-4D97-AF65-F5344CB8AC3E}">
        <p14:creationId xmlns:p14="http://schemas.microsoft.com/office/powerpoint/2010/main" val="76013214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20142-FC9A-8F47-250F-4DD790F4F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1C009-7963-2995-5DD8-F210FA45B098}"/>
              </a:ext>
            </a:extLst>
          </p:cNvPr>
          <p:cNvSpPr>
            <a:spLocks noGrp="1"/>
          </p:cNvSpPr>
          <p:nvPr>
            <p:ph type="title"/>
          </p:nvPr>
        </p:nvSpPr>
        <p:spPr/>
        <p:txBody>
          <a:bodyPr anchor="ctr"/>
          <a:lstStyle/>
          <a:p>
            <a:pPr algn="ctr"/>
            <a:r>
              <a:rPr lang="en-IN" dirty="0">
                <a:effectLst>
                  <a:outerShdw blurRad="38100" dist="38100" dir="2700000" algn="tl">
                    <a:srgbClr val="000000">
                      <a:alpha val="43137"/>
                    </a:srgbClr>
                  </a:outerShdw>
                </a:effectLst>
              </a:rPr>
              <a:t>QA &amp; Demo</a:t>
            </a:r>
          </a:p>
        </p:txBody>
      </p:sp>
      <p:sp>
        <p:nvSpPr>
          <p:cNvPr id="5" name="Footer Placeholder 4">
            <a:extLst>
              <a:ext uri="{FF2B5EF4-FFF2-40B4-BE49-F238E27FC236}">
                <a16:creationId xmlns:a16="http://schemas.microsoft.com/office/drawing/2014/main" id="{9CD623DB-2F0C-8E36-E6C8-56CDF1F7C1B9}"/>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912E9096-4A0A-697E-4209-085B28709140}"/>
              </a:ext>
            </a:extLst>
          </p:cNvPr>
          <p:cNvSpPr>
            <a:spLocks noGrp="1"/>
          </p:cNvSpPr>
          <p:nvPr>
            <p:ph type="sldNum" sz="quarter" idx="12"/>
          </p:nvPr>
        </p:nvSpPr>
        <p:spPr/>
        <p:txBody>
          <a:bodyPr/>
          <a:lstStyle/>
          <a:p>
            <a:fld id="{0541023B-0DCA-4467-9EB4-7DB5EBA0C709}" type="slidenum">
              <a:rPr lang="en-IN" smtClean="0"/>
              <a:t>39</a:t>
            </a:fld>
            <a:endParaRPr lang="en-IN"/>
          </a:p>
        </p:txBody>
      </p:sp>
    </p:spTree>
    <p:extLst>
      <p:ext uri="{BB962C8B-B14F-4D97-AF65-F5344CB8AC3E}">
        <p14:creationId xmlns:p14="http://schemas.microsoft.com/office/powerpoint/2010/main" val="54386359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D23A2BB-B919-8522-1FC7-5C42C752DA62}"/>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BB2E96C5-B723-2DC7-071B-1604818D05CD}"/>
              </a:ext>
            </a:extLst>
          </p:cNvPr>
          <p:cNvSpPr>
            <a:spLocks noGrp="1"/>
          </p:cNvSpPr>
          <p:nvPr>
            <p:ph type="sldNum" sz="quarter" idx="12"/>
          </p:nvPr>
        </p:nvSpPr>
        <p:spPr/>
        <p:txBody>
          <a:bodyPr/>
          <a:lstStyle/>
          <a:p>
            <a:fld id="{0541023B-0DCA-4467-9EB4-7DB5EBA0C709}" type="slidenum">
              <a:rPr lang="en-IN" smtClean="0"/>
              <a:t>40</a:t>
            </a:fld>
            <a:endParaRPr lang="en-IN"/>
          </a:p>
        </p:txBody>
      </p:sp>
      <p:pic>
        <p:nvPicPr>
          <p:cNvPr id="9" name="Picture 8">
            <a:extLst>
              <a:ext uri="{FF2B5EF4-FFF2-40B4-BE49-F238E27FC236}">
                <a16:creationId xmlns:a16="http://schemas.microsoft.com/office/drawing/2014/main" id="{0479D890-3714-004A-363B-C90B030D1BB8}"/>
              </a:ext>
            </a:extLst>
          </p:cNvPr>
          <p:cNvPicPr>
            <a:picLocks noChangeAspect="1"/>
          </p:cNvPicPr>
          <p:nvPr/>
        </p:nvPicPr>
        <p:blipFill>
          <a:blip r:embed="rId2"/>
          <a:stretch>
            <a:fillRect/>
          </a:stretch>
        </p:blipFill>
        <p:spPr>
          <a:xfrm>
            <a:off x="466725" y="233362"/>
            <a:ext cx="8801100" cy="1381125"/>
          </a:xfrm>
          <a:prstGeom prst="rect">
            <a:avLst/>
          </a:prstGeom>
        </p:spPr>
      </p:pic>
      <p:pic>
        <p:nvPicPr>
          <p:cNvPr id="10" name="Picture 9">
            <a:extLst>
              <a:ext uri="{FF2B5EF4-FFF2-40B4-BE49-F238E27FC236}">
                <a16:creationId xmlns:a16="http://schemas.microsoft.com/office/drawing/2014/main" id="{869B0FD1-CC0F-EC3F-43E0-2BBD64178884}"/>
              </a:ext>
            </a:extLst>
          </p:cNvPr>
          <p:cNvPicPr>
            <a:picLocks noChangeAspect="1"/>
          </p:cNvPicPr>
          <p:nvPr/>
        </p:nvPicPr>
        <p:blipFill>
          <a:blip r:embed="rId3"/>
          <a:stretch>
            <a:fillRect/>
          </a:stretch>
        </p:blipFill>
        <p:spPr>
          <a:xfrm>
            <a:off x="466725" y="1614487"/>
            <a:ext cx="8801100" cy="1571625"/>
          </a:xfrm>
          <a:prstGeom prst="rect">
            <a:avLst/>
          </a:prstGeom>
        </p:spPr>
      </p:pic>
      <p:graphicFrame>
        <p:nvGraphicFramePr>
          <p:cNvPr id="12" name="Object 11">
            <a:extLst>
              <a:ext uri="{FF2B5EF4-FFF2-40B4-BE49-F238E27FC236}">
                <a16:creationId xmlns:a16="http://schemas.microsoft.com/office/drawing/2014/main" id="{9F793AF7-5F50-87A9-549D-475695D357FD}"/>
              </a:ext>
            </a:extLst>
          </p:cNvPr>
          <p:cNvGraphicFramePr>
            <a:graphicFrameLocks noChangeAspect="1"/>
          </p:cNvGraphicFramePr>
          <p:nvPr>
            <p:extLst>
              <p:ext uri="{D42A27DB-BD31-4B8C-83A1-F6EECF244321}">
                <p14:modId xmlns:p14="http://schemas.microsoft.com/office/powerpoint/2010/main" val="1883210387"/>
              </p:ext>
            </p:extLst>
          </p:nvPr>
        </p:nvGraphicFramePr>
        <p:xfrm>
          <a:off x="466725" y="3186112"/>
          <a:ext cx="8553450" cy="1752600"/>
        </p:xfrm>
        <a:graphic>
          <a:graphicData uri="http://schemas.openxmlformats.org/presentationml/2006/ole">
            <mc:AlternateContent xmlns:mc="http://schemas.openxmlformats.org/markup-compatibility/2006">
              <mc:Choice xmlns:v="urn:schemas-microsoft-com:vml" Requires="v">
                <p:oleObj name="Worksheet" r:id="rId4" imgW="8553339" imgH="1752337" progId="Excel.Sheet.12">
                  <p:embed/>
                </p:oleObj>
              </mc:Choice>
              <mc:Fallback>
                <p:oleObj name="Worksheet" r:id="rId4" imgW="8553339" imgH="1752337" progId="Excel.Sheet.12">
                  <p:embed/>
                  <p:pic>
                    <p:nvPicPr>
                      <p:cNvPr id="0" name=""/>
                      <p:cNvPicPr/>
                      <p:nvPr/>
                    </p:nvPicPr>
                    <p:blipFill>
                      <a:blip r:embed="rId5"/>
                      <a:stretch>
                        <a:fillRect/>
                      </a:stretch>
                    </p:blipFill>
                    <p:spPr>
                      <a:xfrm>
                        <a:off x="466725" y="3186112"/>
                        <a:ext cx="8553450" cy="1752600"/>
                      </a:xfrm>
                      <a:prstGeom prst="rect">
                        <a:avLst/>
                      </a:prstGeom>
                    </p:spPr>
                  </p:pic>
                </p:oleObj>
              </mc:Fallback>
            </mc:AlternateContent>
          </a:graphicData>
        </a:graphic>
      </p:graphicFrame>
    </p:spTree>
    <p:extLst>
      <p:ext uri="{BB962C8B-B14F-4D97-AF65-F5344CB8AC3E}">
        <p14:creationId xmlns:p14="http://schemas.microsoft.com/office/powerpoint/2010/main" val="3614973606"/>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3541</TotalTime>
  <Words>5287</Words>
  <Application>Microsoft Office PowerPoint</Application>
  <PresentationFormat>Widescreen</PresentationFormat>
  <Paragraphs>681</Paragraphs>
  <Slides>40</Slides>
  <Notes>18</Notes>
  <HiddenSlides>1</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1</vt:i4>
      </vt:variant>
      <vt:variant>
        <vt:lpstr>Slide Titles</vt:lpstr>
      </vt:variant>
      <vt:variant>
        <vt:i4>40</vt:i4>
      </vt:variant>
    </vt:vector>
  </HeadingPairs>
  <TitlesOfParts>
    <vt:vector size="49" baseType="lpstr">
      <vt:lpstr>Arial</vt:lpstr>
      <vt:lpstr>Calibri</vt:lpstr>
      <vt:lpstr>Calibri Light</vt:lpstr>
      <vt:lpstr>Cambria Math</vt:lpstr>
      <vt:lpstr>Wingdings</vt:lpstr>
      <vt:lpstr>Custom Design</vt:lpstr>
      <vt:lpstr>1_Custom Design</vt:lpstr>
      <vt:lpstr>2_Custom Design</vt:lpstr>
      <vt:lpstr>Worksheet</vt:lpstr>
      <vt:lpstr>Enhancing Human-Machine Collaboration in Industrial Workflows using Generative AI Models</vt:lpstr>
      <vt:lpstr>Rounaq Choudhuri</vt:lpstr>
      <vt:lpstr>Dissertation Overview </vt:lpstr>
      <vt:lpstr>Overview</vt:lpstr>
      <vt:lpstr>Motivation &amp; Benefits</vt:lpstr>
      <vt:lpstr>Scope of Work</vt:lpstr>
      <vt:lpstr>Concepts At Work</vt:lpstr>
      <vt:lpstr>Feature Scaling</vt:lpstr>
      <vt:lpstr>Performance Metrices</vt:lpstr>
      <vt:lpstr>Performance Metrices (contd.)</vt:lpstr>
      <vt:lpstr>Learning Paradigms</vt:lpstr>
      <vt:lpstr>Dataset</vt:lpstr>
      <vt:lpstr>Dataset</vt:lpstr>
      <vt:lpstr>Data Proportion </vt:lpstr>
      <vt:lpstr>Data Preprocessing</vt:lpstr>
      <vt:lpstr>Data Sampling &amp; Merging</vt:lpstr>
      <vt:lpstr>Exploratory Data Analysis</vt:lpstr>
      <vt:lpstr>Univariate Analysis</vt:lpstr>
      <vt:lpstr>Bivariate Analysis</vt:lpstr>
      <vt:lpstr>Multivariate Analysis</vt:lpstr>
      <vt:lpstr>Time-series Analysis</vt:lpstr>
      <vt:lpstr>Feature Engineering</vt:lpstr>
      <vt:lpstr>Interaction Features</vt:lpstr>
      <vt:lpstr>Difference Features</vt:lpstr>
      <vt:lpstr>Efficiency &amp; Performance Features</vt:lpstr>
      <vt:lpstr>Higher Order Interactive Features</vt:lpstr>
      <vt:lpstr>Fluctuation Features</vt:lpstr>
      <vt:lpstr>Modelling &amp; Evaluation</vt:lpstr>
      <vt:lpstr>Statistical Models</vt:lpstr>
      <vt:lpstr>Machine Learning Models</vt:lpstr>
      <vt:lpstr>Deep Learning Models</vt:lpstr>
      <vt:lpstr>Additional  Evaluation  Plots (GridSearchCV)</vt:lpstr>
      <vt:lpstr>Additional Evaluation Plots</vt:lpstr>
      <vt:lpstr>Solution Plan</vt:lpstr>
      <vt:lpstr>Dissertation Workflow</vt:lpstr>
      <vt:lpstr>Future Work</vt:lpstr>
      <vt:lpstr>Planner</vt:lpstr>
      <vt:lpstr>Thank You</vt:lpstr>
      <vt:lpstr>QA &amp; Demo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Rounaq Choudhuri</dc:creator>
  <cp:lastModifiedBy>Rounaq Choudhuri</cp:lastModifiedBy>
  <cp:revision>37</cp:revision>
  <dcterms:created xsi:type="dcterms:W3CDTF">2025-06-07T08:54:58Z</dcterms:created>
  <dcterms:modified xsi:type="dcterms:W3CDTF">2025-07-20T01:34:49Z</dcterms:modified>
</cp:coreProperties>
</file>